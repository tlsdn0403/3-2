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9"/>
  </p:notesMasterIdLst>
  <p:sldIdLst>
    <p:sldId id="353" r:id="rId5"/>
    <p:sldId id="354" r:id="rId6"/>
    <p:sldId id="432" r:id="rId7"/>
    <p:sldId id="466" r:id="rId8"/>
    <p:sldId id="434" r:id="rId9"/>
    <p:sldId id="435" r:id="rId10"/>
    <p:sldId id="453" r:id="rId11"/>
    <p:sldId id="436" r:id="rId12"/>
    <p:sldId id="437" r:id="rId13"/>
    <p:sldId id="438" r:id="rId14"/>
    <p:sldId id="441" r:id="rId15"/>
    <p:sldId id="442" r:id="rId16"/>
    <p:sldId id="443" r:id="rId17"/>
    <p:sldId id="439" r:id="rId18"/>
    <p:sldId id="445" r:id="rId19"/>
    <p:sldId id="446" r:id="rId20"/>
    <p:sldId id="447" r:id="rId21"/>
    <p:sldId id="451" r:id="rId22"/>
    <p:sldId id="454" r:id="rId23"/>
    <p:sldId id="452" r:id="rId24"/>
    <p:sldId id="450" r:id="rId25"/>
    <p:sldId id="449" r:id="rId26"/>
    <p:sldId id="448" r:id="rId27"/>
    <p:sldId id="444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D1841D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 autoAdjust="0"/>
  </p:normalViewPr>
  <p:slideViewPr>
    <p:cSldViewPr>
      <p:cViewPr varScale="1">
        <p:scale>
          <a:sx n="101" d="100"/>
          <a:sy n="101" d="100"/>
        </p:scale>
        <p:origin x="181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B5353-69E5-418B-B29D-6B37136D00B9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81B7C-40BD-45D0-8295-991A56E793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3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1B2999E-4001-1DF7-1C88-A6E9BEBE14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14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A55ADEC-21FB-7357-9448-74BFFBD9A797}"/>
              </a:ext>
            </a:extLst>
          </p:cNvPr>
          <p:cNvSpPr/>
          <p:nvPr userDrawn="1"/>
        </p:nvSpPr>
        <p:spPr bwMode="auto">
          <a:xfrm>
            <a:off x="0" y="1021448"/>
            <a:ext cx="9144000" cy="247312"/>
          </a:xfrm>
          <a:prstGeom prst="rect">
            <a:avLst/>
          </a:prstGeom>
          <a:gradFill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87094EC-E00D-00F0-814B-1C240128F156}"/>
              </a:ext>
            </a:extLst>
          </p:cNvPr>
          <p:cNvCxnSpPr/>
          <p:nvPr userDrawn="1"/>
        </p:nvCxnSpPr>
        <p:spPr bwMode="auto">
          <a:xfrm>
            <a:off x="0" y="6381328"/>
            <a:ext cx="7524328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2A1E7A3-4B9A-A88E-2AA4-19BC357510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96336" y="6194182"/>
            <a:ext cx="1465838" cy="3632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A0D1399-75C4-B161-D45A-B573B755BA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96" y="4337"/>
            <a:ext cx="1542168" cy="10137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A5970C-6DBD-4AF6-AA53-C19A9ACC6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50D014-CDA2-46F7-9C57-CBC84B010B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1FC7A-B416-40B1-A074-2FBC9EA557C4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DCD92E70-A46D-43E8-AB6A-6AD896B9981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C2C6E5-BCB1-7DE0-B6D5-C0F30EC3AD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147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81F5125-DEB1-5589-F82D-CC528F365065}"/>
              </a:ext>
            </a:extLst>
          </p:cNvPr>
          <p:cNvSpPr/>
          <p:nvPr userDrawn="1"/>
        </p:nvSpPr>
        <p:spPr bwMode="auto">
          <a:xfrm>
            <a:off x="0" y="1021448"/>
            <a:ext cx="9144000" cy="247312"/>
          </a:xfrm>
          <a:prstGeom prst="rect">
            <a:avLst/>
          </a:prstGeom>
          <a:gradFill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8F7F50-DB19-ABA0-AAB1-965F2458DF8D}"/>
              </a:ext>
            </a:extLst>
          </p:cNvPr>
          <p:cNvCxnSpPr/>
          <p:nvPr userDrawn="1"/>
        </p:nvCxnSpPr>
        <p:spPr bwMode="auto">
          <a:xfrm>
            <a:off x="0" y="6381328"/>
            <a:ext cx="7524328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3C92AD9-16BC-00A5-4959-EF352F5109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96336" y="6194182"/>
            <a:ext cx="1465838" cy="3632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0E6A20-C2B5-A529-31E5-061C56F638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96" y="4337"/>
            <a:ext cx="1542168" cy="101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2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99E7C-F6B6-4FE0-8932-C1B80E58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8A1B7C-B0F3-45C1-9807-81C7E113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D8FF28-214B-4176-8D11-5C1643632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BA6B76-2456-4DAC-93C9-D044A9243C64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76B17D1A-769F-4755-A424-04B64015FF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56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10426-E429-4D6C-AB67-41068C23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D75EE0-DAD3-4D09-B476-BE61360AC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584974-91DB-4D24-A31E-9BA7EBE4D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9AB818-E31F-4EDA-9E27-0C374C158D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3DB391-7D46-490A-AA19-5A722E95060A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0A4135-38D5-49BC-9724-37F38E8871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107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7F5C8-F7E0-4AA8-9C5C-92319FD1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8F4AC0-6C88-4C50-A82D-7BDE02FD4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8B4352-D157-4AAA-918B-9C35FAACA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11CE10-B0EB-4385-AAAA-9959387D2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F9FD4D-67BD-4E07-B03B-4C2957601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B259B50-771E-4F6E-8621-EF3A8B5A7B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34C514-F5E1-4FAD-9551-B5F8A1DE204A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7376D70F-AA89-4383-B17D-ABC962DCAE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3957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E7730-514F-4936-BCB9-62A1A06F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A8CDF7-C5DC-4D95-9B04-A9E0F62FA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E2E119-30C8-41F7-8E86-6FE23D75AA6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35BF1E-C7B6-4C8C-9D12-FDD1104A5F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78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43428E-BCDB-45B9-9E14-F11FC59FEC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1EE221-B4CD-47C0-965F-70A7910EF09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9E6C0E-E122-4257-85E5-1E73B860C99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252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54C8A-A042-47DC-912C-B27F8130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985DBE-EF9C-43B6-9D92-C65B993E1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3BB143-86B4-4C2F-A4B7-514AC71F6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24C32-BBDC-43E9-A632-020079F5B9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7A17A38-41C0-41D1-BFA1-BF9B053385F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268C1B-2635-40EB-B6A0-14CF3BA5B0B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833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DC4A-7571-419B-A2AA-B404A75E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3CE888-DE7D-497F-80A1-6A0E19728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B5527F-7604-48D6-A4BE-F629EC8C0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00846-20DA-4CE8-A7B9-90BD0D6982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0F811A-8FCB-446D-BFD1-CF08B292757F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BFBBEB-CFAE-4E39-A53F-87D7F3B5D2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244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FAFEB-6FDC-450F-B1D0-00719E58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3AC760-EAE1-482C-ABB1-58BB1A504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73D204-BEF5-4CA6-8E4D-64B554A871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A5A83E-64D3-4F00-B4AB-1B1195CF549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4A345D7A-011A-4037-BBA6-ACDC8EEBC1A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732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5B462E-D325-41B5-998A-7D9E5D2AD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5D96A-ED94-410F-9744-F6D8187F8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35F253-0C37-4F3B-AF0C-4AE2BFCD5E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08013F-A268-44BF-9740-9825D9E5B9E0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DEA8EDAE-4997-4BC5-AF38-6D143A746B4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031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4F358-98F3-4BC2-AA50-2A869406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>
            <a:extLst>
              <a:ext uri="{FF2B5EF4-FFF2-40B4-BE49-F238E27FC236}">
                <a16:creationId xmlns:a16="http://schemas.microsoft.com/office/drawing/2014/main" id="{98D78417-0F76-4FB7-A643-15F5EBF3DC28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366DE3-CB4F-40D9-BA39-20775D2581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F20C29D7-E08B-4CC7-BEF2-C47FC2984B0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B7A50E2C-FF63-483D-9E98-B122D023A74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4288" y="838200"/>
            <a:ext cx="8458200" cy="2286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574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>
            <a:extLst>
              <a:ext uri="{FF2B5EF4-FFF2-40B4-BE49-F238E27FC236}">
                <a16:creationId xmlns:a16="http://schemas.microsoft.com/office/drawing/2014/main" id="{FD1F1BC9-3D6F-44F5-A586-32E3EC2B7F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A6612FF-9215-4AC0-8EED-C2AFF9824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42F850-6951-4D9D-8A88-A518F56CDC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61125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>
                <a:latin typeface="+mj-lt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1882F8-EC6A-4398-A5DF-DC0E390A7A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굴림" panose="020B0600000101010101" pitchFamily="50" charset="-127"/>
              </a:defRPr>
            </a:lvl1pPr>
          </a:lstStyle>
          <a:p>
            <a:fld id="{7D557B32-A7B6-4E58-8BA2-B40279BC3070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E1E02A29-8E45-4175-85A9-61EDE41C4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21824B53-F2B0-4E8C-BD2B-AF4E951EFD6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ko-KR" sz="1000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983D4A-8DBD-495A-8328-7DF142347A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j-lt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g1mBcwmSS3c" TargetMode="External"/><Relationship Id="rId13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hyperlink" Target="https://www.youtube.com/watch?v=MwwJI_qqJS4" TargetMode="External"/><Relationship Id="rId2" Type="http://schemas.openxmlformats.org/officeDocument/2006/relationships/hyperlink" Target="https://www.youtube.com/watch?v=Jw2ADKHN3s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e7mydERkuf8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hyperlink" Target="https://www.youtube.com/watch?v=IpNpU84ybNE" TargetMode="External"/><Relationship Id="rId4" Type="http://schemas.openxmlformats.org/officeDocument/2006/relationships/hyperlink" Target="https://www.youtube.com/watch?v=u0uNClvrcTM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yooncoms/223115188406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youtu.be/Vq4L-i0Fxf4?feature=share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qaJWMm4V7d0" TargetMode="External"/><Relationship Id="rId13" Type="http://schemas.openxmlformats.org/officeDocument/2006/relationships/image" Target="../media/image25.png"/><Relationship Id="rId3" Type="http://schemas.openxmlformats.org/officeDocument/2006/relationships/hyperlink" Target="https://magazine.hankyung.com/business/article/202007210561b" TargetMode="External"/><Relationship Id="rId7" Type="http://schemas.openxmlformats.org/officeDocument/2006/relationships/image" Target="../media/image22.png"/><Relationship Id="rId12" Type="http://schemas.openxmlformats.org/officeDocument/2006/relationships/hyperlink" Target="https://www.youtube.com/watch?v=aAactG0BUl4" TargetMode="External"/><Relationship Id="rId2" Type="http://schemas.openxmlformats.org/officeDocument/2006/relationships/hyperlink" Target="http://m.irobotnews.com/news/articleView.html?idxno=3350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9e3_VzJJVyk" TargetMode="Externa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10" Type="http://schemas.openxmlformats.org/officeDocument/2006/relationships/hyperlink" Target="https://www.youtube.com/watch?v=bVawGNCC9_8" TargetMode="External"/><Relationship Id="rId4" Type="http://schemas.openxmlformats.org/officeDocument/2006/relationships/hyperlink" Target="https://www.youtube.com/watch?v=aHgIUkKIIZM&amp;t=11s" TargetMode="External"/><Relationship Id="rId9" Type="http://schemas.openxmlformats.org/officeDocument/2006/relationships/image" Target="../media/image23.png"/><Relationship Id="rId14" Type="http://schemas.openxmlformats.org/officeDocument/2006/relationships/hyperlink" Target="https://www.youtube.com/watch?v=FO8ysCbu6tY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ainbow-robotics.com/en_main?_l=en" TargetMode="External"/><Relationship Id="rId3" Type="http://schemas.openxmlformats.org/officeDocument/2006/relationships/hyperlink" Target="https://www.donga.com/news/Politics/article/all/20230721/120346966/1" TargetMode="External"/><Relationship Id="rId7" Type="http://schemas.openxmlformats.org/officeDocument/2006/relationships/image" Target="../media/image29.png"/><Relationship Id="rId2" Type="http://schemas.openxmlformats.org/officeDocument/2006/relationships/hyperlink" Target="https://www.aitimes.kr/news/articleView.html?idxno=2597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LNL8U15AHyw" TargetMode="External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xsq3iLMKV-Q?feature=shared" TargetMode="External"/><Relationship Id="rId13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12" Type="http://schemas.openxmlformats.org/officeDocument/2006/relationships/hyperlink" Target="https://youtu.be/i0bi4HHAI2g?feature=shared" TargetMode="External"/><Relationship Id="rId2" Type="http://schemas.openxmlformats.org/officeDocument/2006/relationships/hyperlink" Target="https://youtu.be/54VHHc0ZIQM?feature=share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0FmzW2rnak8?feature=shared" TargetMode="Externa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hyperlink" Target="https://youtu.be/GaR_UdlfV9E?feature=shared" TargetMode="External"/><Relationship Id="rId4" Type="http://schemas.openxmlformats.org/officeDocument/2006/relationships/hyperlink" Target="https://youtu.be/rvutQ6vyTFY?feature=shared" TargetMode="External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k.or.kr/portal/bbs/P0002353/view.do?nttId=10080538&amp;menuNo=200433" TargetMode="External"/><Relationship Id="rId7" Type="http://schemas.openxmlformats.org/officeDocument/2006/relationships/image" Target="../media/image39.png"/><Relationship Id="rId2" Type="http://schemas.openxmlformats.org/officeDocument/2006/relationships/hyperlink" Target="https://www.news1.kr/economy/trend/547984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hyperlink" Target="https://www.fnnews.com/news/202410271814511932" TargetMode="Externa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news1.kr/economy/trend/5479844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times.com/news/articleView.html?idxno=161495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hyperlink" Target="https://www.seoul.co.kr/news/seoulPrintNew.php?id=20180626005003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hyperlink" Target="https://www.ciokorea.com/news/297295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okorea.com/news/297295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z4hGF_eKCxw?feature=shared" TargetMode="External"/><Relationship Id="rId13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12" Type="http://schemas.openxmlformats.org/officeDocument/2006/relationships/hyperlink" Target="https://www.youtube.com/watch?v=rvGX759QmCA" TargetMode="External"/><Relationship Id="rId17" Type="http://schemas.openxmlformats.org/officeDocument/2006/relationships/image" Target="../media/image51.png"/><Relationship Id="rId2" Type="http://schemas.openxmlformats.org/officeDocument/2006/relationships/hyperlink" Target="https://youtu.be/LZ2IvGUPU8A?feature=shared" TargetMode="External"/><Relationship Id="rId16" Type="http://schemas.openxmlformats.org/officeDocument/2006/relationships/hyperlink" Target="https://www.youtube.com/watch?v=AoSNURCC6z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SgOqIhvspcs?feature=shared" TargetMode="Externa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0.png"/><Relationship Id="rId10" Type="http://schemas.openxmlformats.org/officeDocument/2006/relationships/hyperlink" Target="https://www.youtube.com/watch?v=Ep6kKz6R_bE" TargetMode="External"/><Relationship Id="rId4" Type="http://schemas.openxmlformats.org/officeDocument/2006/relationships/hyperlink" Target="https://youtu.be/3ASV8x4xjH4?feature=shared" TargetMode="External"/><Relationship Id="rId9" Type="http://schemas.openxmlformats.org/officeDocument/2006/relationships/image" Target="../media/image47.png"/><Relationship Id="rId14" Type="http://schemas.openxmlformats.org/officeDocument/2006/relationships/hyperlink" Target="https://www.youtube.com/watch?v=K69Frs3G0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A254D376-7060-4491-9779-FC35E62F3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8" descr="통신 네트워크 개념. 로봇 손. 3d 렌더링. - 디지털 전환 뉴스 사진 이미지">
            <a:extLst>
              <a:ext uri="{FF2B5EF4-FFF2-40B4-BE49-F238E27FC236}">
                <a16:creationId xmlns:a16="http://schemas.microsoft.com/office/drawing/2014/main" id="{D2B4394A-851D-1E34-960E-2CBE41735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4"/>
          <a:stretch/>
        </p:blipFill>
        <p:spPr bwMode="auto">
          <a:xfrm>
            <a:off x="20" y="10"/>
            <a:ext cx="9143980" cy="501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18">
            <a:extLst>
              <a:ext uri="{FF2B5EF4-FFF2-40B4-BE49-F238E27FC236}">
                <a16:creationId xmlns:a16="http://schemas.microsoft.com/office/drawing/2014/main" id="{E2F6A6B2-FB60-326B-7D66-D6D20987A4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-1" y="5203337"/>
            <a:ext cx="9141713" cy="673935"/>
          </a:xfrm>
          <a:prstGeom prst="rect">
            <a:avLst/>
          </a:prstGeom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4000" b="1" dirty="0">
                <a:ln w="22225">
                  <a:solidFill>
                    <a:schemeClr val="tx1"/>
                  </a:solidFill>
                  <a:miter lim="800000"/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디지털 전환과 경제 </a:t>
            </a:r>
            <a:r>
              <a:rPr lang="en-US" altLang="ko-KR" sz="4000" b="1" dirty="0">
                <a:ln w="22225">
                  <a:solidFill>
                    <a:schemeClr val="tx1"/>
                  </a:solidFill>
                  <a:miter lim="800000"/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∙ </a:t>
            </a:r>
            <a:r>
              <a:rPr lang="ko-KR" altLang="en-US" sz="4000" b="1" dirty="0">
                <a:ln w="22225">
                  <a:solidFill>
                    <a:schemeClr val="tx1"/>
                  </a:solidFill>
                  <a:miter lim="800000"/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사회 변화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BD0E5AD-5096-7F12-FE7A-DDA711736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186" y="5962919"/>
            <a:ext cx="2499628" cy="61944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0580AB6-87B6-6944-5020-4C9CD234AEB1}"/>
              </a:ext>
            </a:extLst>
          </p:cNvPr>
          <p:cNvSpPr txBox="1"/>
          <p:nvPr/>
        </p:nvSpPr>
        <p:spPr>
          <a:xfrm>
            <a:off x="6804248" y="116632"/>
            <a:ext cx="2016224" cy="338554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학년도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학기</a:t>
            </a:r>
          </a:p>
        </p:txBody>
      </p:sp>
    </p:spTree>
    <p:extLst>
      <p:ext uri="{BB962C8B-B14F-4D97-AF65-F5344CB8AC3E}">
        <p14:creationId xmlns:p14="http://schemas.microsoft.com/office/powerpoint/2010/main" val="284566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인공지능의 한계 3 - AI 응용 상용화 85% 실패, 그리고 Data-Centric AI로의 이동 | 인사이트리포트 | 삼성SDS">
            <a:extLst>
              <a:ext uri="{FF2B5EF4-FFF2-40B4-BE49-F238E27FC236}">
                <a16:creationId xmlns:a16="http://schemas.microsoft.com/office/drawing/2014/main" id="{626B47E8-3BC5-E3D4-53B9-09D93B179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9" b="-1"/>
          <a:stretch/>
        </p:blipFill>
        <p:spPr bwMode="auto">
          <a:xfrm>
            <a:off x="20" y="10"/>
            <a:ext cx="9143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A7C94EE2-AFF7-A92D-CF12-D8A14E5A5C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92906" y="5317240"/>
            <a:ext cx="8408194" cy="744836"/>
          </a:xfrm>
          <a:prstGeom prst="rect">
            <a:avLst/>
          </a:prstGeom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31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제</a:t>
            </a:r>
            <a:r>
              <a:rPr lang="en-US" altLang="ko-KR" sz="31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11</a:t>
            </a:r>
            <a:r>
              <a:rPr lang="ko-KR" altLang="en-US" sz="31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장 인공지능</a:t>
            </a:r>
            <a:r>
              <a:rPr lang="en-US" altLang="ko-KR" sz="31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〮</a:t>
            </a:r>
            <a:r>
              <a:rPr lang="ko-KR" altLang="en-US" sz="31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로봇과 일자리 변화</a:t>
            </a:r>
            <a:r>
              <a:rPr lang="en-US" altLang="ko-KR" sz="3100" b="1">
                <a:ln w="22225">
                  <a:solidFill>
                    <a:schemeClr val="tx1"/>
                  </a:solidFill>
                  <a:miter lim="800000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69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7">
            <a:extLst>
              <a:ext uri="{FF2B5EF4-FFF2-40B4-BE49-F238E27FC236}">
                <a16:creationId xmlns:a16="http://schemas.microsoft.com/office/drawing/2014/main" id="{6FBF76AF-A327-4B4C-D406-0067A6E077E1}"/>
              </a:ext>
            </a:extLst>
          </p:cNvPr>
          <p:cNvGrpSpPr>
            <a:grpSpLocks/>
          </p:cNvGrpSpPr>
          <p:nvPr/>
        </p:nvGrpSpPr>
        <p:grpSpPr bwMode="auto">
          <a:xfrm>
            <a:off x="2411759" y="2420888"/>
            <a:ext cx="4032448" cy="504056"/>
            <a:chOff x="1344" y="1104"/>
            <a:chExt cx="2976" cy="432"/>
          </a:xfrm>
        </p:grpSpPr>
        <p:sp>
          <p:nvSpPr>
            <p:cNvPr id="8" name="AutoShape 48">
              <a:extLst>
                <a:ext uri="{FF2B5EF4-FFF2-40B4-BE49-F238E27FC236}">
                  <a16:creationId xmlns:a16="http://schemas.microsoft.com/office/drawing/2014/main" id="{EAA92FF6-AB25-FAFA-DCC3-8C9E4D20E4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84" y="117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12" name="AutoShape 49">
              <a:extLst>
                <a:ext uri="{FF2B5EF4-FFF2-40B4-BE49-F238E27FC236}">
                  <a16:creationId xmlns:a16="http://schemas.microsoft.com/office/drawing/2014/main" id="{0FF64A75-EB96-6FBF-24F3-8FBA1A59C0D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44" y="110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30" name="Text Box 50">
              <a:extLst>
                <a:ext uri="{FF2B5EF4-FFF2-40B4-BE49-F238E27FC236}">
                  <a16:creationId xmlns:a16="http://schemas.microsoft.com/office/drawing/2014/main" id="{F33573C3-EB76-6EFE-7C22-A7B0AA434D2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28" y="1214"/>
              <a:ext cx="2592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13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동영상으로 보는 최근 디지털 전환</a:t>
              </a:r>
              <a:r>
                <a:rPr lang="en-US" altLang="ko-KR" sz="13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(DX)</a:t>
              </a:r>
              <a:r>
                <a:rPr lang="ko-KR" altLang="en-US" sz="13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 동향</a:t>
              </a:r>
              <a:endParaRPr lang="en-US" altLang="ko-KR" sz="1300" b="1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32" name="Text Box 51">
              <a:extLst>
                <a:ext uri="{FF2B5EF4-FFF2-40B4-BE49-F238E27FC236}">
                  <a16:creationId xmlns:a16="http://schemas.microsoft.com/office/drawing/2014/main" id="{001D911A-64BB-9E67-C381-A6B8F5C48E9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53" y="1166"/>
              <a:ext cx="19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ko-KR" sz="1600">
                  <a:solidFill>
                    <a:schemeClr val="bg1"/>
                  </a:solidFill>
                  <a:ea typeface="굴림" panose="020B0600000101010101" pitchFamily="50" charset="-127"/>
                </a:rPr>
                <a:t>1</a:t>
              </a:r>
            </a:p>
          </p:txBody>
        </p:sp>
      </p:grpSp>
      <p:grpSp>
        <p:nvGrpSpPr>
          <p:cNvPr id="33" name="Group 68">
            <a:extLst>
              <a:ext uri="{FF2B5EF4-FFF2-40B4-BE49-F238E27FC236}">
                <a16:creationId xmlns:a16="http://schemas.microsoft.com/office/drawing/2014/main" id="{FA9B22BE-404B-2675-D094-36A2AC75A053}"/>
              </a:ext>
            </a:extLst>
          </p:cNvPr>
          <p:cNvGrpSpPr>
            <a:grpSpLocks/>
          </p:cNvGrpSpPr>
          <p:nvPr/>
        </p:nvGrpSpPr>
        <p:grpSpPr bwMode="auto">
          <a:xfrm>
            <a:off x="2411759" y="3212976"/>
            <a:ext cx="4032448" cy="504056"/>
            <a:chOff x="1344" y="1584"/>
            <a:chExt cx="2976" cy="432"/>
          </a:xfrm>
        </p:grpSpPr>
        <p:sp>
          <p:nvSpPr>
            <p:cNvPr id="34" name="AutoShape 53">
              <a:extLst>
                <a:ext uri="{FF2B5EF4-FFF2-40B4-BE49-F238E27FC236}">
                  <a16:creationId xmlns:a16="http://schemas.microsoft.com/office/drawing/2014/main" id="{02F73F5B-22B0-D4F2-96A7-F89E344339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84" y="165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35" name="AutoShape 54">
              <a:extLst>
                <a:ext uri="{FF2B5EF4-FFF2-40B4-BE49-F238E27FC236}">
                  <a16:creationId xmlns:a16="http://schemas.microsoft.com/office/drawing/2014/main" id="{F8E22F1C-F77B-3057-C45D-83FF149BFFB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44" y="158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36" name="Text Box 55">
              <a:extLst>
                <a:ext uri="{FF2B5EF4-FFF2-40B4-BE49-F238E27FC236}">
                  <a16:creationId xmlns:a16="http://schemas.microsoft.com/office/drawing/2014/main" id="{FEC2A29D-885F-184E-0BFF-71F5FD1A9DC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28" y="1694"/>
              <a:ext cx="259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16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인공지능</a:t>
              </a:r>
              <a:r>
                <a:rPr lang="en-US" altLang="ko-KR" sz="16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(Artificial Intelligence)</a:t>
              </a:r>
            </a:p>
          </p:txBody>
        </p:sp>
        <p:sp>
          <p:nvSpPr>
            <p:cNvPr id="37" name="Text Box 56">
              <a:extLst>
                <a:ext uri="{FF2B5EF4-FFF2-40B4-BE49-F238E27FC236}">
                  <a16:creationId xmlns:a16="http://schemas.microsoft.com/office/drawing/2014/main" id="{03702ED1-5755-4A15-5186-07C3E644B0D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53" y="1646"/>
              <a:ext cx="19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ko-KR" sz="1600">
                  <a:solidFill>
                    <a:schemeClr val="bg1"/>
                  </a:solidFill>
                  <a:ea typeface="굴림" panose="020B0600000101010101" pitchFamily="50" charset="-127"/>
                </a:rPr>
                <a:t>2</a:t>
              </a:r>
            </a:p>
          </p:txBody>
        </p:sp>
      </p:grpSp>
      <p:grpSp>
        <p:nvGrpSpPr>
          <p:cNvPr id="38" name="Group 69">
            <a:extLst>
              <a:ext uri="{FF2B5EF4-FFF2-40B4-BE49-F238E27FC236}">
                <a16:creationId xmlns:a16="http://schemas.microsoft.com/office/drawing/2014/main" id="{C3FAD854-E00E-6415-2F6E-BBCE6983248E}"/>
              </a:ext>
            </a:extLst>
          </p:cNvPr>
          <p:cNvGrpSpPr>
            <a:grpSpLocks/>
          </p:cNvGrpSpPr>
          <p:nvPr/>
        </p:nvGrpSpPr>
        <p:grpSpPr bwMode="auto">
          <a:xfrm>
            <a:off x="2411759" y="4005064"/>
            <a:ext cx="4032448" cy="504056"/>
            <a:chOff x="1344" y="2064"/>
            <a:chExt cx="2976" cy="432"/>
          </a:xfrm>
        </p:grpSpPr>
        <p:sp>
          <p:nvSpPr>
            <p:cNvPr id="39" name="AutoShape 58">
              <a:extLst>
                <a:ext uri="{FF2B5EF4-FFF2-40B4-BE49-F238E27FC236}">
                  <a16:creationId xmlns:a16="http://schemas.microsoft.com/office/drawing/2014/main" id="{510A6A3C-811E-66DB-D18F-F6FD290720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84" y="213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40" name="AutoShape 59">
              <a:extLst>
                <a:ext uri="{FF2B5EF4-FFF2-40B4-BE49-F238E27FC236}">
                  <a16:creationId xmlns:a16="http://schemas.microsoft.com/office/drawing/2014/main" id="{0358D263-BFF6-34B3-E072-4F20D0BDC73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44" y="206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41" name="Text Box 60">
              <a:extLst>
                <a:ext uri="{FF2B5EF4-FFF2-40B4-BE49-F238E27FC236}">
                  <a16:creationId xmlns:a16="http://schemas.microsoft.com/office/drawing/2014/main" id="{FAFD27BC-0819-4BDB-8CB1-015102945B0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28" y="2174"/>
              <a:ext cx="259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16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로봇 기술</a:t>
              </a:r>
              <a:endParaRPr lang="en-US" altLang="ko-KR" sz="1600" b="1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42" name="Text Box 61">
              <a:extLst>
                <a:ext uri="{FF2B5EF4-FFF2-40B4-BE49-F238E27FC236}">
                  <a16:creationId xmlns:a16="http://schemas.microsoft.com/office/drawing/2014/main" id="{6CE0471A-225A-1C94-32B0-96E66306B5B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53" y="2126"/>
              <a:ext cx="19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ko-KR" sz="1600">
                  <a:solidFill>
                    <a:schemeClr val="bg1"/>
                  </a:solidFill>
                  <a:ea typeface="굴림" panose="020B0600000101010101" pitchFamily="50" charset="-127"/>
                </a:rPr>
                <a:t>3</a:t>
              </a:r>
            </a:p>
          </p:txBody>
        </p:sp>
      </p:grpSp>
      <p:grpSp>
        <p:nvGrpSpPr>
          <p:cNvPr id="43" name="Group 70">
            <a:extLst>
              <a:ext uri="{FF2B5EF4-FFF2-40B4-BE49-F238E27FC236}">
                <a16:creationId xmlns:a16="http://schemas.microsoft.com/office/drawing/2014/main" id="{3D11E488-F1F4-1876-8150-CA105A8C18B5}"/>
              </a:ext>
            </a:extLst>
          </p:cNvPr>
          <p:cNvGrpSpPr>
            <a:grpSpLocks/>
          </p:cNvGrpSpPr>
          <p:nvPr/>
        </p:nvGrpSpPr>
        <p:grpSpPr bwMode="auto">
          <a:xfrm>
            <a:off x="2411759" y="4797152"/>
            <a:ext cx="4032448" cy="504056"/>
            <a:chOff x="1344" y="2544"/>
            <a:chExt cx="2976" cy="432"/>
          </a:xfrm>
        </p:grpSpPr>
        <p:sp>
          <p:nvSpPr>
            <p:cNvPr id="44" name="AutoShape 63">
              <a:extLst>
                <a:ext uri="{FF2B5EF4-FFF2-40B4-BE49-F238E27FC236}">
                  <a16:creationId xmlns:a16="http://schemas.microsoft.com/office/drawing/2014/main" id="{236FFF65-D7A5-1B4C-0046-6CB00BE6039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84" y="261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45" name="AutoShape 64">
              <a:extLst>
                <a:ext uri="{FF2B5EF4-FFF2-40B4-BE49-F238E27FC236}">
                  <a16:creationId xmlns:a16="http://schemas.microsoft.com/office/drawing/2014/main" id="{D4240ABC-88E9-D42A-C982-1211C09BCB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44" y="254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46" name="Text Box 65">
              <a:extLst>
                <a:ext uri="{FF2B5EF4-FFF2-40B4-BE49-F238E27FC236}">
                  <a16:creationId xmlns:a16="http://schemas.microsoft.com/office/drawing/2014/main" id="{DC66C5ED-B80C-BC2B-DA62-E33ACEE4AED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28" y="2654"/>
              <a:ext cx="259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16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인공지능과 로봇 기술의 결합</a:t>
              </a:r>
              <a:endParaRPr lang="en-US" altLang="ko-KR" sz="1600" b="1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47" name="Text Box 66">
              <a:extLst>
                <a:ext uri="{FF2B5EF4-FFF2-40B4-BE49-F238E27FC236}">
                  <a16:creationId xmlns:a16="http://schemas.microsoft.com/office/drawing/2014/main" id="{64474D25-120A-C96D-827A-E1A920A7B6D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53" y="2606"/>
              <a:ext cx="19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ko-KR" sz="1600" dirty="0">
                  <a:solidFill>
                    <a:schemeClr val="bg1"/>
                  </a:solidFill>
                  <a:ea typeface="굴림" panose="020B0600000101010101" pitchFamily="50" charset="-127"/>
                </a:rPr>
                <a:t>4</a:t>
              </a:r>
            </a:p>
          </p:txBody>
        </p:sp>
      </p:grpSp>
      <p:sp>
        <p:nvSpPr>
          <p:cNvPr id="48" name="Title 1">
            <a:extLst>
              <a:ext uri="{FF2B5EF4-FFF2-40B4-BE49-F238E27FC236}">
                <a16:creationId xmlns:a16="http://schemas.microsoft.com/office/drawing/2014/main" id="{03394662-5A34-F7D2-2E22-A09A8E914B97}"/>
              </a:ext>
            </a:extLst>
          </p:cNvPr>
          <p:cNvSpPr>
            <a:spLocks/>
          </p:cNvSpPr>
          <p:nvPr/>
        </p:nvSpPr>
        <p:spPr bwMode="auto">
          <a:xfrm>
            <a:off x="2411760" y="1660978"/>
            <a:ext cx="4032448" cy="39987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  차</a:t>
            </a:r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FA05AEA1-80DF-0F4F-63F9-A3BC343D63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grpSp>
        <p:nvGrpSpPr>
          <p:cNvPr id="2" name="Group 72">
            <a:extLst>
              <a:ext uri="{FF2B5EF4-FFF2-40B4-BE49-F238E27FC236}">
                <a16:creationId xmlns:a16="http://schemas.microsoft.com/office/drawing/2014/main" id="{FB22F4B1-ED74-14D2-E945-F6F8AD9E3A97}"/>
              </a:ext>
            </a:extLst>
          </p:cNvPr>
          <p:cNvGrpSpPr>
            <a:grpSpLocks/>
          </p:cNvGrpSpPr>
          <p:nvPr/>
        </p:nvGrpSpPr>
        <p:grpSpPr bwMode="auto">
          <a:xfrm>
            <a:off x="2411760" y="5589240"/>
            <a:ext cx="4032448" cy="504056"/>
            <a:chOff x="1344" y="3024"/>
            <a:chExt cx="2976" cy="432"/>
          </a:xfrm>
        </p:grpSpPr>
        <p:sp>
          <p:nvSpPr>
            <p:cNvPr id="5" name="AutoShape 43">
              <a:extLst>
                <a:ext uri="{FF2B5EF4-FFF2-40B4-BE49-F238E27FC236}">
                  <a16:creationId xmlns:a16="http://schemas.microsoft.com/office/drawing/2014/main" id="{42102350-729A-5C45-7DF8-4934412B7A0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84" y="30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2">
                    <a:gamma/>
                    <a:tint val="2117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6" name="AutoShape 44">
              <a:extLst>
                <a:ext uri="{FF2B5EF4-FFF2-40B4-BE49-F238E27FC236}">
                  <a16:creationId xmlns:a16="http://schemas.microsoft.com/office/drawing/2014/main" id="{8BFAEE61-2023-553D-563F-59E195E3B09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44" y="3024"/>
              <a:ext cx="432" cy="432"/>
            </a:xfrm>
            <a:prstGeom prst="diamond">
              <a:avLst/>
            </a:prstGeom>
            <a:solidFill>
              <a:schemeClr val="bg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ko-KR" altLang="en-US" sz="1600"/>
            </a:p>
          </p:txBody>
        </p:sp>
        <p:sp>
          <p:nvSpPr>
            <p:cNvPr id="11" name="Text Box 45">
              <a:extLst>
                <a:ext uri="{FF2B5EF4-FFF2-40B4-BE49-F238E27FC236}">
                  <a16:creationId xmlns:a16="http://schemas.microsoft.com/office/drawing/2014/main" id="{97FEC593-CD72-11A1-D43E-528C8E59E49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728" y="3134"/>
              <a:ext cx="243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ko-KR" altLang="en-US" sz="1600" b="1" dirty="0">
                  <a:solidFill>
                    <a:srgbClr val="000000"/>
                  </a:solidFill>
                  <a:ea typeface="굴림" panose="020B0600000101010101" pitchFamily="50" charset="-127"/>
                </a:rPr>
                <a:t>일자리 변화</a:t>
              </a:r>
              <a:endParaRPr lang="en-US" altLang="ko-KR" sz="1600" b="1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3" name="Text Box 46">
              <a:extLst>
                <a:ext uri="{FF2B5EF4-FFF2-40B4-BE49-F238E27FC236}">
                  <a16:creationId xmlns:a16="http://schemas.microsoft.com/office/drawing/2014/main" id="{9AF6FC51-503A-7E29-44DE-270E3F5A624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453" y="3086"/>
              <a:ext cx="199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ko-KR" sz="1600">
                  <a:solidFill>
                    <a:schemeClr val="bg1"/>
                  </a:solidFill>
                  <a:ea typeface="굴림" panose="020B0600000101010101" pitchFamily="50" charset="-127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489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A7F5-F773-57C8-31BF-E9934CC69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573A3-3262-39FD-C75F-E5CE145E3BA8}"/>
              </a:ext>
            </a:extLst>
          </p:cNvPr>
          <p:cNvSpPr txBox="1"/>
          <p:nvPr/>
        </p:nvSpPr>
        <p:spPr>
          <a:xfrm>
            <a:off x="755576" y="1484784"/>
            <a:ext cx="7848872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우주개발 경쟁시대</a:t>
            </a:r>
            <a:r>
              <a:rPr lang="en-US" altLang="ko-KR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 시대</a:t>
            </a:r>
            <a:r>
              <a:rPr lang="en-US" altLang="ko-KR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AI </a:t>
            </a:r>
            <a:r>
              <a:rPr lang="ko-KR" altLang="en-US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디자이너가 되자</a:t>
            </a:r>
            <a:r>
              <a:rPr lang="en-US" altLang="ko-KR" sz="2000" b="1" dirty="0">
                <a:solidFill>
                  <a:srgbClr val="F675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!!!</a:t>
            </a:r>
            <a:endParaRPr lang="ko-KR" altLang="en-US" sz="2000" b="1" dirty="0">
              <a:solidFill>
                <a:srgbClr val="F6750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CF634-CB5D-0468-D877-EBDEA646F41B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동영상으로 보는 최근 디지털 전환 동향 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38763EE8-64B3-9381-D0F4-4DF9BDD4E1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11" name="그림 10">
            <a:hlinkClick r:id="rId2"/>
            <a:extLst>
              <a:ext uri="{FF2B5EF4-FFF2-40B4-BE49-F238E27FC236}">
                <a16:creationId xmlns:a16="http://schemas.microsoft.com/office/drawing/2014/main" id="{D1E22E98-7641-20F9-1D85-C9234636F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699533"/>
            <a:ext cx="2114144" cy="1184612"/>
          </a:xfrm>
          <a:prstGeom prst="rect">
            <a:avLst/>
          </a:prstGeom>
        </p:spPr>
      </p:pic>
      <p:pic>
        <p:nvPicPr>
          <p:cNvPr id="16" name="그림 15">
            <a:hlinkClick r:id="rId4"/>
            <a:extLst>
              <a:ext uri="{FF2B5EF4-FFF2-40B4-BE49-F238E27FC236}">
                <a16:creationId xmlns:a16="http://schemas.microsoft.com/office/drawing/2014/main" id="{AA9C0600-B4CA-AFA7-4C6B-7FBEDE268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509" y="2699534"/>
            <a:ext cx="2103114" cy="1184611"/>
          </a:xfrm>
          <a:prstGeom prst="rect">
            <a:avLst/>
          </a:prstGeom>
        </p:spPr>
      </p:pic>
      <p:pic>
        <p:nvPicPr>
          <p:cNvPr id="20" name="그림 19">
            <a:hlinkClick r:id="rId6"/>
            <a:extLst>
              <a:ext uri="{FF2B5EF4-FFF2-40B4-BE49-F238E27FC236}">
                <a16:creationId xmlns:a16="http://schemas.microsoft.com/office/drawing/2014/main" id="{AC2ACC70-D635-34EB-DC04-232D68FE5A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8356" y="2702351"/>
            <a:ext cx="2114144" cy="1181794"/>
          </a:xfrm>
          <a:prstGeom prst="rect">
            <a:avLst/>
          </a:prstGeom>
        </p:spPr>
      </p:pic>
      <p:pic>
        <p:nvPicPr>
          <p:cNvPr id="22" name="그림 21">
            <a:hlinkClick r:id="rId8"/>
            <a:extLst>
              <a:ext uri="{FF2B5EF4-FFF2-40B4-BE49-F238E27FC236}">
                <a16:creationId xmlns:a16="http://schemas.microsoft.com/office/drawing/2014/main" id="{9530A05F-BE74-C43C-207B-CC9B065453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9510" y="3984874"/>
            <a:ext cx="2103113" cy="1145982"/>
          </a:xfrm>
          <a:prstGeom prst="rect">
            <a:avLst/>
          </a:prstGeom>
        </p:spPr>
      </p:pic>
      <p:pic>
        <p:nvPicPr>
          <p:cNvPr id="24" name="그림 23">
            <a:hlinkClick r:id="rId10"/>
            <a:extLst>
              <a:ext uri="{FF2B5EF4-FFF2-40B4-BE49-F238E27FC236}">
                <a16:creationId xmlns:a16="http://schemas.microsoft.com/office/drawing/2014/main" id="{F1D4F05C-A2D8-89F4-DF34-3DFC0E1857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8356" y="3971926"/>
            <a:ext cx="2114144" cy="1175001"/>
          </a:xfrm>
          <a:prstGeom prst="rect">
            <a:avLst/>
          </a:prstGeom>
        </p:spPr>
      </p:pic>
      <p:pic>
        <p:nvPicPr>
          <p:cNvPr id="26" name="그림 25">
            <a:hlinkClick r:id="rId12"/>
            <a:extLst>
              <a:ext uri="{FF2B5EF4-FFF2-40B4-BE49-F238E27FC236}">
                <a16:creationId xmlns:a16="http://schemas.microsoft.com/office/drawing/2014/main" id="{5697F3DE-F8E0-F6C1-EE68-590FBEB104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5147" y="3984874"/>
            <a:ext cx="2103113" cy="118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8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5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66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15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인공지능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(AI, Artificial Intelligence)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이란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약인공지능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기계나 컴퓨터 시스템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인간의 지능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모방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추론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문제 해결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이해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언어 처리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있도록 하는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기술과 이론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의미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68288" indent="-268288"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주요 요소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(Learning)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통해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패턴을 인식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경험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바탕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성능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향상시키는 능력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머신 러닝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(Machine Learning)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딥러닝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(Deep Learning)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범주에 포함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추론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Inference)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주어진 정보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바탕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결론을 도출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하거나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예측을 하는 능력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논리적 사고와 문제 해결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자연어 처리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(NLP, Natural Language Processing)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인간의 언어를 이해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생성하는 능력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텍스트 분석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번역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음성 인식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등을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컴퓨터 비전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Computer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Vision)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(Image)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나 비디오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(Video)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정보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추출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해석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하는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능력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객체 인식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분류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(Automation)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반복적인 작업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자동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수행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효율성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높이는 능력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 공학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관련이 깊음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(Artificial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Intelligence)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27A50780-7C77-5BAD-0FAF-DFCF93C94D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5CC240-20AB-0A07-FE05-52527AB5F773}"/>
              </a:ext>
            </a:extLst>
          </p:cNvPr>
          <p:cNvSpPr txBox="1"/>
          <p:nvPr/>
        </p:nvSpPr>
        <p:spPr>
          <a:xfrm>
            <a:off x="2123728" y="2276872"/>
            <a:ext cx="6912768" cy="438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/>
              <a:t>머신 러닝</a:t>
            </a:r>
            <a:r>
              <a:rPr lang="en-US" altLang="ko-KR" sz="800" dirty="0"/>
              <a:t>(Machine Learning) : </a:t>
            </a:r>
            <a:r>
              <a:rPr lang="ko-KR" altLang="en-US" sz="800" dirty="0"/>
              <a:t>컴퓨터가 데이터를 학습해서 스스로 어떤 작업을 할 수 있도록 만드는 과정에 대한 기술</a:t>
            </a:r>
            <a:endParaRPr lang="en-US" altLang="ko-KR" sz="800" dirty="0"/>
          </a:p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/>
              <a:t>딥러닝</a:t>
            </a:r>
            <a:r>
              <a:rPr lang="en-US" altLang="ko-KR" sz="800" dirty="0"/>
              <a:t>(Deep Learning) : </a:t>
            </a:r>
            <a:r>
              <a:rPr lang="ko-KR" altLang="en-US" sz="800" dirty="0"/>
              <a:t>머신 러닝의 한 종류로 인간의 뇌 구조를 본떠 만든 인공신경망을 이용해 컴퓨터가 더 복잡한 학습을 할 수 있게 한 기술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FA1DD-C1A3-5817-6A1B-CECC4999640B}"/>
              </a:ext>
            </a:extLst>
          </p:cNvPr>
          <p:cNvSpPr txBox="1"/>
          <p:nvPr/>
        </p:nvSpPr>
        <p:spPr>
          <a:xfrm>
            <a:off x="4572000" y="1348376"/>
            <a:ext cx="3669262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인공지능</a:t>
            </a:r>
            <a:r>
              <a:rPr lang="en-US" altLang="ko-KR" sz="1000" dirty="0"/>
              <a:t>(AI)</a:t>
            </a:r>
            <a:r>
              <a:rPr lang="ko-KR" altLang="en-US" sz="1000" dirty="0"/>
              <a:t>을 약인공지능</a:t>
            </a:r>
            <a:r>
              <a:rPr lang="en-US" altLang="ko-KR" sz="1000" dirty="0"/>
              <a:t>(Weak AI) </a:t>
            </a:r>
            <a:r>
              <a:rPr lang="ko-KR" altLang="en-US" sz="1000" dirty="0"/>
              <a:t>이라고도 함</a:t>
            </a:r>
          </a:p>
        </p:txBody>
      </p:sp>
    </p:spTree>
    <p:extLst>
      <p:ext uri="{BB962C8B-B14F-4D97-AF65-F5344CB8AC3E}">
        <p14:creationId xmlns:p14="http://schemas.microsoft.com/office/powerpoint/2010/main" val="8714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인공일반지능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(AGI, Artificial General Intelligence)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이란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인공일반지능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강인공지능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특정 작업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이나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문제 해결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국한되지 않고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인간과 유사한 수준의 지능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갖춘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AGI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분야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이해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하며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추론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있는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능력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가지고 있어야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함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268288" indent="-268288">
              <a:lnSpc>
                <a:spcPct val="200000"/>
              </a:lnSpc>
              <a:buSzPct val="100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AGI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작업 수행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AGI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언어 이해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문제 해결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창의적 사고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감정 인식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등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작업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수행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있어야 함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특정한 작업에 최적화된 현재의 인공지능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좁은 인공지능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ANI)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과의 차별화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학습 능력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AGI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정보를 학습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이를 바탕으로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상황에 적응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능력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가져야 함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인간이 새로운 경험을 통해 배우는 방식과 유사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추론과 이해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AGI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복잡한 개념을 이해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이를 바탕으로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논리적 추론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할 수 있어야 함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단순한 패턴 인식 이상의 능력을 요구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자기 인식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AGI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자신의 존재를 인식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자신의 목표와 행동을 조정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능력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가져야 함</a:t>
            </a:r>
            <a:endParaRPr lang="en-US" altLang="ko-KR" sz="140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93CB909A-029A-5A58-CD58-7AE2F8B8FB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AA8167-1BE0-73AB-D2B1-2F1CE53DEA19}"/>
              </a:ext>
            </a:extLst>
          </p:cNvPr>
          <p:cNvSpPr txBox="1"/>
          <p:nvPr/>
        </p:nvSpPr>
        <p:spPr>
          <a:xfrm>
            <a:off x="2195736" y="2564904"/>
            <a:ext cx="3669262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인공일반지능</a:t>
            </a:r>
            <a:r>
              <a:rPr lang="en-US" altLang="ko-KR" sz="1000" dirty="0"/>
              <a:t>(AGI)</a:t>
            </a:r>
            <a:r>
              <a:rPr lang="ko-KR" altLang="en-US" sz="1000" dirty="0"/>
              <a:t>을 강인공지능</a:t>
            </a:r>
            <a:r>
              <a:rPr lang="en-US" altLang="ko-KR" sz="1000" dirty="0"/>
              <a:t>(Strong AI) </a:t>
            </a:r>
            <a:r>
              <a:rPr lang="ko-KR" altLang="en-US" sz="1000" dirty="0"/>
              <a:t>이라고도 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C325C-52A1-1595-D5C3-90EF944E5736}"/>
              </a:ext>
            </a:extLst>
          </p:cNvPr>
          <p:cNvSpPr txBox="1"/>
          <p:nvPr/>
        </p:nvSpPr>
        <p:spPr>
          <a:xfrm>
            <a:off x="2195736" y="2898026"/>
            <a:ext cx="5999762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좁은 인공지능</a:t>
            </a:r>
            <a:r>
              <a:rPr lang="en-US" altLang="ko-KR" sz="1000" dirty="0"/>
              <a:t>(ANI, Artificial Narrow Intelligence) : </a:t>
            </a:r>
            <a:r>
              <a:rPr lang="ko-KR" altLang="en-US" sz="1000" dirty="0"/>
              <a:t>특정 작업에서 탁월한 성과를 보이는 인공지능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72F7B-6783-881A-9674-2BB4535BFE91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(Artificial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Intelligence)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96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20A2-ECC0-BAF6-11FD-13B04D33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57E2667-96F8-1AEF-026F-014344884E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ED809B-E5C1-FC58-9C86-74A94E3B436D}"/>
              </a:ext>
            </a:extLst>
          </p:cNvPr>
          <p:cNvSpPr txBox="1"/>
          <p:nvPr/>
        </p:nvSpPr>
        <p:spPr>
          <a:xfrm>
            <a:off x="216456" y="1317631"/>
            <a:ext cx="8718828" cy="743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15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ANI vs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AGI</a:t>
            </a:r>
            <a:endParaRPr lang="ko-KR" altLang="en-US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 기술은 </a:t>
            </a:r>
            <a:r>
              <a:rPr lang="en-US" altLang="ko-KR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AGI 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endParaRPr lang="en-US" altLang="ko-KR" sz="140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C8BCF4D-12D8-0886-1F08-128F7E1A90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DE8C95-1C94-05B8-94C8-1A3FE08C5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276872"/>
            <a:ext cx="5023181" cy="311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708CE8-B8A9-4923-2FCB-2D6DC64A2FE3}"/>
              </a:ext>
            </a:extLst>
          </p:cNvPr>
          <p:cNvSpPr txBox="1"/>
          <p:nvPr/>
        </p:nvSpPr>
        <p:spPr>
          <a:xfrm>
            <a:off x="395536" y="5428626"/>
            <a:ext cx="5023181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ko-KR" altLang="en-US" sz="1000" dirty="0">
                <a:hlinkClick r:id="rId3"/>
              </a:rPr>
              <a:t>좁은 인공지능 </a:t>
            </a:r>
            <a:r>
              <a:rPr lang="en-US" altLang="ko-KR" sz="1000" dirty="0">
                <a:hlinkClick r:id="rId3"/>
              </a:rPr>
              <a:t>'ANI'</a:t>
            </a:r>
            <a:r>
              <a:rPr lang="ko-KR" altLang="en-US" sz="1000" dirty="0">
                <a:hlinkClick r:id="rId3"/>
              </a:rPr>
              <a:t>부터 초인공지능 </a:t>
            </a:r>
            <a:r>
              <a:rPr lang="en-US" altLang="ko-KR" sz="1000" dirty="0">
                <a:hlinkClick r:id="rId3"/>
              </a:rPr>
              <a:t>'AS.. : </a:t>
            </a:r>
            <a:r>
              <a:rPr lang="ko-KR" altLang="en-US" sz="1000" dirty="0" err="1">
                <a:hlinkClick r:id="rId3"/>
              </a:rPr>
              <a:t>네이버블로그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79E194-C61C-EF67-A69A-A3E1C1517E47}"/>
              </a:ext>
            </a:extLst>
          </p:cNvPr>
          <p:cNvSpPr txBox="1"/>
          <p:nvPr/>
        </p:nvSpPr>
        <p:spPr>
          <a:xfrm>
            <a:off x="4745220" y="4869160"/>
            <a:ext cx="4363284" cy="756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Artificial Narrow Intelligence(</a:t>
            </a:r>
            <a:r>
              <a:rPr lang="ko-KR" altLang="en-US" sz="1000" dirty="0"/>
              <a:t>좁은 인공지능</a:t>
            </a:r>
            <a:r>
              <a:rPr lang="en-US" altLang="ko-KR" sz="1000" dirty="0"/>
              <a:t>) : </a:t>
            </a:r>
            <a:r>
              <a:rPr lang="ko-KR" altLang="en-US" sz="1000" dirty="0"/>
              <a:t>특정 작업에 탁월한 성과를 보이는 인공지능으로</a:t>
            </a:r>
            <a:r>
              <a:rPr lang="en-US" altLang="ko-KR" sz="1000" dirty="0"/>
              <a:t>, </a:t>
            </a:r>
            <a:r>
              <a:rPr lang="ko-KR" altLang="en-US" sz="1000" dirty="0"/>
              <a:t>한 가지 작업에 특화되어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그 작업을 수행하는 데에는 사람보다 우수한 성능을 보임</a:t>
            </a:r>
            <a:r>
              <a:rPr lang="en-US" altLang="ko-KR" sz="1000" dirty="0"/>
              <a:t>(</a:t>
            </a:r>
            <a:r>
              <a:rPr lang="ko-KR" altLang="en-US" sz="1000" dirty="0"/>
              <a:t>예 </a:t>
            </a:r>
            <a:r>
              <a:rPr lang="en-US" altLang="ko-KR" sz="1000" dirty="0"/>
              <a:t>: </a:t>
            </a:r>
            <a:r>
              <a:rPr lang="ko-KR" altLang="en-US" sz="1000" dirty="0"/>
              <a:t>체스</a:t>
            </a:r>
            <a:r>
              <a:rPr lang="en-US" altLang="ko-KR" sz="1000" dirty="0"/>
              <a:t>, </a:t>
            </a:r>
            <a:r>
              <a:rPr lang="ko-KR" altLang="en-US" sz="1000" dirty="0"/>
              <a:t>바둑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빅스비</a:t>
            </a:r>
            <a:r>
              <a:rPr lang="ko-KR" altLang="en-US" sz="1000" dirty="0"/>
              <a:t> 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FD857-3EA7-5BEA-73DF-B7F5C5D0F0D5}"/>
              </a:ext>
            </a:extLst>
          </p:cNvPr>
          <p:cNvSpPr txBox="1"/>
          <p:nvPr/>
        </p:nvSpPr>
        <p:spPr>
          <a:xfrm>
            <a:off x="4283968" y="3952388"/>
            <a:ext cx="4248472" cy="756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Artificial General Intelligence(</a:t>
            </a:r>
            <a:r>
              <a:rPr lang="ko-KR" altLang="en-US" sz="1000" dirty="0"/>
              <a:t>인공일반지능</a:t>
            </a:r>
            <a:r>
              <a:rPr lang="en-US" altLang="ko-KR" sz="1000" dirty="0"/>
              <a:t>) : </a:t>
            </a:r>
            <a:r>
              <a:rPr lang="ko-KR" altLang="en-US" sz="1000" dirty="0"/>
              <a:t>인간과 비슷한 수준의 지능을 가진 인공지능</a:t>
            </a:r>
            <a:r>
              <a:rPr lang="en-US" altLang="ko-KR" sz="1000" dirty="0"/>
              <a:t>, </a:t>
            </a:r>
            <a:r>
              <a:rPr lang="ko-KR" altLang="en-US" sz="1000" dirty="0"/>
              <a:t>다양한 작업에서 학습하고 이해할 수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새로운 작업에 대한 지식을 적용할 수 있음</a:t>
            </a:r>
            <a:r>
              <a:rPr lang="en-US" altLang="ko-KR" sz="1000" dirty="0"/>
              <a:t>(</a:t>
            </a:r>
            <a:r>
              <a:rPr lang="ko-KR" altLang="en-US" sz="1000" dirty="0"/>
              <a:t>추론</a:t>
            </a:r>
            <a:r>
              <a:rPr lang="en-US" altLang="ko-KR" sz="1000" dirty="0"/>
              <a:t>, </a:t>
            </a:r>
            <a:r>
              <a:rPr lang="ko-KR" altLang="en-US" sz="1000" dirty="0"/>
              <a:t>문제해결</a:t>
            </a:r>
            <a:r>
              <a:rPr lang="en-US" altLang="ko-KR" sz="1000" dirty="0"/>
              <a:t>, </a:t>
            </a:r>
            <a:r>
              <a:rPr lang="ko-KR" altLang="en-US" sz="1000" dirty="0"/>
              <a:t>학습 등 능력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0F503-9399-9361-25C1-D52F432C7F78}"/>
              </a:ext>
            </a:extLst>
          </p:cNvPr>
          <p:cNvSpPr txBox="1"/>
          <p:nvPr/>
        </p:nvSpPr>
        <p:spPr>
          <a:xfrm>
            <a:off x="3707904" y="2944276"/>
            <a:ext cx="4248472" cy="756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Artificial Super Intelligence(</a:t>
            </a:r>
            <a:r>
              <a:rPr lang="ko-KR" altLang="en-US" sz="1000" dirty="0"/>
              <a:t>초인공지능</a:t>
            </a:r>
            <a:r>
              <a:rPr lang="en-US" altLang="ko-KR" sz="1000" dirty="0"/>
              <a:t>) : </a:t>
            </a:r>
            <a:r>
              <a:rPr lang="ko-KR" altLang="en-US" sz="1000" dirty="0"/>
              <a:t>인간의 모든 지능적인 작업을 뛰어 넘는 인공지능</a:t>
            </a:r>
            <a:r>
              <a:rPr lang="en-US" altLang="ko-KR" sz="1000" dirty="0"/>
              <a:t>, </a:t>
            </a:r>
            <a:r>
              <a:rPr lang="ko-KR" altLang="en-US" sz="1000" dirty="0"/>
              <a:t>인간의 인지</a:t>
            </a:r>
            <a:r>
              <a:rPr lang="en-US" altLang="ko-KR" sz="1000" dirty="0"/>
              <a:t>, </a:t>
            </a:r>
            <a:r>
              <a:rPr lang="ko-KR" altLang="en-US" sz="1000" dirty="0"/>
              <a:t>학습</a:t>
            </a:r>
            <a:r>
              <a:rPr lang="en-US" altLang="ko-KR" sz="1000" dirty="0"/>
              <a:t>, </a:t>
            </a:r>
            <a:r>
              <a:rPr lang="ko-KR" altLang="en-US" sz="1000" dirty="0"/>
              <a:t>문제해결</a:t>
            </a:r>
            <a:r>
              <a:rPr lang="en-US" altLang="ko-KR" sz="1000" dirty="0"/>
              <a:t>, </a:t>
            </a:r>
            <a:r>
              <a:rPr lang="ko-KR" altLang="en-US" sz="1000" dirty="0"/>
              <a:t>창의성 등 모든 측면에서 뛰어난 능력을 갖추게 됨</a:t>
            </a:r>
            <a:r>
              <a:rPr lang="en-US" altLang="ko-KR" sz="1000" dirty="0"/>
              <a:t>, </a:t>
            </a:r>
            <a:r>
              <a:rPr lang="ko-KR" altLang="en-US" sz="1000" dirty="0"/>
              <a:t>현재로서는 아직 이론상의 개념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EE8AD-6F2C-4576-43CA-12B1B7D2B35D}"/>
              </a:ext>
            </a:extLst>
          </p:cNvPr>
          <p:cNvSpPr txBox="1"/>
          <p:nvPr/>
        </p:nvSpPr>
        <p:spPr>
          <a:xfrm>
            <a:off x="3347864" y="5013176"/>
            <a:ext cx="936104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chemeClr val="bg1"/>
                </a:solidFill>
              </a:rPr>
              <a:t>기계학습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F6E58-0C21-00E8-E2BD-343033F5580B}"/>
              </a:ext>
            </a:extLst>
          </p:cNvPr>
          <p:cNvSpPr txBox="1"/>
          <p:nvPr/>
        </p:nvSpPr>
        <p:spPr>
          <a:xfrm>
            <a:off x="2771800" y="4055586"/>
            <a:ext cx="936104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</a:rPr>
              <a:t>기계지능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6B8DDF-ADA1-F2CB-A7EA-B10EBFC81FA0}"/>
              </a:ext>
            </a:extLst>
          </p:cNvPr>
          <p:cNvSpPr txBox="1"/>
          <p:nvPr/>
        </p:nvSpPr>
        <p:spPr>
          <a:xfrm>
            <a:off x="2587950" y="2942695"/>
            <a:ext cx="936104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</a:rPr>
              <a:t>기계의식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0A3AF-C434-4265-A4D5-954BE91F25EE}"/>
              </a:ext>
            </a:extLst>
          </p:cNvPr>
          <p:cNvSpPr txBox="1"/>
          <p:nvPr/>
        </p:nvSpPr>
        <p:spPr>
          <a:xfrm>
            <a:off x="216456" y="4083867"/>
            <a:ext cx="1145975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chemeClr val="tx2"/>
                </a:solidFill>
              </a:rPr>
              <a:t>현재 기술은 여기</a:t>
            </a:r>
            <a:endParaRPr lang="ko-KR" altLang="en-US" sz="1000" b="1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0B0997-0030-562E-B5EC-CE7CB2BABE84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(Artificial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Intelligence)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007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394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인공지능의 역사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1940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1950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 개념과 이론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앨런 튜링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(Alan Turing)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1950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튜링은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"Computing Machinery and Intelligence"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라는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기계가 사고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있는지를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논의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하며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튜링 테스트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(Turing test)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제안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다트머스 회의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(1956)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존 매카시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(Jon McCarthy),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마빈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민스키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(Marvin Lee Minsky),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네이선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로체스터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클로드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섀넌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(Claude Elwood Shannon)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등이 모여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이라는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용어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처음 사용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연구의 기초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다졌음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1960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엘리자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(ELIZA)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1966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조셉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웨이젠바움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(Joseph </a:t>
            </a:r>
            <a:r>
              <a:rPr lang="en-US" altLang="ko-KR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Weizenbaum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개발한 자연어 처리 프로그램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사용자의 입력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대해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대화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능력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보여주었음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3C5A5502-B8A5-E1CE-704F-17DEA40B66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1026" name="Picture 2" descr="1936년의 튜링">
            <a:extLst>
              <a:ext uri="{FF2B5EF4-FFF2-40B4-BE49-F238E27FC236}">
                <a16:creationId xmlns:a16="http://schemas.microsoft.com/office/drawing/2014/main" id="{8BB0D7D0-F6BD-BA03-9619-E52CB8C2C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743" y="1289512"/>
            <a:ext cx="926976" cy="123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E1F84-7DF1-5FB4-E851-E8E593C3E366}"/>
              </a:ext>
            </a:extLst>
          </p:cNvPr>
          <p:cNvSpPr txBox="1"/>
          <p:nvPr/>
        </p:nvSpPr>
        <p:spPr>
          <a:xfrm>
            <a:off x="8188743" y="2564904"/>
            <a:ext cx="92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Alan Turing</a:t>
            </a:r>
          </a:p>
          <a:p>
            <a:pPr algn="ctr"/>
            <a:r>
              <a:rPr lang="en-US" altLang="ko-KR" sz="900" dirty="0"/>
              <a:t>1912-1954</a:t>
            </a:r>
            <a:endParaRPr lang="ko-KR" altLang="en-US" sz="900" dirty="0"/>
          </a:p>
        </p:txBody>
      </p:sp>
      <p:pic>
        <p:nvPicPr>
          <p:cNvPr id="1028" name="Picture 4" descr="마빈 민스키(2008)">
            <a:extLst>
              <a:ext uri="{FF2B5EF4-FFF2-40B4-BE49-F238E27FC236}">
                <a16:creationId xmlns:a16="http://schemas.microsoft.com/office/drawing/2014/main" id="{CD88C954-E297-323A-E631-D506E8112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129" y="1319282"/>
            <a:ext cx="741566" cy="74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33FAE8-BF97-D507-1FC8-FD722E0D4B1B}"/>
              </a:ext>
            </a:extLst>
          </p:cNvPr>
          <p:cNvSpPr txBox="1"/>
          <p:nvPr/>
        </p:nvSpPr>
        <p:spPr>
          <a:xfrm>
            <a:off x="7245424" y="2049270"/>
            <a:ext cx="926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Marvin Minsky</a:t>
            </a:r>
          </a:p>
          <a:p>
            <a:pPr algn="ctr"/>
            <a:r>
              <a:rPr lang="en-US" altLang="ko-KR" sz="900" dirty="0"/>
              <a:t>1927-2016</a:t>
            </a:r>
            <a:endParaRPr lang="ko-KR" altLang="en-US" sz="900" dirty="0"/>
          </a:p>
        </p:txBody>
      </p:sp>
      <p:pic>
        <p:nvPicPr>
          <p:cNvPr id="1030" name="Picture 6" descr="반도체 인명사전] 리스프(LISP)의 개발자, 인공지능의 아버지 존 ...">
            <a:extLst>
              <a:ext uri="{FF2B5EF4-FFF2-40B4-BE49-F238E27FC236}">
                <a16:creationId xmlns:a16="http://schemas.microsoft.com/office/drawing/2014/main" id="{E0BF031A-E79F-4031-96BA-BF9ED62A4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333" y="1319282"/>
            <a:ext cx="1193919" cy="74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EE8B4AC-6821-DAAD-4124-20F979183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138" y="1319282"/>
            <a:ext cx="615147" cy="86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530AEC-3537-F746-8D53-29D0FA8C1F07}"/>
              </a:ext>
            </a:extLst>
          </p:cNvPr>
          <p:cNvSpPr txBox="1"/>
          <p:nvPr/>
        </p:nvSpPr>
        <p:spPr>
          <a:xfrm>
            <a:off x="5070025" y="2164241"/>
            <a:ext cx="1086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Claude Shannon</a:t>
            </a:r>
          </a:p>
        </p:txBody>
      </p:sp>
      <p:pic>
        <p:nvPicPr>
          <p:cNvPr id="1034" name="Picture 10" descr="거의 모든 AI의 역사] ③ 세상을 바꾼 질문 “기계가 생각할 수 있을까?” &lt; 거의 모든 AI의 역사 &lt; 세계와 경제 &lt; 기사본문 -  피렌체의 식탁">
            <a:extLst>
              <a:ext uri="{FF2B5EF4-FFF2-40B4-BE49-F238E27FC236}">
                <a16:creationId xmlns:a16="http://schemas.microsoft.com/office/drawing/2014/main" id="{27435B59-9834-BD15-4562-8DB66C50F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137" y="3970352"/>
            <a:ext cx="1038857" cy="7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9BAA5F-AD57-2652-B990-ABF6FE7844C5}"/>
              </a:ext>
            </a:extLst>
          </p:cNvPr>
          <p:cNvSpPr txBox="1"/>
          <p:nvPr/>
        </p:nvSpPr>
        <p:spPr>
          <a:xfrm>
            <a:off x="4744508" y="4710336"/>
            <a:ext cx="1380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Joseph </a:t>
            </a:r>
            <a:r>
              <a:rPr lang="en-US" altLang="ko-KR" sz="900" dirty="0" err="1"/>
              <a:t>Weizenbaum</a:t>
            </a:r>
            <a:endParaRPr lang="en-US" altLang="ko-KR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2770D-E160-94AA-22D4-02A11815DA23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(Artificial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Intelligence)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35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9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45300"/>
            <a:ext cx="8718828" cy="522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인공지능의 역사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1970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∼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1980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겨울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초기의 기대와 달리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기술적 한계와 자금 부족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인해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연구가 침체기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들어섰음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시기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겨울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“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이라 함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1980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시스템의 부상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시스템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Expert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Systems)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특정 분야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지식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바탕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문제를 해결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시스템이 인기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끌었음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예를 들어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MYCIN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의료 진단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위한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전문가 시스템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이었음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인공지능의 </a:t>
            </a:r>
            <a:r>
              <a:rPr lang="ko-KR" altLang="en-US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재부상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컴퓨터의 성능 향상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저장 비용 감소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인해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연구가 다시 활기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띠었음</a:t>
            </a:r>
            <a:endParaRPr lang="en-US" altLang="ko-KR" sz="13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1990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기계학습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(Machine Learning)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데이터 마이닝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(Data Mining)</a:t>
            </a: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기계학습 알고리즘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하면서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분석과 예측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되기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딥 블루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(Deep Blue)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1997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IBM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체스 프로그램 딥 블루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세계 체스 챔피언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가리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키모비치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카스파로프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az-Cyrl-AZ" altLang="ko-KR" sz="1400" b="0" i="0" dirty="0">
                <a:effectLst/>
                <a:latin typeface="Arial" panose="020B0604020202020204" pitchFamily="34" charset="0"/>
              </a:rPr>
              <a:t>Га́рри Ки́мович Каспа́ров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이겼음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2CC71E24-CE0B-2BD8-54C2-E178E5D039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7" name="그림 6">
            <a:hlinkClick r:id="rId2"/>
            <a:extLst>
              <a:ext uri="{FF2B5EF4-FFF2-40B4-BE49-F238E27FC236}">
                <a16:creationId xmlns:a16="http://schemas.microsoft.com/office/drawing/2014/main" id="{EC41B151-CF33-1B99-23B7-B692CC9E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288" y="1319282"/>
            <a:ext cx="1627204" cy="8966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019FC2-7652-BDE5-98D9-58F44816B3F6}"/>
              </a:ext>
            </a:extLst>
          </p:cNvPr>
          <p:cNvSpPr txBox="1"/>
          <p:nvPr/>
        </p:nvSpPr>
        <p:spPr>
          <a:xfrm>
            <a:off x="3635896" y="3068960"/>
            <a:ext cx="4955232" cy="525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MYCIN</a:t>
            </a:r>
            <a:r>
              <a:rPr lang="ko-KR" altLang="en-US" sz="1000" dirty="0"/>
              <a:t>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AI</a:t>
            </a:r>
            <a:r>
              <a:rPr lang="ko-KR" altLang="en-US" sz="1000" dirty="0"/>
              <a:t>가 활용되는 전문가 시스템 모델 중 성공적으로 사용되고 있는 모델</a:t>
            </a:r>
            <a:r>
              <a:rPr lang="en-US" altLang="ko-KR" sz="1000" dirty="0"/>
              <a:t>, </a:t>
            </a:r>
            <a:r>
              <a:rPr lang="ko-KR" altLang="en-US" sz="1000" dirty="0"/>
              <a:t>혈액의 세균 감염에 대한 치료를 진단하고 처방하기 위해 전문 의학지식을 사용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D40F3-58D2-555C-5A36-E37F0D0C8725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(Artificial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Intelligence)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339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77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인공지능의 역사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2000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딥러닝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(Deep Learning)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혁신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딥러닝 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2010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초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신경망을 기반으로 한 딥러닝 기술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하면서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인식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자연어 처리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등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분야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혁신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가져왔음</a:t>
            </a:r>
            <a:endParaRPr lang="en-US" altLang="ko-KR" sz="12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상용화 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자율주행차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음성 인식 비서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Siri, Alexa)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 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산업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상용화</a:t>
            </a:r>
            <a:endParaRPr lang="en-US" altLang="ko-KR" sz="12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의료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금융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제조업 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여러 분야에서 혁신을 이끌고 있으며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윤리적 문제와 규제에 대한 논의도 활발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히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진행</a:t>
            </a:r>
            <a:endParaRPr lang="en-US" altLang="ko-KR" sz="12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미래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엔비디아의 </a:t>
            </a:r>
            <a:r>
              <a:rPr lang="ko-KR" altLang="en-US" sz="12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젠슨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황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CEO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엔비디아의 개발자 연례 행사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‘GTC(GPU Technology Conference) 2024’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인공일반지능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(AGI)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시대가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남았다고 공언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분야 선두 기업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으로는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OpenAI, Google, Meta, Microsoft 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등이 있음</a:t>
            </a:r>
            <a:endParaRPr lang="en-US" altLang="ko-KR" sz="120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OpenAI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GPT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시리즈는 인간과 유사한 자연어 생성 능력을 보여주며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AGI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개발에 있어서 중요한 진전으로 평가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됨</a:t>
            </a:r>
            <a:endParaRPr lang="en-US" altLang="ko-KR" sz="120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B08D1F-942B-7985-A4B1-B3D9AF3E5B31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(Artificial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Intelligence)</a:t>
            </a:r>
            <a:endParaRPr lang="ko-KR" altLang="en-US" sz="16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538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(Robot)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의 정의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특정 작업을 수행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하기 위해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자동화된 기계 또는 장치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일반적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프로그래밍 가능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갖추고 있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음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(Sensor),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액추에이터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Actuator)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컴퓨터 시스템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데이터를 처리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물리적인 작업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수행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있음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로봇의 특징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(Automation)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개입 없이도 작업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수행할 수 있는 능력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가지고 있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음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프로그래밍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(Programming)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가능성 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특정 작업을 수행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하기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위해 미리 설정된 프로그램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따라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작동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센서와 피드백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Feedback)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센서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통해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주변 환경</a:t>
            </a:r>
            <a:r>
              <a:rPr lang="ko-KR" altLang="en-US" sz="13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감지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이를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바탕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조정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음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형태와 기능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산업용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서비스용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의료용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등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분야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형태와 기능이 매우 다양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기술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</p:spTree>
    <p:extLst>
      <p:ext uri="{BB962C8B-B14F-4D97-AF65-F5344CB8AC3E}">
        <p14:creationId xmlns:p14="http://schemas.microsoft.com/office/powerpoint/2010/main" val="200888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12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6947832" cy="467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15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(Robot)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기술의 역사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고대와 중세</a:t>
            </a:r>
          </a:p>
          <a:p>
            <a:pPr marL="631825" lvl="2" indent="-188913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고대 그리스 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기계적 장치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 개념이 등장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예를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아르키메데스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(Archimedes)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물리학원리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이용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기계장치 설계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중세 </a:t>
            </a:r>
            <a:r>
              <a:rPr lang="en-US" altLang="ko-KR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자동화된 장치와 기계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들이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등장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했으며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특히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시계와 같은 복잡한 기계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들이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endParaRPr lang="en-US" altLang="ko-KR" sz="12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세기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19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세기</a:t>
            </a:r>
          </a:p>
          <a:p>
            <a:pPr marL="631825" lvl="2" indent="-188913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기계 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세기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에는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자동으로 움직이는 인형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같은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들이 만들어짐</a:t>
            </a:r>
            <a:endParaRPr lang="en-US" altLang="ko-KR" sz="13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산업혁명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세기 산업혁명은 기계화와 자동화의 기초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마련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시기에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기계가 노동을 대체하기 시작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세기 초</a:t>
            </a:r>
          </a:p>
          <a:p>
            <a:pPr marL="631825" lvl="2" indent="-188913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전기 로봇 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1921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체코 작가 </a:t>
            </a:r>
            <a:r>
              <a:rPr lang="ko-KR" altLang="en-US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카렐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차페크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cs-CZ" altLang="ko-KR" sz="1300" b="0" i="0" dirty="0">
                <a:effectLst/>
                <a:latin typeface="Arial" panose="020B0604020202020204" pitchFamily="34" charset="0"/>
              </a:rPr>
              <a:t>Karel Čapek,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연극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"R.U.R.</a:t>
            </a:r>
            <a:r>
              <a:rPr lang="en-US" altLang="ko-KR" sz="1300" b="1" i="0" dirty="0">
                <a:effectLst/>
                <a:latin typeface="Arial" panose="020B0604020202020204" pitchFamily="34" charset="0"/>
              </a:rPr>
              <a:t> (Rossum's Universal Robots, </a:t>
            </a:r>
            <a:r>
              <a:rPr lang="ko-KR" altLang="en-US" sz="1300" b="1" i="0" dirty="0" err="1">
                <a:effectLst/>
                <a:latin typeface="Arial" panose="020B0604020202020204" pitchFamily="34" charset="0"/>
              </a:rPr>
              <a:t>로줌</a:t>
            </a:r>
            <a:r>
              <a:rPr lang="ko-KR" altLang="en-US" sz="1300" b="1" i="0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300" b="1" i="0" dirty="0" err="1">
                <a:effectLst/>
                <a:latin typeface="Arial" panose="020B0604020202020204" pitchFamily="34" charset="0"/>
              </a:rPr>
              <a:t>유니버셜</a:t>
            </a:r>
            <a:r>
              <a:rPr lang="ko-KR" altLang="en-US" sz="1300" b="1" i="0" dirty="0">
                <a:effectLst/>
                <a:latin typeface="Arial" panose="020B0604020202020204" pitchFamily="34" charset="0"/>
              </a:rPr>
              <a:t> 로봇</a:t>
            </a:r>
            <a:r>
              <a:rPr lang="en-US" altLang="ko-KR" sz="1300" b="1" i="0" dirty="0">
                <a:effectLst/>
                <a:latin typeface="Arial" panose="020B0604020202020204" pitchFamily="34" charset="0"/>
              </a:rPr>
              <a:t>)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'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이라는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용어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처음 사용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연극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로봇이 인간</a:t>
            </a:r>
            <a:r>
              <a:rPr lang="ko-KR" altLang="en-US" sz="13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대체하는 주제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다루었음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초기 로봇 개발 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1950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에는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조지 </a:t>
            </a:r>
            <a:r>
              <a:rPr lang="ko-KR" altLang="en-US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데볼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(George Charles </a:t>
            </a:r>
            <a:r>
              <a:rPr lang="en-US" altLang="ko-KR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Devol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Jr.)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최초의 산업용 로봇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유니메이트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3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Unimate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)"</a:t>
            </a:r>
            <a:r>
              <a:rPr lang="ko-KR" altLang="en-US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3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산업에서 사용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EF40A5-3B70-D884-FE16-475171E05EF4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기술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2C25FB-B616-0FFD-79A3-3F7ECECE6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1440649"/>
            <a:ext cx="1647626" cy="202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572A7-782F-ED55-243B-903CEF9FB483}"/>
              </a:ext>
            </a:extLst>
          </p:cNvPr>
          <p:cNvSpPr txBox="1"/>
          <p:nvPr/>
        </p:nvSpPr>
        <p:spPr>
          <a:xfrm>
            <a:off x="7164288" y="3450787"/>
            <a:ext cx="1647626" cy="756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아르키메데스의 초상</a:t>
            </a:r>
            <a:endParaRPr lang="en-US" altLang="ko-KR" sz="1000" dirty="0"/>
          </a:p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출생 </a:t>
            </a:r>
            <a:r>
              <a:rPr lang="en-US" altLang="ko-KR" sz="1000" dirty="0"/>
              <a:t>: </a:t>
            </a:r>
            <a:r>
              <a:rPr lang="ko-KR" altLang="en-US" sz="1000" dirty="0"/>
              <a:t>기원전 </a:t>
            </a:r>
            <a:r>
              <a:rPr lang="en-US" altLang="ko-KR" sz="1000" dirty="0"/>
              <a:t>287</a:t>
            </a:r>
            <a:r>
              <a:rPr lang="ko-KR" altLang="en-US" sz="1000" dirty="0"/>
              <a:t>년</a:t>
            </a:r>
            <a:endParaRPr lang="en-US" altLang="ko-KR" sz="1000" dirty="0"/>
          </a:p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사망 </a:t>
            </a:r>
            <a:r>
              <a:rPr lang="en-US" altLang="ko-KR" sz="1000" dirty="0"/>
              <a:t>: </a:t>
            </a:r>
            <a:r>
              <a:rPr lang="ko-KR" altLang="en-US" sz="1000" dirty="0"/>
              <a:t>기원전 </a:t>
            </a:r>
            <a:r>
              <a:rPr lang="en-US" altLang="ko-KR" sz="1000" dirty="0"/>
              <a:t>212</a:t>
            </a:r>
            <a:r>
              <a:rPr lang="ko-KR" altLang="en-US" sz="1000" dirty="0"/>
              <a:t>년</a:t>
            </a:r>
          </a:p>
        </p:txBody>
      </p:sp>
    </p:spTree>
    <p:extLst>
      <p:ext uri="{BB962C8B-B14F-4D97-AF65-F5344CB8AC3E}">
        <p14:creationId xmlns:p14="http://schemas.microsoft.com/office/powerpoint/2010/main" val="299361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13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5111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(Robot)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기술의 역사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1960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- 1980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</a:t>
            </a: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산업용 로봇의 발전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1961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유니메이트</a:t>
            </a:r>
            <a:r>
              <a:rPr lang="ko-KR" altLang="en-US" sz="12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최초로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산업 현장에서 사용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되었고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이후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산업용 로봇이 개발</a:t>
            </a:r>
            <a:endParaRPr lang="en-US" altLang="ko-KR" sz="12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 공학의 기초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시기에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 공학이 학문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자리 잡기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MIT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같은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연구기관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 기술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연구가 활발히 진행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1990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- 2000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</a:t>
            </a: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자율로봇의 발전 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자율적으로 작업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수행할 수 있는 기술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예를 들어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NASA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 탐사선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화성 탐사</a:t>
            </a:r>
            <a:r>
              <a:rPr lang="ko-KR" altLang="en-US" sz="12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endParaRPr lang="en-US" altLang="ko-KR" sz="12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서비스 로봇의 등장 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가정용 청소 로봇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같은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서비스 로봇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시장에 등장하기 시작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2010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∼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</a:t>
            </a: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인공지능과의 통합 </a:t>
            </a:r>
            <a:r>
              <a:rPr lang="en-US" altLang="ko-KR" sz="11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기술의 발전</a:t>
            </a:r>
            <a:r>
              <a:rPr lang="ko-KR" altLang="en-US" sz="11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로봇의 자율성</a:t>
            </a:r>
            <a:r>
              <a:rPr lang="ko-KR" altLang="en-US" sz="11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지능</a:t>
            </a:r>
            <a:r>
              <a:rPr lang="ko-KR" altLang="en-US" sz="11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크게 향상</a:t>
            </a:r>
            <a:r>
              <a:rPr lang="en-US" altLang="ko-KR" sz="1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1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자율주행차</a:t>
            </a:r>
            <a:r>
              <a:rPr lang="en-US" altLang="ko-KR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드론</a:t>
            </a:r>
            <a:r>
              <a:rPr lang="en-US" altLang="ko-KR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(Drone), </a:t>
            </a:r>
            <a:r>
              <a:rPr lang="ko-KR" altLang="en-US" sz="11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의료로봇 등이 상용화</a:t>
            </a:r>
            <a:endParaRPr lang="en-US" altLang="ko-KR" sz="115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31825" lvl="2" indent="-188913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협업 로봇 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인간과 협력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  <a:r>
              <a:rPr lang="ko-KR" altLang="en-US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하는 </a:t>
            </a:r>
            <a:r>
              <a:rPr lang="ko-KR" altLang="en-US" sz="12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코봇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Cobot</a:t>
            </a:r>
            <a:r>
              <a:rPr lang="en-US" altLang="ko-KR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사용이 증가</a:t>
            </a:r>
            <a:r>
              <a:rPr lang="en-US" altLang="ko-KR" sz="12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산업에서 활용</a:t>
            </a:r>
            <a:endParaRPr lang="en-US" altLang="ko-KR" sz="12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EF40A5-3B70-D884-FE16-475171E05EF4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로봇 기술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17AD2-24B8-186E-D026-B3DFF36424D5}"/>
              </a:ext>
            </a:extLst>
          </p:cNvPr>
          <p:cNvSpPr txBox="1"/>
          <p:nvPr/>
        </p:nvSpPr>
        <p:spPr>
          <a:xfrm>
            <a:off x="3505200" y="5730084"/>
            <a:ext cx="2847481" cy="29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/>
              <a:t>코봇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Cobot</a:t>
            </a:r>
            <a:r>
              <a:rPr lang="en-US" altLang="ko-KR" sz="1000" dirty="0"/>
              <a:t>)</a:t>
            </a:r>
            <a:r>
              <a:rPr lang="ko-KR" altLang="en-US" sz="1000" dirty="0"/>
              <a:t>은 </a:t>
            </a:r>
            <a:r>
              <a:rPr lang="en-US" altLang="ko-KR" sz="1000" dirty="0"/>
              <a:t>Collaborative Robot</a:t>
            </a:r>
            <a:r>
              <a:rPr lang="ko-KR" altLang="en-US" sz="1000" dirty="0"/>
              <a:t>의 약어</a:t>
            </a:r>
          </a:p>
        </p:txBody>
      </p:sp>
    </p:spTree>
    <p:extLst>
      <p:ext uri="{BB962C8B-B14F-4D97-AF65-F5344CB8AC3E}">
        <p14:creationId xmlns:p14="http://schemas.microsoft.com/office/powerpoint/2010/main" val="404957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14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825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(Robot)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기술의 발전 현황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(AI)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 머신 러닝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(Machine Learning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통합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최근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 기술은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 머신 러닝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통해 더욱 지능화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되고 있음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로봇은 데이터를 분석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적응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 있는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능력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갖추게 되었음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예를 들어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자율주행차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활용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하여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도로 상황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실시간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분석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하게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주행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할 수 있음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협동 로봇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Cobots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산업 현장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인간과 협력하여 작업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수행하는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있음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이러한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로봇은 안전성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고려하여 설계되어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인간과 함께 작업할 수 있는 환경 조성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소프트 로봇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(Soft Robotics)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기술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소프트 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유연한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부드러운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재료로 만들어져 다양한 형태로 변형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될 수 있는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기술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의료분야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수술보조 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재활로봇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되고 있음 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자율이동로봇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(AMR, Autonomous Mobile Robots)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자율적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이동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하며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수행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하는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로봇이 증가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있음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이러한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물류 및 창고 관리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중요한 역할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하고 있으며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효율성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높이고 인건비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절감하는 데 기여</a:t>
            </a:r>
            <a:endParaRPr lang="en-US" altLang="ko-KR" sz="140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인공지능과 로봇 기술의 결합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</p:spTree>
    <p:extLst>
      <p:ext uri="{BB962C8B-B14F-4D97-AF65-F5344CB8AC3E}">
        <p14:creationId xmlns:p14="http://schemas.microsoft.com/office/powerpoint/2010/main" val="1505619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15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2624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국내외 주요 기업의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‘AI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개발 현황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테슬라</a:t>
            </a:r>
            <a:r>
              <a:rPr lang="en-US" altLang="ko-KR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(Tesla)</a:t>
            </a:r>
            <a:r>
              <a:rPr lang="ko-KR" altLang="en-US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5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휴머노이드</a:t>
            </a:r>
            <a:r>
              <a:rPr lang="ko-KR" altLang="en-US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 로봇 </a:t>
            </a:r>
            <a:r>
              <a:rPr lang="en-US" altLang="ko-KR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‘</a:t>
            </a:r>
            <a:r>
              <a:rPr lang="ko-KR" altLang="en-US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옵티머스</a:t>
            </a:r>
            <a:r>
              <a:rPr lang="en-US" altLang="ko-KR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‘ 2</a:t>
            </a:r>
            <a:r>
              <a:rPr lang="ko-KR" altLang="en-US" sz="12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세대 개발</a:t>
            </a:r>
            <a:r>
              <a:rPr lang="en-US" altLang="ko-KR" sz="125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5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완전자율주행</a:t>
            </a:r>
            <a:r>
              <a:rPr lang="en-US" altLang="ko-KR" sz="1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(FSD)</a:t>
            </a:r>
            <a:r>
              <a:rPr lang="ko-KR" altLang="en-US" sz="1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유사한 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딥러닝 기능 탑재 </a:t>
            </a:r>
            <a:r>
              <a:rPr lang="ko-KR" altLang="en-US" sz="1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예정</a:t>
            </a:r>
            <a:endParaRPr lang="en-US" altLang="ko-KR" sz="125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현대차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보스턴다이내믹스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BostonDynamics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미국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 연구소 설립</a:t>
            </a:r>
            <a:r>
              <a:rPr lang="en-US" altLang="ko-KR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싱가포르 글로벌 혁신센터 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등에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4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족 보행 로봇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‘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스폿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(Spot)‘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운영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LIG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넥스원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고스트로보틱스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(Ghost Robotics)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LIG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넥스원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미국 로봇 개발제조기업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고스트로보틱스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지분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60%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인수 추진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군사용 수색경비용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족 보행로봇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비전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방산 시너지 구상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인공지능과 로봇 기술의 결합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11" name="그림 10">
            <a:hlinkClick r:id="rId4"/>
            <a:extLst>
              <a:ext uri="{FF2B5EF4-FFF2-40B4-BE49-F238E27FC236}">
                <a16:creationId xmlns:a16="http://schemas.microsoft.com/office/drawing/2014/main" id="{342334D4-AB2B-E0E1-B9A4-1D15568B6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433" y="4105123"/>
            <a:ext cx="1793524" cy="1003345"/>
          </a:xfrm>
          <a:prstGeom prst="rect">
            <a:avLst/>
          </a:prstGeom>
        </p:spPr>
      </p:pic>
      <p:pic>
        <p:nvPicPr>
          <p:cNvPr id="13" name="그림 12">
            <a:hlinkClick r:id="rId6"/>
            <a:extLst>
              <a:ext uri="{FF2B5EF4-FFF2-40B4-BE49-F238E27FC236}">
                <a16:creationId xmlns:a16="http://schemas.microsoft.com/office/drawing/2014/main" id="{7885DB3F-E196-5165-AAF6-9B864D4EC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247" y="5223168"/>
            <a:ext cx="1810710" cy="1014144"/>
          </a:xfrm>
          <a:prstGeom prst="rect">
            <a:avLst/>
          </a:prstGeom>
        </p:spPr>
      </p:pic>
      <p:pic>
        <p:nvPicPr>
          <p:cNvPr id="14" name="그림 13">
            <a:hlinkClick r:id="rId8"/>
            <a:extLst>
              <a:ext uri="{FF2B5EF4-FFF2-40B4-BE49-F238E27FC236}">
                <a16:creationId xmlns:a16="http://schemas.microsoft.com/office/drawing/2014/main" id="{8498922D-95EE-B8D9-8C6C-1A32613A4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4965" y="4095747"/>
            <a:ext cx="1800119" cy="1003345"/>
          </a:xfrm>
          <a:prstGeom prst="rect">
            <a:avLst/>
          </a:prstGeom>
        </p:spPr>
      </p:pic>
      <p:pic>
        <p:nvPicPr>
          <p:cNvPr id="16" name="그림 15">
            <a:hlinkClick r:id="rId10"/>
            <a:extLst>
              <a:ext uri="{FF2B5EF4-FFF2-40B4-BE49-F238E27FC236}">
                <a16:creationId xmlns:a16="http://schemas.microsoft.com/office/drawing/2014/main" id="{759B0FF9-92B6-3C60-A301-0B6F24B576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4965" y="5223169"/>
            <a:ext cx="1820887" cy="1003346"/>
          </a:xfrm>
          <a:prstGeom prst="rect">
            <a:avLst/>
          </a:prstGeom>
        </p:spPr>
      </p:pic>
      <p:pic>
        <p:nvPicPr>
          <p:cNvPr id="18" name="그림 17">
            <a:hlinkClick r:id="rId12"/>
            <a:extLst>
              <a:ext uri="{FF2B5EF4-FFF2-40B4-BE49-F238E27FC236}">
                <a16:creationId xmlns:a16="http://schemas.microsoft.com/office/drawing/2014/main" id="{1BB88447-9196-C2B7-C376-9167415536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2320" y="4087433"/>
            <a:ext cx="1887952" cy="1021035"/>
          </a:xfrm>
          <a:prstGeom prst="rect">
            <a:avLst/>
          </a:prstGeom>
        </p:spPr>
      </p:pic>
      <p:pic>
        <p:nvPicPr>
          <p:cNvPr id="20" name="그림 19">
            <a:hlinkClick r:id="rId14"/>
            <a:extLst>
              <a:ext uri="{FF2B5EF4-FFF2-40B4-BE49-F238E27FC236}">
                <a16:creationId xmlns:a16="http://schemas.microsoft.com/office/drawing/2014/main" id="{D99B8467-123D-F030-7FF0-3F35A0DA84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3417" y="5223168"/>
            <a:ext cx="1876855" cy="10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94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16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2670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국내외 주요 기업의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‘AI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’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개발 현황 계속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구글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구글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워싱턴大 공동 연구팀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로봇이 인간 시연에서 의미를 인식하는 학습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Semanitics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-Aware Learning)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복잡한 오프로드 환경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하는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로봇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향상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시키기 위해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계층적 학습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‘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프레임워크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(Hierarchical learning Framework)’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유니트리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로보틱스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社의 인공지능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족 보행 로봇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‘A1’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적용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국내 로봇 플랫폼 전문기업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레인보우로보틱스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 사족보행 로봇 용산 대통령실 입성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인공지능과 로봇 기술의 결합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B86E4-9306-D3FD-AB8A-6D897A20CAF6}"/>
              </a:ext>
            </a:extLst>
          </p:cNvPr>
          <p:cNvSpPr txBox="1"/>
          <p:nvPr/>
        </p:nvSpPr>
        <p:spPr>
          <a:xfrm>
            <a:off x="395536" y="5663299"/>
            <a:ext cx="2594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UnitreeRobotics</a:t>
            </a:r>
            <a:r>
              <a:rPr lang="ko-KR" altLang="en-US" sz="1000" dirty="0"/>
              <a:t> </a:t>
            </a:r>
            <a:r>
              <a:rPr lang="en-US" altLang="ko-KR" sz="1000" dirty="0"/>
              <a:t>4</a:t>
            </a:r>
            <a:r>
              <a:rPr lang="ko-KR" altLang="en-US" sz="1000" dirty="0"/>
              <a:t>족 보행 로봇 </a:t>
            </a:r>
            <a:r>
              <a:rPr lang="en-US" altLang="ko-KR" sz="1000" dirty="0"/>
              <a:t>‘A1’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CAFF3-545B-9B6A-9556-681F50B1A6A8}"/>
              </a:ext>
            </a:extLst>
          </p:cNvPr>
          <p:cNvSpPr txBox="1"/>
          <p:nvPr/>
        </p:nvSpPr>
        <p:spPr>
          <a:xfrm>
            <a:off x="2737662" y="5663299"/>
            <a:ext cx="25948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레인보우로보틱스</a:t>
            </a:r>
            <a:r>
              <a:rPr lang="ko-KR" altLang="en-US" sz="1000" dirty="0"/>
              <a:t> </a:t>
            </a:r>
            <a:r>
              <a:rPr lang="en-US" altLang="ko-KR" sz="1000" dirty="0"/>
              <a:t>4</a:t>
            </a:r>
            <a:r>
              <a:rPr lang="ko-KR" altLang="en-US" sz="1000" dirty="0"/>
              <a:t>족 보행 로봇</a:t>
            </a:r>
          </a:p>
        </p:txBody>
      </p:sp>
      <p:pic>
        <p:nvPicPr>
          <p:cNvPr id="5122" name="Picture 2" descr="레인보우로보틱스 '로봇개' 대통령실 지킨다…용산 입성｜동아일보">
            <a:extLst>
              <a:ext uri="{FF2B5EF4-FFF2-40B4-BE49-F238E27FC236}">
                <a16:creationId xmlns:a16="http://schemas.microsoft.com/office/drawing/2014/main" id="{CBA40124-A2F4-192E-F6EE-4FFE732BB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168360"/>
            <a:ext cx="2528828" cy="142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연구팀이 이번 연구에 유니트리 로보틱스(UnitreeRobotics) 社의 인공지능 4족 보행 로봇 ‘A1’에 적용했다. A1로봇은 CES 2020에서 백플립을 80회 수행해 주목을 받았으며, 동작 안정성을 보장하기 위해 폐쇄 루프 백플립 알고리즘 사용한다.(사진:유니트리로보틱스)">
            <a:extLst>
              <a:ext uri="{FF2B5EF4-FFF2-40B4-BE49-F238E27FC236}">
                <a16:creationId xmlns:a16="http://schemas.microsoft.com/office/drawing/2014/main" id="{06466A85-F4AD-5838-0FD4-B47EE5582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75" y="4095587"/>
            <a:ext cx="1872208" cy="152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hlinkClick r:id="rId6"/>
            <a:extLst>
              <a:ext uri="{FF2B5EF4-FFF2-40B4-BE49-F238E27FC236}">
                <a16:creationId xmlns:a16="http://schemas.microsoft.com/office/drawing/2014/main" id="{CE3F096C-43CD-A736-A7B6-FBBE66A30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9330" y="4170954"/>
            <a:ext cx="2596072" cy="1445780"/>
          </a:xfrm>
          <a:prstGeom prst="rect">
            <a:avLst/>
          </a:prstGeom>
        </p:spPr>
      </p:pic>
      <p:pic>
        <p:nvPicPr>
          <p:cNvPr id="2050" name="Picture 2" descr="레인보우로보틱스 - 나무위키">
            <a:hlinkClick r:id="rId8"/>
            <a:extLst>
              <a:ext uri="{FF2B5EF4-FFF2-40B4-BE49-F238E27FC236}">
                <a16:creationId xmlns:a16="http://schemas.microsoft.com/office/drawing/2014/main" id="{ED2D0891-14AE-F336-FE20-27C3EB6C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3563318"/>
            <a:ext cx="1219372" cy="37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112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17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2586" y="1268760"/>
            <a:ext cx="8718828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AI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로봇 사용 사례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인공지능과 로봇 기술의 결합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8" name="그림 7">
            <a:hlinkClick r:id="rId2"/>
            <a:extLst>
              <a:ext uri="{FF2B5EF4-FFF2-40B4-BE49-F238E27FC236}">
                <a16:creationId xmlns:a16="http://schemas.microsoft.com/office/drawing/2014/main" id="{25E4A604-CBD4-E9C1-48AB-F260A63A9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51" y="2348880"/>
            <a:ext cx="2594887" cy="1429836"/>
          </a:xfrm>
          <a:prstGeom prst="rect">
            <a:avLst/>
          </a:prstGeom>
        </p:spPr>
      </p:pic>
      <p:pic>
        <p:nvPicPr>
          <p:cNvPr id="11" name="그림 10">
            <a:hlinkClick r:id="rId4"/>
            <a:extLst>
              <a:ext uri="{FF2B5EF4-FFF2-40B4-BE49-F238E27FC236}">
                <a16:creationId xmlns:a16="http://schemas.microsoft.com/office/drawing/2014/main" id="{F671ADCF-22F4-6858-21CC-74FF86DD7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37" y="2348880"/>
            <a:ext cx="2607978" cy="1429836"/>
          </a:xfrm>
          <a:prstGeom prst="rect">
            <a:avLst/>
          </a:prstGeom>
        </p:spPr>
      </p:pic>
      <p:pic>
        <p:nvPicPr>
          <p:cNvPr id="13" name="그림 12">
            <a:hlinkClick r:id="rId6"/>
            <a:extLst>
              <a:ext uri="{FF2B5EF4-FFF2-40B4-BE49-F238E27FC236}">
                <a16:creationId xmlns:a16="http://schemas.microsoft.com/office/drawing/2014/main" id="{701EA2C0-0382-FA1C-ED05-4FFB7611C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941" y="2348880"/>
            <a:ext cx="2557007" cy="1429836"/>
          </a:xfrm>
          <a:prstGeom prst="rect">
            <a:avLst/>
          </a:prstGeom>
        </p:spPr>
      </p:pic>
      <p:pic>
        <p:nvPicPr>
          <p:cNvPr id="17" name="그림 16">
            <a:hlinkClick r:id="rId8"/>
            <a:extLst>
              <a:ext uri="{FF2B5EF4-FFF2-40B4-BE49-F238E27FC236}">
                <a16:creationId xmlns:a16="http://schemas.microsoft.com/office/drawing/2014/main" id="{4213D5E0-305E-0784-3314-C028A9FB7B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6137" y="3939405"/>
            <a:ext cx="2611815" cy="1425593"/>
          </a:xfrm>
          <a:prstGeom prst="rect">
            <a:avLst/>
          </a:prstGeom>
        </p:spPr>
      </p:pic>
      <p:pic>
        <p:nvPicPr>
          <p:cNvPr id="19" name="그림 18">
            <a:hlinkClick r:id="rId10"/>
            <a:extLst>
              <a:ext uri="{FF2B5EF4-FFF2-40B4-BE49-F238E27FC236}">
                <a16:creationId xmlns:a16="http://schemas.microsoft.com/office/drawing/2014/main" id="{4BAAF9E5-E20D-0B4E-1125-656E6A751A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3415" y="3935162"/>
            <a:ext cx="2557007" cy="1429836"/>
          </a:xfrm>
          <a:prstGeom prst="rect">
            <a:avLst/>
          </a:prstGeom>
        </p:spPr>
      </p:pic>
      <p:pic>
        <p:nvPicPr>
          <p:cNvPr id="7" name="그림 6">
            <a:hlinkClick r:id="rId12"/>
            <a:extLst>
              <a:ext uri="{FF2B5EF4-FFF2-40B4-BE49-F238E27FC236}">
                <a16:creationId xmlns:a16="http://schemas.microsoft.com/office/drawing/2014/main" id="{F0AEADC0-B97B-FEA7-E042-57D296C720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050" y="3935163"/>
            <a:ext cx="2594888" cy="137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93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18</a:t>
            </a:fld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614F9-63B4-9F49-18A6-6A22722B0B7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DB0D2-3EC4-FD8F-AD2D-A18826B65D86}"/>
              </a:ext>
            </a:extLst>
          </p:cNvPr>
          <p:cNvSpPr txBox="1"/>
          <p:nvPr/>
        </p:nvSpPr>
        <p:spPr>
          <a:xfrm>
            <a:off x="467544" y="5805264"/>
            <a:ext cx="5340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2"/>
              </a:rPr>
              <a:t>"</a:t>
            </a:r>
            <a:r>
              <a:rPr lang="ko-KR" altLang="en-US" sz="1000" dirty="0">
                <a:hlinkClick r:id="rId2"/>
              </a:rPr>
              <a:t>판</a:t>
            </a:r>
            <a:r>
              <a:rPr lang="en-US" altLang="ko-KR" sz="1000" dirty="0">
                <a:hlinkClick r:id="rId2"/>
              </a:rPr>
              <a:t>·</a:t>
            </a:r>
            <a:r>
              <a:rPr lang="ko-KR" altLang="en-US" sz="1000" dirty="0">
                <a:hlinkClick r:id="rId2"/>
              </a:rPr>
              <a:t>검사도 밥그릇 뺏긴다</a:t>
            </a:r>
            <a:r>
              <a:rPr lang="en-US" altLang="ko-KR" sz="1000" dirty="0">
                <a:hlinkClick r:id="rId2"/>
              </a:rPr>
              <a:t>"…2030</a:t>
            </a:r>
            <a:r>
              <a:rPr lang="ko-KR" altLang="en-US" sz="1000" dirty="0">
                <a:hlinkClick r:id="rId2"/>
              </a:rPr>
              <a:t>년 </a:t>
            </a:r>
            <a:r>
              <a:rPr lang="en-US" altLang="ko-KR" sz="1000" dirty="0">
                <a:hlinkClick r:id="rId2"/>
              </a:rPr>
              <a:t>AI</a:t>
            </a:r>
            <a:r>
              <a:rPr lang="ko-KR" altLang="en-US" sz="1000" dirty="0">
                <a:hlinkClick r:id="rId2"/>
              </a:rPr>
              <a:t>가 일자리 </a:t>
            </a:r>
            <a:r>
              <a:rPr lang="en-US" altLang="ko-KR" sz="1000" dirty="0">
                <a:hlinkClick r:id="rId2"/>
              </a:rPr>
              <a:t>90% </a:t>
            </a:r>
            <a:r>
              <a:rPr lang="ko-KR" altLang="en-US" sz="1000" dirty="0">
                <a:hlinkClick r:id="rId2"/>
              </a:rPr>
              <a:t>대체 가능 </a:t>
            </a:r>
            <a:r>
              <a:rPr lang="en-US" altLang="ko-KR" sz="1000" dirty="0">
                <a:hlinkClick r:id="rId2"/>
              </a:rPr>
              <a:t>- </a:t>
            </a:r>
            <a:r>
              <a:rPr lang="ko-KR" altLang="en-US" sz="1000" dirty="0">
                <a:hlinkClick r:id="rId2"/>
              </a:rPr>
              <a:t>뉴스</a:t>
            </a:r>
            <a:r>
              <a:rPr lang="en-US" altLang="ko-KR" sz="1000" dirty="0">
                <a:hlinkClick r:id="rId2"/>
              </a:rPr>
              <a:t>1 (news1.kr)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4715584" cy="307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판 〮 검사도 밥그릇 뺏긴다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…2030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년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AI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가 일자리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90%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대체 가능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KDI “2030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90%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일자리서 업무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90%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 자동화 가능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“AI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 부정적 영향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중고령보다 청년 〮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대에 집중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자동화 가능성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저임금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단순노동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상대적으로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높았지만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고숙련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전문직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역시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향후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수행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가능한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업무 비중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늘어나는 것으로 나타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24F74-8CC6-C0A4-11E2-96DB2E999987}"/>
              </a:ext>
            </a:extLst>
          </p:cNvPr>
          <p:cNvSpPr txBox="1"/>
          <p:nvPr/>
        </p:nvSpPr>
        <p:spPr>
          <a:xfrm>
            <a:off x="4932040" y="1351801"/>
            <a:ext cx="3986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직업 세분류별 자동화 가능 직무 비중</a:t>
            </a:r>
            <a:r>
              <a:rPr lang="en-US" altLang="ko-KR" sz="1200" b="1" dirty="0"/>
              <a:t>(2023</a:t>
            </a:r>
            <a:r>
              <a:rPr lang="ko-KR" altLang="en-US" sz="1200" b="1" dirty="0"/>
              <a:t>년 기술 수준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5CF1A-20A9-6552-CDDC-BF375A696FFB}"/>
              </a:ext>
            </a:extLst>
          </p:cNvPr>
          <p:cNvSpPr txBox="1"/>
          <p:nvPr/>
        </p:nvSpPr>
        <p:spPr>
          <a:xfrm>
            <a:off x="467544" y="6021288"/>
            <a:ext cx="5340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한요셉</a:t>
            </a:r>
            <a:r>
              <a:rPr lang="en-US" altLang="ko-KR" sz="1000" dirty="0"/>
              <a:t>, </a:t>
            </a:r>
            <a:r>
              <a:rPr lang="ko-KR" altLang="en-US" sz="1000" dirty="0"/>
              <a:t>인공지능으로 인한 노동시장의 변화와 정책방향</a:t>
            </a:r>
            <a:r>
              <a:rPr lang="en-US" altLang="ko-KR" sz="1000" dirty="0"/>
              <a:t>, KDI, </a:t>
            </a:r>
            <a:r>
              <a:rPr lang="ko-KR" altLang="en-US" sz="1000" dirty="0"/>
              <a:t>연구보고서 </a:t>
            </a:r>
            <a:r>
              <a:rPr lang="en-US" altLang="ko-KR" sz="1000" dirty="0"/>
              <a:t>2023-03</a:t>
            </a:r>
            <a:endParaRPr lang="ko-KR" altLang="en-US" sz="1000" dirty="0"/>
          </a:p>
        </p:txBody>
      </p:sp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5C08E37E-04F2-6C24-DFE0-F295FE460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35" y="4405733"/>
            <a:ext cx="2013229" cy="1111499"/>
          </a:xfrm>
          <a:prstGeom prst="rect">
            <a:avLst/>
          </a:prstGeom>
        </p:spPr>
      </p:pic>
      <p:pic>
        <p:nvPicPr>
          <p:cNvPr id="11" name="그림 10">
            <a:hlinkClick r:id="rId5"/>
            <a:extLst>
              <a:ext uri="{FF2B5EF4-FFF2-40B4-BE49-F238E27FC236}">
                <a16:creationId xmlns:a16="http://schemas.microsoft.com/office/drawing/2014/main" id="{3EA37AEC-3C7A-D5B0-1E1F-BE021BF3BF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9219" y="4405733"/>
            <a:ext cx="2382821" cy="11115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A1E9E74-A744-2E69-BE45-DB6119DEF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5839" y="1651757"/>
            <a:ext cx="3842505" cy="416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38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E09C-F177-FF30-B4E1-00DA61D4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17A19C-BD71-2903-86D8-8CB2CCABC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19</a:t>
            </a:fld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311B6B12-D388-94B6-E8FE-4BF36EDC49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3B3F2-007B-A03D-07F6-A7D89EE9D7D6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4BC67-0C98-8D01-1FA7-4A63028AD9E9}"/>
              </a:ext>
            </a:extLst>
          </p:cNvPr>
          <p:cNvSpPr txBox="1"/>
          <p:nvPr/>
        </p:nvSpPr>
        <p:spPr>
          <a:xfrm>
            <a:off x="467544" y="5805264"/>
            <a:ext cx="5340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2"/>
              </a:rPr>
              <a:t>"</a:t>
            </a:r>
            <a:r>
              <a:rPr lang="ko-KR" altLang="en-US" sz="1000" dirty="0">
                <a:hlinkClick r:id="rId2"/>
              </a:rPr>
              <a:t>판</a:t>
            </a:r>
            <a:r>
              <a:rPr lang="en-US" altLang="ko-KR" sz="1000" dirty="0">
                <a:hlinkClick r:id="rId2"/>
              </a:rPr>
              <a:t>·</a:t>
            </a:r>
            <a:r>
              <a:rPr lang="ko-KR" altLang="en-US" sz="1000" dirty="0">
                <a:hlinkClick r:id="rId2"/>
              </a:rPr>
              <a:t>검사도 밥그릇 뺏긴다</a:t>
            </a:r>
            <a:r>
              <a:rPr lang="en-US" altLang="ko-KR" sz="1000" dirty="0">
                <a:hlinkClick r:id="rId2"/>
              </a:rPr>
              <a:t>"…2030</a:t>
            </a:r>
            <a:r>
              <a:rPr lang="ko-KR" altLang="en-US" sz="1000" dirty="0">
                <a:hlinkClick r:id="rId2"/>
              </a:rPr>
              <a:t>년 </a:t>
            </a:r>
            <a:r>
              <a:rPr lang="en-US" altLang="ko-KR" sz="1000" dirty="0">
                <a:hlinkClick r:id="rId2"/>
              </a:rPr>
              <a:t>AI</a:t>
            </a:r>
            <a:r>
              <a:rPr lang="ko-KR" altLang="en-US" sz="1000" dirty="0">
                <a:hlinkClick r:id="rId2"/>
              </a:rPr>
              <a:t>가 일자리 </a:t>
            </a:r>
            <a:r>
              <a:rPr lang="en-US" altLang="ko-KR" sz="1000" dirty="0">
                <a:hlinkClick r:id="rId2"/>
              </a:rPr>
              <a:t>90% </a:t>
            </a:r>
            <a:r>
              <a:rPr lang="ko-KR" altLang="en-US" sz="1000" dirty="0">
                <a:hlinkClick r:id="rId2"/>
              </a:rPr>
              <a:t>대체 가능 </a:t>
            </a:r>
            <a:r>
              <a:rPr lang="en-US" altLang="ko-KR" sz="1000" dirty="0">
                <a:hlinkClick r:id="rId2"/>
              </a:rPr>
              <a:t>- </a:t>
            </a:r>
            <a:r>
              <a:rPr lang="ko-KR" altLang="en-US" sz="1000" dirty="0">
                <a:hlinkClick r:id="rId2"/>
              </a:rPr>
              <a:t>뉴스</a:t>
            </a:r>
            <a:r>
              <a:rPr lang="en-US" altLang="ko-KR" sz="1000" dirty="0">
                <a:hlinkClick r:id="rId2"/>
              </a:rPr>
              <a:t>1 (news1.kr)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14EE9-D9B1-F409-D6C2-D7F1C6FEB6E6}"/>
              </a:ext>
            </a:extLst>
          </p:cNvPr>
          <p:cNvSpPr txBox="1"/>
          <p:nvPr/>
        </p:nvSpPr>
        <p:spPr>
          <a:xfrm>
            <a:off x="107504" y="1264154"/>
            <a:ext cx="5040560" cy="4583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2023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년 기술 수준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자동화 업무 비율이 높은 직업 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양식원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패스트푸드 </a:t>
            </a:r>
            <a:r>
              <a:rPr lang="ko-KR" altLang="en-US" sz="12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준비원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재봉사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의복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가죽 〮 모피 </a:t>
            </a:r>
            <a:r>
              <a:rPr lang="ko-KR" altLang="en-US" sz="125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수선원</a:t>
            </a:r>
            <a:r>
              <a:rPr lang="en-US" altLang="ko-KR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주차관리 〮 안내원 등</a:t>
            </a:r>
            <a:endParaRPr lang="en-US" altLang="ko-KR" sz="12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자동화 업무 비율이 낮은 직업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대학교수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사회과학 연구원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의회의원 〮 고위공무원 〮 공공단체임원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변호사 등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2030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년 기술 수준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100%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완전 자동화 직업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주방장 및 요리연구가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청소원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의복 〮 가죽 〮 모피 </a:t>
            </a:r>
            <a:r>
              <a:rPr lang="ko-KR" altLang="en-US" sz="13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수선원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50%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이상 자동화 업무 직업 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의회의원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〮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고위공무원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〮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공공단체임원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(64%),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대학교수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(64%),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판사 및 검사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(69%),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사회과학 연구</a:t>
            </a:r>
            <a:r>
              <a:rPr lang="en-US" altLang="ko-KR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(70%) </a:t>
            </a:r>
            <a:r>
              <a:rPr lang="ko-KR" altLang="en-US" sz="13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CF3ED6-A4DF-0AB2-FED2-465810B1F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410" y="1606756"/>
            <a:ext cx="3831934" cy="4076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A6794B-B9A7-4A07-0DAE-485BB551B27F}"/>
              </a:ext>
            </a:extLst>
          </p:cNvPr>
          <p:cNvSpPr txBox="1"/>
          <p:nvPr/>
        </p:nvSpPr>
        <p:spPr>
          <a:xfrm>
            <a:off x="4932040" y="1351801"/>
            <a:ext cx="3986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직업 세분류별 자동화 가능 직무 비중</a:t>
            </a:r>
            <a:r>
              <a:rPr lang="en-US" altLang="ko-KR" sz="1200" b="1" dirty="0"/>
              <a:t>(2030</a:t>
            </a:r>
            <a:r>
              <a:rPr lang="ko-KR" altLang="en-US" sz="1200" b="1" dirty="0"/>
              <a:t>년 기술 수준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9B155-74C5-C7D6-CFC6-2D6FF7555F70}"/>
              </a:ext>
            </a:extLst>
          </p:cNvPr>
          <p:cNvSpPr txBox="1"/>
          <p:nvPr/>
        </p:nvSpPr>
        <p:spPr>
          <a:xfrm>
            <a:off x="467544" y="6093296"/>
            <a:ext cx="5340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한요셉</a:t>
            </a:r>
            <a:r>
              <a:rPr lang="en-US" altLang="ko-KR" sz="1000" dirty="0"/>
              <a:t>, </a:t>
            </a:r>
            <a:r>
              <a:rPr lang="ko-KR" altLang="en-US" sz="1000" dirty="0"/>
              <a:t>인공지능으로 인한 노동시장의 변화와 정책방향</a:t>
            </a:r>
            <a:r>
              <a:rPr lang="en-US" altLang="ko-KR" sz="1000" dirty="0"/>
              <a:t>, KDI, </a:t>
            </a:r>
            <a:r>
              <a:rPr lang="ko-KR" altLang="en-US" sz="1000" dirty="0"/>
              <a:t>연구보고서 </a:t>
            </a:r>
            <a:r>
              <a:rPr lang="en-US" altLang="ko-KR" sz="1000" dirty="0"/>
              <a:t>2023-03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2552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20</a:t>
            </a:fld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614F9-63B4-9F49-18A6-6A22722B0B7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DB0D2-3EC4-FD8F-AD2D-A18826B65D86}"/>
              </a:ext>
            </a:extLst>
          </p:cNvPr>
          <p:cNvSpPr txBox="1"/>
          <p:nvPr/>
        </p:nvSpPr>
        <p:spPr>
          <a:xfrm>
            <a:off x="539552" y="6063099"/>
            <a:ext cx="6912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2"/>
              </a:rPr>
              <a:t>[AI</a:t>
            </a:r>
            <a:r>
              <a:rPr lang="ko-KR" altLang="en-US" sz="1000" dirty="0">
                <a:hlinkClick r:id="rId2"/>
              </a:rPr>
              <a:t>와 고용시장①</a:t>
            </a:r>
            <a:r>
              <a:rPr lang="en-US" altLang="ko-KR" sz="1000" dirty="0">
                <a:hlinkClick r:id="rId2"/>
              </a:rPr>
              <a:t>] IMF, AI</a:t>
            </a:r>
            <a:r>
              <a:rPr lang="ko-KR" altLang="en-US" sz="1000" dirty="0">
                <a:hlinkClick r:id="rId2"/>
              </a:rPr>
              <a:t>가 미래 일자리 </a:t>
            </a:r>
            <a:r>
              <a:rPr lang="en-US" altLang="ko-KR" sz="1000" dirty="0">
                <a:hlinkClick r:id="rId2"/>
              </a:rPr>
              <a:t>60% </a:t>
            </a:r>
            <a:r>
              <a:rPr lang="ko-KR" altLang="en-US" sz="1000" dirty="0">
                <a:hlinkClick r:id="rId2"/>
              </a:rPr>
              <a:t>대체  </a:t>
            </a:r>
            <a:r>
              <a:rPr lang="en-US" altLang="ko-KR" sz="1000" dirty="0">
                <a:hlinkClick r:id="rId2"/>
              </a:rPr>
              <a:t>&lt; </a:t>
            </a:r>
            <a:r>
              <a:rPr lang="ko-KR" altLang="en-US" sz="1000" dirty="0">
                <a:hlinkClick r:id="rId2"/>
              </a:rPr>
              <a:t>지역뉴스 </a:t>
            </a:r>
            <a:r>
              <a:rPr lang="en-US" altLang="ko-KR" sz="1000" dirty="0">
                <a:hlinkClick r:id="rId2"/>
              </a:rPr>
              <a:t>&lt; Local &lt; </a:t>
            </a:r>
            <a:r>
              <a:rPr lang="ko-KR" altLang="en-US" sz="1000" dirty="0">
                <a:hlinkClick r:id="rId2"/>
              </a:rPr>
              <a:t>기사본문 </a:t>
            </a:r>
            <a:r>
              <a:rPr lang="en-US" altLang="ko-KR" sz="1000" dirty="0">
                <a:hlinkClick r:id="rId2"/>
              </a:rPr>
              <a:t>- AI</a:t>
            </a:r>
            <a:r>
              <a:rPr lang="ko-KR" altLang="en-US" sz="1000" dirty="0">
                <a:hlinkClick r:id="rId2"/>
              </a:rPr>
              <a:t>타임스 </a:t>
            </a:r>
            <a:r>
              <a:rPr lang="en-US" altLang="ko-KR" sz="1000" dirty="0">
                <a:hlinkClick r:id="rId2"/>
              </a:rPr>
              <a:t>(aitimes.com)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604016" cy="459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15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IMF,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AI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가 미래 일자리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60%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대체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발전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고용시장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미치고 있으며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 직업군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상당한 실업 문제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야기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할 것이라는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우려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와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반면에 새로운 직종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창출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 산업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변혁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시킬 것이라는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기대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도 함께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존재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AI,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미래 일자리 대체 가능성 경고 </a:t>
            </a:r>
            <a:r>
              <a:rPr lang="en-US" altLang="ko-KR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국제통화기금</a:t>
            </a:r>
            <a:r>
              <a:rPr lang="en-US" altLang="ko-KR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(IMF, International Monetary Fund)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따르면</a:t>
            </a:r>
            <a:r>
              <a:rPr lang="en-US" altLang="ko-KR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선진국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직업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영향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미칠 것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전망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되어</a:t>
            </a:r>
            <a:r>
              <a:rPr lang="en-US" altLang="ko-KR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이에 대한 주의가 필요</a:t>
            </a:r>
            <a:r>
              <a:rPr lang="ko-KR" altLang="en-US" sz="135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하다고 </a:t>
            </a:r>
            <a:r>
              <a:rPr lang="ko-KR" altLang="en-US" sz="135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발표</a:t>
            </a:r>
            <a:endParaRPr lang="en-US" altLang="ko-KR" sz="135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선진국과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개도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국에 따라 차이 날 것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IMF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선진국에서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영향이 더 크게 다가올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것이지만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후발국 역시 결국 영향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받을 것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이를 위한 대응 및 기회 창출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필요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하다는 것이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중요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하다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 밝힘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인공지능의 사회적인 영향과 정치적 변화에 대한 고찰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IMF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보고서는 인공지능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장기적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생산성 향상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 있을지도 모르지만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전환기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에는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직업 분리와 소득분배 변화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정치경제에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상당한 영향을 미칠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 있다고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전망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IMF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의 발전은 많은 직업이 자동화되고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따라서 수입도 줄어들 수 있다는 것을 의미한다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며 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이는 시민들의 소득 감소로 이어지고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이에 따라 종종 시위가 일어날 수 있으므로 사회적 결속력을 유지하기 위해 정부는 대책 마련에 주의해야 한다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경고</a:t>
            </a:r>
            <a:endParaRPr lang="en-US" altLang="ko-KR" sz="13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2471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21</a:t>
            </a:fld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614F9-63B4-9F49-18A6-6A22722B0B7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DB0D2-3EC4-FD8F-AD2D-A18826B65D86}"/>
              </a:ext>
            </a:extLst>
          </p:cNvPr>
          <p:cNvSpPr txBox="1"/>
          <p:nvPr/>
        </p:nvSpPr>
        <p:spPr>
          <a:xfrm>
            <a:off x="977292" y="5924214"/>
            <a:ext cx="5340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ko-KR" altLang="en-US" sz="1000" dirty="0">
                <a:hlinkClick r:id="rId2"/>
              </a:rPr>
              <a:t>서울신문 </a:t>
            </a:r>
            <a:r>
              <a:rPr lang="en-US" altLang="ko-KR" sz="1000" dirty="0">
                <a:hlinkClick r:id="rId2"/>
              </a:rPr>
              <a:t>(seoul.co.kr)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223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AI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시대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과거형 인재 고집 하다 가는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2030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년엔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백수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‘ 576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만 명 늘어나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국내 초 저출산 세대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(2002~2006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년생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 본격 취업할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 우리나라 취업시장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어떤 모습일까</a:t>
            </a:r>
            <a:endParaRPr lang="en-US" altLang="ko-KR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미래학자인 서용석 카이스트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교수가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인구구조와 산업발전 변화 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등을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변수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두고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2030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년 고용률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(15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~64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세 미만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예측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해 보니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가장 긍정적으로 평가했을 때는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75.3%(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총종사자수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2,356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만명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까지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높아지지만 그 반대의 경우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54.2%(1780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만명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까지 낮아져 </a:t>
            </a:r>
            <a:r>
              <a:rPr lang="en-US" altLang="ko-KR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21.1% </a:t>
            </a:r>
            <a:r>
              <a:rPr lang="ko-KR" altLang="en-US" sz="14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포인트 차이가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1AF9B6-9366-5E14-A8C6-74049FDD5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92" y="3655740"/>
            <a:ext cx="7189415" cy="223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495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22</a:t>
            </a:fld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614F9-63B4-9F49-18A6-6A22722B0B7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DB0D2-3EC4-FD8F-AD2D-A18826B65D86}"/>
              </a:ext>
            </a:extLst>
          </p:cNvPr>
          <p:cNvSpPr txBox="1"/>
          <p:nvPr/>
        </p:nvSpPr>
        <p:spPr>
          <a:xfrm>
            <a:off x="683568" y="5779841"/>
            <a:ext cx="82517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ko-KR" altLang="en-US" sz="1000" dirty="0">
                <a:hlinkClick r:id="rId2"/>
              </a:rPr>
              <a:t>내 일자리는 어떻게 변화하는가</a:t>
            </a:r>
            <a:r>
              <a:rPr lang="en-US" altLang="ko-KR" sz="1000" dirty="0">
                <a:hlinkClick r:id="rId2"/>
              </a:rPr>
              <a:t>··· AI </a:t>
            </a:r>
            <a:r>
              <a:rPr lang="ko-KR" altLang="en-US" sz="1000" dirty="0">
                <a:hlinkClick r:id="rId2"/>
              </a:rPr>
              <a:t>시대 ‘일자리’ 전망 </a:t>
            </a:r>
            <a:r>
              <a:rPr lang="en-US" altLang="ko-KR" sz="1000" dirty="0">
                <a:hlinkClick r:id="rId2"/>
              </a:rPr>
              <a:t>- CIO Korea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A91BB3F1-1F02-52B5-270D-B3D8C7269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95" y="2204864"/>
            <a:ext cx="7436810" cy="308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42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ChatGPT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같은 생성형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AI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로봇 기술이 빠르게 발전하고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많은 기업에서 이 기술을 도입 함으로서 사람이 하는 다양한 수작업을 자동화하면서 전 세계 채용 시장의 큰 변화 예상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골드만 삭스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(Goldman Sachs)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미국과 유럽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개의 일자리가 </a:t>
            </a:r>
            <a:r>
              <a:rPr lang="en-US" altLang="ko-KR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위협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받을 수 있다고 밝힘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골드만 삭스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따르면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미국 일자리의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분의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통해 부분적으로 자동화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될 수 있고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미국과 유럽에서는 업무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중 최대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개가 완전히 자동화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될 수 있음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특히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반복적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입력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법무 행정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수학적 기술이 필요한 직업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심지어 의료직까지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따른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영향을 받게 될 전망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0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아울러 골드만 삭스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컴퓨터 관련 업무의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의료부문 기술 업무의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28%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자동화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될 수 있다고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자동화에 가장 크게 노출되는 직업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행정직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(46%)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법률직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(44%),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반면 건설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(6%),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유지보수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(4%)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처럼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육체적 노동이 수반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되는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직업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영향을 받을 가능성이 대체로 낮게 나타남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581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23</a:t>
            </a:fld>
            <a:endParaRPr lang="en-US" altLang="ko-KR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614F9-63B4-9F49-18A6-6A22722B0B7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CDF4977-FF88-BFAD-063A-8ACEA432A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63" y="1858154"/>
            <a:ext cx="5257674" cy="394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EDB0D2-3EC4-FD8F-AD2D-A18826B65D86}"/>
              </a:ext>
            </a:extLst>
          </p:cNvPr>
          <p:cNvSpPr txBox="1"/>
          <p:nvPr/>
        </p:nvSpPr>
        <p:spPr>
          <a:xfrm>
            <a:off x="683568" y="6135107"/>
            <a:ext cx="5340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자료 </a:t>
            </a:r>
            <a:r>
              <a:rPr lang="en-US" altLang="ko-KR" sz="1000" dirty="0"/>
              <a:t>: </a:t>
            </a:r>
            <a:r>
              <a:rPr lang="ko-KR" altLang="en-US" sz="1000" dirty="0">
                <a:hlinkClick r:id="rId3"/>
              </a:rPr>
              <a:t>내 일자리는 어떻게 변화하는가</a:t>
            </a:r>
            <a:r>
              <a:rPr lang="en-US" altLang="ko-KR" sz="1000" dirty="0">
                <a:hlinkClick r:id="rId3"/>
              </a:rPr>
              <a:t>··· AI </a:t>
            </a:r>
            <a:r>
              <a:rPr lang="ko-KR" altLang="en-US" sz="1000" dirty="0">
                <a:hlinkClick r:id="rId3"/>
              </a:rPr>
              <a:t>시대 ‘일자리’ 전망 </a:t>
            </a:r>
            <a:r>
              <a:rPr lang="en-US" altLang="ko-KR" sz="1000" dirty="0">
                <a:hlinkClick r:id="rId3"/>
              </a:rPr>
              <a:t>- CIO Korea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492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5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AI 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자동화의 결과로 </a:t>
            </a:r>
            <a:r>
              <a:rPr lang="en-US" altLang="ko-KR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IT</a:t>
            </a: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포함한 여러 직업이 타격을 입을 것으로 전망됨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442913" lvl="1" indent="-174625">
              <a:lnSpc>
                <a:spcPct val="2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영향의 정도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직업마다 다른데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예를 들어 변호사보다는 법률 사무원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일자리가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위험에 처할 가능성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높음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글로벌 채용 업체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맨파워그룹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(ManpowerGroup)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북미 마케팅 책임자 레베카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크라우처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이에 동의 하면서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“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 기반의 직업에 미치는 영향이 주로 관찰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되고 있다며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수학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법률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의사의 일상적인 환자 진단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등이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영향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받고 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라고 말함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크라우처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따르면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처리 업무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은행에서의 데이터 입력 작업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 사라지게 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13" lvl="1" indent="-174625">
              <a:lnSpc>
                <a:spcPct val="2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크라우처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 이상 사람이 앉아서 송장이나 미수금을 입력할 필요가 없다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이런 데이터 입력은 이제 자동화되고 있다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라고 전함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4949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BA67E-CADC-4EFB-9773-30352D354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505200" y="6461126"/>
            <a:ext cx="2042073" cy="283102"/>
          </a:xfrm>
        </p:spPr>
        <p:txBody>
          <a:bodyPr/>
          <a:lstStyle/>
          <a:p>
            <a:fld id="{D791FC7A-B416-40B1-A074-2FBC9EA557C4}" type="slidenum">
              <a:rPr lang="en-US" altLang="ko-KR" smtClean="0"/>
              <a:pPr/>
              <a:t>24</a:t>
            </a:fld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E3FA7-2707-5430-D76E-4D56768870D8}"/>
              </a:ext>
            </a:extLst>
          </p:cNvPr>
          <p:cNvSpPr txBox="1"/>
          <p:nvPr/>
        </p:nvSpPr>
        <p:spPr>
          <a:xfrm>
            <a:off x="216456" y="1264154"/>
            <a:ext cx="8718828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FF99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인공지능 〮 로봇 일자리 위협 사례</a:t>
            </a:r>
            <a:endParaRPr lang="en-US" altLang="ko-KR" sz="1600" b="1" dirty="0">
              <a:solidFill>
                <a:srgbClr val="FF99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C66E8-B0CC-F9DE-C320-C0792EC6DD38}"/>
              </a:ext>
            </a:extLst>
          </p:cNvPr>
          <p:cNvSpPr txBox="1"/>
          <p:nvPr/>
        </p:nvSpPr>
        <p:spPr>
          <a:xfrm>
            <a:off x="0" y="980728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일자리 변화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5C3E54C-975E-2F52-9242-C78A98D047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03648" y="221368"/>
            <a:ext cx="7740352" cy="6873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제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11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장 인공지능</a:t>
            </a:r>
            <a:r>
              <a:rPr lang="en-US" altLang="ko-KR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〮</a:t>
            </a:r>
            <a:r>
              <a:rPr lang="ko-KR" altLang="en-US" sz="2800" b="1" dirty="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로봇과 일자리 변화</a:t>
            </a:r>
          </a:p>
        </p:txBody>
      </p:sp>
      <p:pic>
        <p:nvPicPr>
          <p:cNvPr id="7" name="그림 6">
            <a:hlinkClick r:id="rId2"/>
            <a:extLst>
              <a:ext uri="{FF2B5EF4-FFF2-40B4-BE49-F238E27FC236}">
                <a16:creationId xmlns:a16="http://schemas.microsoft.com/office/drawing/2014/main" id="{C245FC24-E00B-EB4A-D600-A29605EBA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741" y="2232511"/>
            <a:ext cx="2158978" cy="1196489"/>
          </a:xfrm>
          <a:prstGeom prst="rect">
            <a:avLst/>
          </a:prstGeom>
        </p:spPr>
      </p:pic>
      <p:pic>
        <p:nvPicPr>
          <p:cNvPr id="9" name="그림 8">
            <a:hlinkClick r:id="rId4"/>
            <a:extLst>
              <a:ext uri="{FF2B5EF4-FFF2-40B4-BE49-F238E27FC236}">
                <a16:creationId xmlns:a16="http://schemas.microsoft.com/office/drawing/2014/main" id="{FF6DCD39-C96A-5C50-3D66-47F28C2A1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493" y="2218837"/>
            <a:ext cx="2188376" cy="1196490"/>
          </a:xfrm>
          <a:prstGeom prst="rect">
            <a:avLst/>
          </a:prstGeom>
        </p:spPr>
      </p:pic>
      <p:pic>
        <p:nvPicPr>
          <p:cNvPr id="11" name="그림 10">
            <a:hlinkClick r:id="rId6"/>
            <a:extLst>
              <a:ext uri="{FF2B5EF4-FFF2-40B4-BE49-F238E27FC236}">
                <a16:creationId xmlns:a16="http://schemas.microsoft.com/office/drawing/2014/main" id="{F94983B0-EC10-5121-ED96-C589E5530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887" y="2240714"/>
            <a:ext cx="2161686" cy="1196489"/>
          </a:xfrm>
          <a:prstGeom prst="rect">
            <a:avLst/>
          </a:prstGeom>
        </p:spPr>
      </p:pic>
      <p:pic>
        <p:nvPicPr>
          <p:cNvPr id="13" name="그림 12">
            <a:hlinkClick r:id="rId8"/>
            <a:extLst>
              <a:ext uri="{FF2B5EF4-FFF2-40B4-BE49-F238E27FC236}">
                <a16:creationId xmlns:a16="http://schemas.microsoft.com/office/drawing/2014/main" id="{FB11D59B-95F1-0FA7-8DF7-304D67691B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7991" y="2232511"/>
            <a:ext cx="2158976" cy="1202412"/>
          </a:xfrm>
          <a:prstGeom prst="rect">
            <a:avLst/>
          </a:prstGeom>
        </p:spPr>
      </p:pic>
      <p:pic>
        <p:nvPicPr>
          <p:cNvPr id="2" name="그림 1">
            <a:hlinkClick r:id="rId10"/>
            <a:extLst>
              <a:ext uri="{FF2B5EF4-FFF2-40B4-BE49-F238E27FC236}">
                <a16:creationId xmlns:a16="http://schemas.microsoft.com/office/drawing/2014/main" id="{82509327-ADED-1901-E35D-FD151287BC8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92" y="3505749"/>
            <a:ext cx="2145109" cy="1194140"/>
          </a:xfrm>
          <a:prstGeom prst="rect">
            <a:avLst/>
          </a:prstGeom>
        </p:spPr>
      </p:pic>
      <p:pic>
        <p:nvPicPr>
          <p:cNvPr id="8" name="그림 7">
            <a:hlinkClick r:id="rId12"/>
            <a:extLst>
              <a:ext uri="{FF2B5EF4-FFF2-40B4-BE49-F238E27FC236}">
                <a16:creationId xmlns:a16="http://schemas.microsoft.com/office/drawing/2014/main" id="{18A1CBCB-E659-2D7F-8160-F03D10275D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67991" y="3505749"/>
            <a:ext cx="2158976" cy="1187657"/>
          </a:xfrm>
          <a:prstGeom prst="rect">
            <a:avLst/>
          </a:prstGeom>
        </p:spPr>
      </p:pic>
      <p:pic>
        <p:nvPicPr>
          <p:cNvPr id="10" name="그림 9">
            <a:hlinkClick r:id="rId14"/>
            <a:extLst>
              <a:ext uri="{FF2B5EF4-FFF2-40B4-BE49-F238E27FC236}">
                <a16:creationId xmlns:a16="http://schemas.microsoft.com/office/drawing/2014/main" id="{AFBAFDDB-D6CE-0D69-2693-2615A88B50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7492" y="3494591"/>
            <a:ext cx="2173115" cy="1203845"/>
          </a:xfrm>
          <a:prstGeom prst="rect">
            <a:avLst/>
          </a:prstGeom>
        </p:spPr>
      </p:pic>
      <p:pic>
        <p:nvPicPr>
          <p:cNvPr id="12" name="그림 11">
            <a:hlinkClick r:id="rId16"/>
            <a:extLst>
              <a:ext uri="{FF2B5EF4-FFF2-40B4-BE49-F238E27FC236}">
                <a16:creationId xmlns:a16="http://schemas.microsoft.com/office/drawing/2014/main" id="{7CD8F90E-41BB-597A-EF77-A2AD602288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0213" y="3498107"/>
            <a:ext cx="2164034" cy="120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81951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91E044E3A9D84A8197B09587594D86" ma:contentTypeVersion="2" ma:contentTypeDescription="Create a new document." ma:contentTypeScope="" ma:versionID="a727839579f0816cd156df87ac1abb38">
  <xsd:schema xmlns:xsd="http://www.w3.org/2001/XMLSchema" xmlns:xs="http://www.w3.org/2001/XMLSchema" xmlns:p="http://schemas.microsoft.com/office/2006/metadata/properties" xmlns:ns3="4b137422-f48a-46a4-80bc-5707d2d59248" targetNamespace="http://schemas.microsoft.com/office/2006/metadata/properties" ma:root="true" ma:fieldsID="c55dfd8d1a660179b90c490e9dacc3e0" ns3:_="">
    <xsd:import namespace="4b137422-f48a-46a4-80bc-5707d2d592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137422-f48a-46a4-80bc-5707d2d592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C085E7-686A-460A-8CF6-050C1F7B0DE4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4b137422-f48a-46a4-80bc-5707d2d5924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139A9FA-D89A-4C90-84A6-B2C1378D65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8BFF89-C863-4A54-A4FE-6FA0EF29E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137422-f48a-46a4-80bc-5707d2d592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c003TGp_education_diagram</Template>
  <TotalTime>18888</TotalTime>
  <Words>3008</Words>
  <Application>Microsoft Office PowerPoint</Application>
  <PresentationFormat>화면 슬라이드 쇼(4:3)</PresentationFormat>
  <Paragraphs>228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굴림</vt:lpstr>
      <vt:lpstr>맑은 고딕</vt:lpstr>
      <vt:lpstr>Arial</vt:lpstr>
      <vt:lpstr>Verdana</vt:lpstr>
      <vt:lpstr>Wingdings</vt:lpstr>
      <vt:lpstr>sample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GuildDesign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글로벌시장과 경제의 이해</dc:title>
  <dc:creator>O365</dc:creator>
  <cp:lastModifiedBy>Administrator</cp:lastModifiedBy>
  <cp:revision>462</cp:revision>
  <dcterms:created xsi:type="dcterms:W3CDTF">2021-01-28T12:38:40Z</dcterms:created>
  <dcterms:modified xsi:type="dcterms:W3CDTF">2025-11-16T03:12:09Z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64440492-4C8B-11D1-8B70-080036B11A03}" pid="4">
    <vt:lpwstr>ThemeGallery.com</vt:lpwstr>
  </property>
  <property fmtid="{D5CDD505-2E9C-101B-9397-08002B2CF9AE}" pid="2" name="ContentTypeId">
    <vt:lpwstr>0x0101000F91E044E3A9D84A8197B09587594D86</vt:lpwstr>
  </property>
</Properties>
</file>