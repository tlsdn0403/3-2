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Action1.xml" ContentType="application/vnd.ms-office.inkAction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436" r:id="rId2"/>
    <p:sldId id="437" r:id="rId3"/>
    <p:sldId id="438" r:id="rId4"/>
    <p:sldId id="439" r:id="rId5"/>
    <p:sldId id="440" r:id="rId6"/>
    <p:sldId id="441" r:id="rId7"/>
    <p:sldId id="442" r:id="rId8"/>
    <p:sldId id="296" r:id="rId9"/>
    <p:sldId id="306" r:id="rId10"/>
    <p:sldId id="340" r:id="rId11"/>
    <p:sldId id="341" r:id="rId12"/>
    <p:sldId id="298" r:id="rId13"/>
    <p:sldId id="299" r:id="rId14"/>
    <p:sldId id="343" r:id="rId15"/>
    <p:sldId id="300" r:id="rId16"/>
    <p:sldId id="301" r:id="rId17"/>
    <p:sldId id="344" r:id="rId18"/>
    <p:sldId id="302" r:id="rId19"/>
    <p:sldId id="303" r:id="rId20"/>
    <p:sldId id="345" r:id="rId21"/>
    <p:sldId id="305" r:id="rId22"/>
    <p:sldId id="304" r:id="rId23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CC0066"/>
    <a:srgbClr val="CC00FF"/>
    <a:srgbClr val="FFFFCC"/>
    <a:srgbClr val="306C58"/>
    <a:srgbClr val="99C7F3"/>
    <a:srgbClr val="F4F1B2"/>
    <a:srgbClr val="9134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>
      <p:cViewPr varScale="1">
        <p:scale>
          <a:sx n="144" d="100"/>
          <a:sy n="144" d="100"/>
        </p:scale>
        <p:origin x="82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EB8157-6F6B-41E8-9C71-578188D243B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9555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7680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10.18652" units="1/cm"/>
          <inkml:channelProperty channel="Y" name="resolution" value="55.10204" units="1/cm"/>
          <inkml:channelProperty channel="T" name="resolution" value="1" units="1/dev"/>
        </inkml:channelProperties>
      </inkml:inkSource>
      <inkml:timestamp xml:id="ts0" timeString="2022-10-19T13:40:23.9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44169">
    <iact:property name="dataType"/>
    <iact:actionData xml:id="d0">
      <inkml:trace xmlns:inkml="http://www.w3.org/2003/InkML" xml:id="stk0" contextRef="#ctx0" brushRef="#br0">10488 11728 0,'20'0'91,"100"-10"-65,-90 10-19,169 0 16,-79 0-22,0 0 7,110 20 13,-130-10-18,0 10 6,49-10 9,-89 0-14,-20-10 5,-20 0 8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9F7B97-B94A-4A52-9295-94F3BC67E8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040827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2F5A152-143A-477D-90F0-A6A31F79FE27}" type="slidenum">
              <a:rPr lang="en-US" altLang="ko-KR" smtClean="0"/>
              <a:pPr>
                <a:spcBef>
                  <a:spcPct val="0"/>
                </a:spcBef>
              </a:pPr>
              <a:t>1</a:t>
            </a:fld>
            <a:endParaRPr lang="en-US" altLang="ko-K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414774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352AC5F-0FAD-4942-AC68-EC713CADAEBF}" type="slidenum">
              <a:rPr lang="en-US" altLang="ko-KR" smtClean="0"/>
              <a:pPr>
                <a:spcBef>
                  <a:spcPct val="0"/>
                </a:spcBef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568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0AE16FD-2CF0-44EA-B046-FAF0D79C4BE2}" type="slidenum">
              <a:rPr lang="en-US" altLang="ko-KR" smtClean="0"/>
              <a:pPr>
                <a:spcBef>
                  <a:spcPct val="0"/>
                </a:spcBef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12154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F871458-C770-4368-A13F-4B89CC3A47CA}" type="slidenum">
              <a:rPr lang="en-US" altLang="ko-KR" smtClean="0"/>
              <a:pPr>
                <a:spcBef>
                  <a:spcPct val="0"/>
                </a:spcBef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98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6C71763-3094-446F-A541-DFA5A8BFA3D0}" type="slidenum">
              <a:rPr lang="en-US" altLang="ko-KR" smtClean="0"/>
              <a:pPr>
                <a:spcBef>
                  <a:spcPct val="0"/>
                </a:spcBef>
              </a:pPr>
              <a:t>5</a:t>
            </a:fld>
            <a:endParaRPr lang="en-US" altLang="ko-KR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097154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A64F5CF-FEB4-43C8-AF39-3333787789D3}" type="slidenum">
              <a:rPr lang="en-US" altLang="ko-KR" smtClean="0"/>
              <a:pPr>
                <a:spcBef>
                  <a:spcPct val="0"/>
                </a:spcBef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03458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6DF40F8-6896-4546-A84D-E8019B6C4FED}" type="slidenum">
              <a:rPr lang="en-US" altLang="ko-KR" smtClean="0"/>
              <a:pPr>
                <a:spcBef>
                  <a:spcPct val="0"/>
                </a:spcBef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1512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8C4796B5-E97B-59E9-1FB4-E15C4707CF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30BEE73-DB1E-4F2F-AF48-ADFE8EB77248}" type="slidenum">
              <a:rPr lang="en-US" altLang="ko-KR" smtClean="0"/>
              <a:pPr>
                <a:spcBef>
                  <a:spcPct val="0"/>
                </a:spcBef>
              </a:pPr>
              <a:t>8</a:t>
            </a:fld>
            <a:endParaRPr lang="en-US" altLang="ko-KR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50029F94-C12A-132C-AA55-6A2F0EAE90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400033C5-7D8E-252B-7C76-69A7A106A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83C9698D-6699-9559-7A24-F3817167DC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35F14E2-7DB6-48E8-88A1-C3751B00141F}" type="slidenum">
              <a:rPr lang="en-US" altLang="ko-KR" smtClean="0"/>
              <a:pPr>
                <a:spcBef>
                  <a:spcPct val="0"/>
                </a:spcBef>
              </a:pPr>
              <a:t>9</a:t>
            </a:fld>
            <a:endParaRPr lang="en-US" altLang="ko-KR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9504A9C-BF5B-895C-B918-2EB0632E75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364B397-BCCE-17E0-7308-0C659DC9A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59371A5A-5EF8-1470-08CF-090B104E11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DCC57BC4-EF12-F857-4C1C-1AC1BA059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D5896ACC-432F-971F-3067-B8AB31F08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4304E88-FB1A-40D9-B40B-9C76FDD83212}" type="slidenum">
              <a:rPr lang="en-US" altLang="ko-KR"/>
              <a:pPr>
                <a:spcBef>
                  <a:spcPct val="0"/>
                </a:spcBef>
              </a:pPr>
              <a:t>10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43A57641-FE27-0903-B446-A55357BC7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A6184F23-EC1F-EC91-C281-C968470F7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34F864EC-2EF4-B038-BAB2-03AEE0AB5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7BDAFA9-2BAC-450D-B809-594523693F31}" type="slidenum">
              <a:rPr lang="en-US" altLang="ko-KR"/>
              <a:pPr>
                <a:spcBef>
                  <a:spcPct val="0"/>
                </a:spcBef>
              </a:pPr>
              <a:t>11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CAD525FC-A7E1-488D-8645-914C507A4B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86BDFE1-008E-4E54-AD5C-FD95081EF2E4}" type="slidenum">
              <a:rPr lang="en-US" altLang="ko-KR"/>
              <a:pPr>
                <a:spcBef>
                  <a:spcPct val="0"/>
                </a:spcBef>
              </a:pPr>
              <a:t>12</a:t>
            </a:fld>
            <a:endParaRPr lang="en-US" altLang="ko-KR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4A8D950-2F7F-2975-781E-6E9B298DD6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C1836A9-3CED-337E-C48C-22EFA3A2C1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75F1F9A6-0D48-9E9A-2BF8-A545E13967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F69ED3-1480-4E6F-A1F6-F889E38AB786}" type="slidenum">
              <a:rPr lang="en-US" altLang="ko-KR"/>
              <a:pPr>
                <a:spcBef>
                  <a:spcPct val="0"/>
                </a:spcBef>
              </a:pPr>
              <a:t>13</a:t>
            </a:fld>
            <a:endParaRPr lang="en-US" altLang="ko-KR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0E68A44-0B34-BDC4-D625-912C5D417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D39294E-1E73-39C7-FC9B-37DB300BD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8DFDD763-C219-2458-4E08-CAD0B1D52E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5F655E5-86CC-4B20-870F-6145DFA74DBC}" type="slidenum">
              <a:rPr lang="en-US" altLang="ko-KR"/>
              <a:pPr>
                <a:spcBef>
                  <a:spcPct val="0"/>
                </a:spcBef>
              </a:pPr>
              <a:t>15</a:t>
            </a:fld>
            <a:endParaRPr lang="en-US" altLang="ko-KR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958B349B-80F8-EF18-7B1D-448CCE2B8B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323DE84-3AC6-8CFC-83F7-4A495DA47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C5281881-ED0B-46DF-BFCE-DE38B6899C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185B6CA-993C-43B7-94EE-D52681C8E388}" type="slidenum">
              <a:rPr lang="en-US" altLang="ko-KR"/>
              <a:pPr>
                <a:spcBef>
                  <a:spcPct val="0"/>
                </a:spcBef>
              </a:pPr>
              <a:t>16</a:t>
            </a:fld>
            <a:endParaRPr lang="en-US" altLang="ko-KR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2C4EF8A-2F65-BE75-E008-991EB30C0D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F9CA74B-8C01-53FA-D0BA-40F6AEBE7F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68E8C9F0-E59E-7456-3DE3-1B75B67A3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83F42E3-3948-4C9D-9C4C-F23210D2F738}" type="slidenum">
              <a:rPr lang="en-US" altLang="ko-KR"/>
              <a:pPr>
                <a:spcBef>
                  <a:spcPct val="0"/>
                </a:spcBef>
              </a:pPr>
              <a:t>18</a:t>
            </a:fld>
            <a:endParaRPr lang="en-US" altLang="ko-KR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F026C3B-504B-8D65-D801-E594796332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7D62F80A-E42F-6975-BDEA-8E06E4A82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ED9DA13F-6662-362D-059E-22B0020FB3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1D4657E-E486-41C4-8D94-11321653015D}" type="slidenum">
              <a:rPr lang="en-US" altLang="ko-KR"/>
              <a:pPr>
                <a:spcBef>
                  <a:spcPct val="0"/>
                </a:spcBef>
              </a:pPr>
              <a:t>19</a:t>
            </a:fld>
            <a:endParaRPr lang="en-US" altLang="ko-KR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5A24E25-FA62-E788-74BC-C70E6F3834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85DA636A-EB33-ECF3-4000-A2703DBA3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DD4929F3-729B-CDC0-AC38-E4190E381B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F0927C3-223E-42ED-9C41-117A0C3C8CEC}" type="slidenum">
              <a:rPr lang="en-US" altLang="ko-KR"/>
              <a:pPr>
                <a:spcBef>
                  <a:spcPct val="0"/>
                </a:spcBef>
              </a:pPr>
              <a:t>21</a:t>
            </a:fld>
            <a:endParaRPr lang="en-US" altLang="ko-KR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32A8CA90-A9C0-EE9A-0453-A75970E14C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ACB10B8A-6916-1D45-0807-C6E8C4F751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5539332B-3C50-9F6A-ECCC-17EFD4E7CA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C7CA008-07D8-491F-88CF-20FED9C973A8}" type="slidenum">
              <a:rPr lang="en-US" altLang="ko-KR"/>
              <a:pPr>
                <a:spcBef>
                  <a:spcPct val="0"/>
                </a:spcBef>
              </a:pPr>
              <a:t>22</a:t>
            </a:fld>
            <a:endParaRPr lang="en-US" altLang="ko-KR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B6055E3-A191-1CC3-F3D4-EC88951136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40607AA-018E-A59F-5386-AE368D12F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 l="29329" t="17232" r="9392" b="203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0" y="3073400"/>
            <a:ext cx="9144000" cy="838200"/>
            <a:chOff x="0" y="1920"/>
            <a:chExt cx="5760" cy="528"/>
          </a:xfrm>
        </p:grpSpPr>
        <p:sp>
          <p:nvSpPr>
            <p:cNvPr id="6" name="Line 27"/>
            <p:cNvSpPr>
              <a:spLocks noChangeShapeType="1"/>
            </p:cNvSpPr>
            <p:nvPr userDrawn="1"/>
          </p:nvSpPr>
          <p:spPr bwMode="ltGray">
            <a:xfrm>
              <a:off x="0" y="1920"/>
              <a:ext cx="576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Line 28"/>
            <p:cNvSpPr>
              <a:spLocks noChangeShapeType="1"/>
            </p:cNvSpPr>
            <p:nvPr userDrawn="1"/>
          </p:nvSpPr>
          <p:spPr bwMode="ltGray">
            <a:xfrm>
              <a:off x="0" y="2448"/>
              <a:ext cx="576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8" name="Line 30"/>
          <p:cNvSpPr>
            <a:spLocks noChangeShapeType="1"/>
          </p:cNvSpPr>
          <p:nvPr/>
        </p:nvSpPr>
        <p:spPr bwMode="ltGray">
          <a:xfrm>
            <a:off x="2286000" y="3911600"/>
            <a:ext cx="0" cy="1905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9" name="Line 31"/>
          <p:cNvSpPr>
            <a:spLocks noChangeShapeType="1"/>
          </p:cNvSpPr>
          <p:nvPr/>
        </p:nvSpPr>
        <p:spPr bwMode="ltGray">
          <a:xfrm>
            <a:off x="2057400" y="5562600"/>
            <a:ext cx="50292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0" y="3022600"/>
            <a:ext cx="9144000" cy="838200"/>
            <a:chOff x="0" y="1920"/>
            <a:chExt cx="5760" cy="528"/>
          </a:xfrm>
        </p:grpSpPr>
        <p:sp>
          <p:nvSpPr>
            <p:cNvPr id="11" name="Line 33"/>
            <p:cNvSpPr>
              <a:spLocks noChangeShapeType="1"/>
            </p:cNvSpPr>
            <p:nvPr userDrawn="1"/>
          </p:nvSpPr>
          <p:spPr bwMode="ltGray">
            <a:xfrm>
              <a:off x="0" y="1920"/>
              <a:ext cx="576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2" name="Line 34"/>
            <p:cNvSpPr>
              <a:spLocks noChangeShapeType="1"/>
            </p:cNvSpPr>
            <p:nvPr userDrawn="1"/>
          </p:nvSpPr>
          <p:spPr bwMode="ltGray">
            <a:xfrm>
              <a:off x="0" y="2448"/>
              <a:ext cx="576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invGray">
          <a:xfrm>
            <a:off x="0" y="3124200"/>
            <a:ext cx="9144000" cy="685800"/>
          </a:xfrm>
          <a:solidFill>
            <a:schemeClr val="tx1"/>
          </a:solidFill>
        </p:spPr>
        <p:txBody>
          <a:bodyPr/>
          <a:lstStyle>
            <a:lvl1pPr algn="ctr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4D4D4D"/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5105400"/>
            <a:ext cx="5486400" cy="508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64B54C9-4FB0-44A1-8ECB-A2C11724FCE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B35131-CC70-4A14-95B1-EDCAAFE1C4F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82E87-200D-4F3E-B19B-4F739525FE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862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4400" y="1371600"/>
            <a:ext cx="38862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C727B-79C4-482C-9B3B-3613485992F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113BB0-95A2-43D7-9252-047BB95C67C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직사각형 8"/>
          <p:cNvSpPr/>
          <p:nvPr userDrawn="1"/>
        </p:nvSpPr>
        <p:spPr>
          <a:xfrm>
            <a:off x="6832514" y="6324600"/>
            <a:ext cx="2321668" cy="317500"/>
          </a:xfrm>
          <a:prstGeom prst="rect">
            <a:avLst/>
          </a:prstGeom>
          <a:solidFill>
            <a:srgbClr val="99C7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66348" y="6453336"/>
            <a:ext cx="2164125" cy="3116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C404E-9529-42B3-BB32-00B337A41A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C6090-BD25-40CC-A346-0FA57D619B8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30FC04-1EC0-46F0-968E-535D0F79697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CE2CB-4093-431D-A2D1-52DE729C5E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B62196-7B95-4585-BF15-A0DEE4EB0E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19812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912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D7C7E-9A4F-4EA7-9347-C3D639A5B9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14" cstate="print"/>
          <a:srcRect l="29329" t="17232" r="9392" b="203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924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13500"/>
            <a:ext cx="1905000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33800" y="6413500"/>
            <a:ext cx="1600200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fld id="{EE5B434B-B058-430D-BD86-ADC17CBB1A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685800" y="609600"/>
            <a:ext cx="7848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43" name="Line 19"/>
          <p:cNvSpPr>
            <a:spLocks noChangeShapeType="1"/>
          </p:cNvSpPr>
          <p:nvPr/>
        </p:nvSpPr>
        <p:spPr bwMode="auto">
          <a:xfrm>
            <a:off x="685800" y="1219200"/>
            <a:ext cx="8458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" grpId="0" animBg="1"/>
    </p:bld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+mj-lt"/>
          <a:ea typeface="HY동녘B" pitchFamily="18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MD솔체" pitchFamily="18" charset="-127"/>
          <a:ea typeface="HY동녘B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MD솔체" pitchFamily="18" charset="-127"/>
          <a:ea typeface="HY동녘B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MD솔체" pitchFamily="18" charset="-127"/>
          <a:ea typeface="HY동녘B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000" b="1">
          <a:solidFill>
            <a:schemeClr val="tx2"/>
          </a:solidFill>
          <a:latin typeface="MD솔체" pitchFamily="18" charset="-127"/>
          <a:ea typeface="HY동녘B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MD솔체" pitchFamily="18" charset="-127"/>
          <a:ea typeface="MD솔체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MD솔체" pitchFamily="18" charset="-127"/>
          <a:ea typeface="MD솔체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MD솔체" pitchFamily="18" charset="-127"/>
          <a:ea typeface="MD솔체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MD솔체" pitchFamily="18" charset="-127"/>
          <a:ea typeface="MD솔체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2800">
          <a:solidFill>
            <a:schemeClr val="tx1"/>
          </a:solidFill>
          <a:latin typeface="+mn-lt"/>
          <a:ea typeface="HY동녘M" pitchFamily="18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HY동녘M" pitchFamily="18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HY동녘M" pitchFamily="18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HY동녘M" pitchFamily="18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HY동녘M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9.png"/><Relationship Id="rId5" Type="http://schemas.microsoft.com/office/2011/relationships/inkAction" Target="../ink/inkAction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9" t="17232" r="9392" b="203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571625"/>
            <a:ext cx="9144000" cy="172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ko-KR" sz="2800">
                <a:solidFill>
                  <a:schemeClr val="tx2">
                    <a:lumMod val="75000"/>
                  </a:schemeClr>
                </a:solidFill>
                <a:latin typeface="HY동녘B" pitchFamily="18" charset="-127"/>
              </a:rPr>
              <a:t>Databases</a:t>
            </a:r>
            <a:br>
              <a:rPr lang="en-US" altLang="ko-KR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</a:rPr>
            </a:br>
            <a:r>
              <a:rPr lang="ko-KR" altLang="en-US" sz="4400" dirty="0"/>
              <a:t> 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</a:rPr>
              <a:t>ER </a:t>
            </a:r>
            <a:r>
              <a:rPr lang="ko-KR" altLang="en-US" sz="4400" dirty="0">
                <a:solidFill>
                  <a:schemeClr val="tx2">
                    <a:lumMod val="75000"/>
                  </a:schemeClr>
                </a:solidFill>
              </a:rPr>
              <a:t>모델을 사용한 데이터 모델링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35150" y="4797425"/>
            <a:ext cx="5767388" cy="1368425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HY동녘B" pitchFamily="18" charset="-127"/>
                <a:ea typeface="HY동녘B" pitchFamily="18" charset="-127"/>
              </a:rPr>
              <a:t>한국공학대학교</a:t>
            </a:r>
          </a:p>
          <a:p>
            <a:pPr eaLnBrk="1" hangingPunct="1">
              <a:defRPr/>
            </a:pP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HY동녘B" pitchFamily="18" charset="-127"/>
                <a:ea typeface="HY동녘B" pitchFamily="18" charset="-127"/>
              </a:rPr>
              <a:t>게임공학과</a:t>
            </a:r>
          </a:p>
          <a:p>
            <a:pPr eaLnBrk="1" hangingPunct="1">
              <a:defRPr/>
            </a:pPr>
            <a:r>
              <a:rPr lang="ko-KR" alt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HY동녘B" pitchFamily="18" charset="-127"/>
                <a:ea typeface="HY동녘B" pitchFamily="18" charset="-127"/>
              </a:rPr>
              <a:t>장 지 </a:t>
            </a:r>
            <a:r>
              <a:rPr lang="ko-KR" altLang="en-US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HY동녘B" pitchFamily="18" charset="-127"/>
                <a:ea typeface="HY동녘B" pitchFamily="18" charset="-127"/>
              </a:rPr>
              <a:t>웅</a:t>
            </a:r>
            <a:endParaRPr lang="ko-KR" altLang="en-US" dirty="0">
              <a:solidFill>
                <a:schemeClr val="tx2">
                  <a:lumMod val="60000"/>
                  <a:lumOff val="40000"/>
                </a:schemeClr>
              </a:solidFill>
              <a:latin typeface="HY동녘B" pitchFamily="18" charset="-127"/>
              <a:ea typeface="HY동녘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654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975"/>
    </mc:Choice>
    <mc:Fallback xmlns="">
      <p:transition spd="slow" advTm="13897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857250" y="1785938"/>
            <a:ext cx="5318125" cy="798512"/>
            <a:chOff x="744" y="1484"/>
            <a:chExt cx="3350" cy="503"/>
          </a:xfrm>
        </p:grpSpPr>
        <p:sp>
          <p:nvSpPr>
            <p:cNvPr id="7181" name="Text Box 4"/>
            <p:cNvSpPr txBox="1">
              <a:spLocks noChangeArrowheads="1"/>
            </p:cNvSpPr>
            <p:nvPr/>
          </p:nvSpPr>
          <p:spPr bwMode="auto">
            <a:xfrm>
              <a:off x="1338" y="1515"/>
              <a:ext cx="275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데이타베이스 설계의 개요</a:t>
              </a:r>
            </a:p>
          </p:txBody>
        </p:sp>
        <p:pic>
          <p:nvPicPr>
            <p:cNvPr id="7182" name="Picture 5" descr="Aqu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" y="1484"/>
              <a:ext cx="503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884" y="1525"/>
              <a:ext cx="21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en-US" altLang="ko-KR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HY견명조" panose="02030600000101010101" pitchFamily="18" charset="-127"/>
                  <a:ea typeface="HY견명조" panose="02030600000101010101" pitchFamily="18" charset="-127"/>
                </a:rPr>
                <a:t>I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785938" y="2857500"/>
            <a:ext cx="3484562" cy="798513"/>
            <a:chOff x="1606" y="2383"/>
            <a:chExt cx="2195" cy="503"/>
          </a:xfrm>
        </p:grpSpPr>
        <p:sp>
          <p:nvSpPr>
            <p:cNvPr id="7178" name="Text Box 13"/>
            <p:cNvSpPr txBox="1">
              <a:spLocks noChangeArrowheads="1"/>
            </p:cNvSpPr>
            <p:nvPr/>
          </p:nvSpPr>
          <p:spPr bwMode="auto">
            <a:xfrm>
              <a:off x="2154" y="2423"/>
              <a:ext cx="164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ER </a:t>
              </a:r>
              <a:r>
                <a:rPr lang="ko-KR" altLang="en-US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모델의 개념</a:t>
              </a:r>
            </a:p>
          </p:txBody>
        </p:sp>
        <p:pic>
          <p:nvPicPr>
            <p:cNvPr id="7179" name="Picture 14" descr="Aqu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6" y="2383"/>
              <a:ext cx="503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1700" y="2432"/>
              <a:ext cx="36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HY견명조" pitchFamily="18" charset="-127"/>
                  <a:ea typeface="HY견명조" pitchFamily="18" charset="-127"/>
                </a:rPr>
                <a:t>II</a:t>
              </a:r>
            </a:p>
          </p:txBody>
        </p:sp>
      </p:grp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1042988" y="260350"/>
            <a:ext cx="402907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6600" b="1">
                <a:latin typeface="Tahoma" panose="020B0604030504040204" pitchFamily="34" charset="0"/>
                <a:ea typeface="굴림" panose="020B0600000101010101" pitchFamily="50" charset="-127"/>
              </a:rPr>
              <a:t>Contents</a:t>
            </a: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786063" y="4143375"/>
            <a:ext cx="3430587" cy="798513"/>
            <a:chOff x="1791" y="3475"/>
            <a:chExt cx="2161" cy="503"/>
          </a:xfrm>
        </p:grpSpPr>
        <p:sp>
          <p:nvSpPr>
            <p:cNvPr id="7175" name="Text Box 22"/>
            <p:cNvSpPr txBox="1">
              <a:spLocks noChangeArrowheads="1"/>
            </p:cNvSpPr>
            <p:nvPr/>
          </p:nvSpPr>
          <p:spPr bwMode="auto">
            <a:xfrm>
              <a:off x="2381" y="3511"/>
              <a:ext cx="1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ER </a:t>
              </a:r>
              <a:r>
                <a:rPr lang="ko-KR" altLang="en-US">
                  <a:solidFill>
                    <a:srgbClr val="000000"/>
                  </a:solidFill>
                  <a:latin typeface="HY울릉도M" pitchFamily="18" charset="-127"/>
                  <a:ea typeface="HY울릉도M" pitchFamily="18" charset="-127"/>
                </a:rPr>
                <a:t>다이어그램</a:t>
              </a:r>
            </a:p>
          </p:txBody>
        </p:sp>
        <p:pic>
          <p:nvPicPr>
            <p:cNvPr id="7176" name="Picture 23" descr="Aqua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1" y="3475"/>
              <a:ext cx="503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1791" y="3521"/>
              <a:ext cx="49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 anchorCtr="1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ko-KR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HY견명조" pitchFamily="18" charset="-127"/>
                  <a:ea typeface="HY견명조" pitchFamily="18" charset="-127"/>
                </a:rPr>
                <a:t>III</a:t>
              </a:r>
            </a:p>
          </p:txBody>
        </p:sp>
      </p:grpSp>
      <p:sp>
        <p:nvSpPr>
          <p:cNvPr id="7174" name="WordArt 25"/>
          <p:cNvSpPr>
            <a:spLocks noChangeArrowheads="1" noChangeShapeType="1" noTextEdit="1"/>
          </p:cNvSpPr>
          <p:nvPr/>
        </p:nvSpPr>
        <p:spPr bwMode="auto">
          <a:xfrm>
            <a:off x="1152525" y="514350"/>
            <a:ext cx="3714750" cy="642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ko-KR" sz="2000" b="1" kern="10">
                <a:ln w="19050">
                  <a:solidFill>
                    <a:srgbClr val="EAEAEA">
                      <a:alpha val="50195"/>
                    </a:srgbClr>
                  </a:solidFill>
                  <a:round/>
                  <a:headEnd/>
                  <a:tailEnd/>
                </a:ln>
                <a:noFill/>
                <a:effectLst>
                  <a:outerShdw dist="35921" dir="2700000" algn="ctr" rotWithShape="0">
                    <a:schemeClr val="bg2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Contents</a:t>
            </a:r>
            <a:endParaRPr lang="ko-KR" altLang="en-US" sz="2000" b="1" kern="10">
              <a:ln w="19050">
                <a:solidFill>
                  <a:srgbClr val="EAEAEA">
                    <a:alpha val="50195"/>
                  </a:srgbClr>
                </a:solidFill>
                <a:round/>
                <a:headEnd/>
                <a:tailEnd/>
              </a:ln>
              <a:noFill/>
              <a:effectLst>
                <a:outerShdw dist="35921" dir="2700000" algn="ctr" rotWithShape="0">
                  <a:schemeClr val="bg2"/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46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982"/>
    </mc:Choice>
    <mc:Fallback xmlns="">
      <p:transition spd="slow" advTm="349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18"/>
                                        </p:tgtEl>
                                      </p:cBhvr>
                                      <p:by x="300000" y="30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데이타베이스 설계</a:t>
            </a:r>
          </a:p>
        </p:txBody>
      </p:sp>
      <p:sp>
        <p:nvSpPr>
          <p:cNvPr id="9219" name="Freeform 4"/>
          <p:cNvSpPr>
            <a:spLocks/>
          </p:cNvSpPr>
          <p:nvPr/>
        </p:nvSpPr>
        <p:spPr bwMode="gray">
          <a:xfrm>
            <a:off x="1028700" y="2779713"/>
            <a:ext cx="2019300" cy="962025"/>
          </a:xfrm>
          <a:custGeom>
            <a:avLst/>
            <a:gdLst>
              <a:gd name="T0" fmla="*/ 2147483646 w 2320"/>
              <a:gd name="T1" fmla="*/ 2147483646 h 792"/>
              <a:gd name="T2" fmla="*/ 2147483646 w 2320"/>
              <a:gd name="T3" fmla="*/ 0 h 792"/>
              <a:gd name="T4" fmla="*/ 0 w 2320"/>
              <a:gd name="T5" fmla="*/ 0 h 792"/>
              <a:gd name="T6" fmla="*/ 0 w 2320"/>
              <a:gd name="T7" fmla="*/ 2147483646 h 792"/>
              <a:gd name="T8" fmla="*/ 2147483646 w 2320"/>
              <a:gd name="T9" fmla="*/ 2147483646 h 792"/>
              <a:gd name="T10" fmla="*/ 2147483646 w 2320"/>
              <a:gd name="T11" fmla="*/ 2147483646 h 792"/>
              <a:gd name="T12" fmla="*/ 2147483646 w 2320"/>
              <a:gd name="T13" fmla="*/ 2147483646 h 7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20"/>
              <a:gd name="T22" fmla="*/ 0 h 792"/>
              <a:gd name="T23" fmla="*/ 2320 w 2320"/>
              <a:gd name="T24" fmla="*/ 792 h 7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20" h="792">
                <a:moveTo>
                  <a:pt x="88" y="696"/>
                </a:moveTo>
                <a:lnTo>
                  <a:pt x="88" y="0"/>
                </a:lnTo>
                <a:lnTo>
                  <a:pt x="0" y="0"/>
                </a:lnTo>
                <a:lnTo>
                  <a:pt x="0" y="792"/>
                </a:lnTo>
                <a:lnTo>
                  <a:pt x="2320" y="792"/>
                </a:lnTo>
                <a:lnTo>
                  <a:pt x="2320" y="696"/>
                </a:lnTo>
                <a:lnTo>
                  <a:pt x="88" y="696"/>
                </a:ln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0" name="Freeform 5"/>
          <p:cNvSpPr>
            <a:spLocks/>
          </p:cNvSpPr>
          <p:nvPr/>
        </p:nvSpPr>
        <p:spPr bwMode="gray">
          <a:xfrm rot="10800000">
            <a:off x="6096000" y="1828800"/>
            <a:ext cx="1924050" cy="962025"/>
          </a:xfrm>
          <a:custGeom>
            <a:avLst/>
            <a:gdLst>
              <a:gd name="T0" fmla="*/ 2147483646 w 2320"/>
              <a:gd name="T1" fmla="*/ 2147483646 h 792"/>
              <a:gd name="T2" fmla="*/ 2147483646 w 2320"/>
              <a:gd name="T3" fmla="*/ 0 h 792"/>
              <a:gd name="T4" fmla="*/ 0 w 2320"/>
              <a:gd name="T5" fmla="*/ 0 h 792"/>
              <a:gd name="T6" fmla="*/ 0 w 2320"/>
              <a:gd name="T7" fmla="*/ 2147483646 h 792"/>
              <a:gd name="T8" fmla="*/ 2147483646 w 2320"/>
              <a:gd name="T9" fmla="*/ 2147483646 h 792"/>
              <a:gd name="T10" fmla="*/ 2147483646 w 2320"/>
              <a:gd name="T11" fmla="*/ 2147483646 h 792"/>
              <a:gd name="T12" fmla="*/ 2147483646 w 2320"/>
              <a:gd name="T13" fmla="*/ 2147483646 h 7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20"/>
              <a:gd name="T22" fmla="*/ 0 h 792"/>
              <a:gd name="T23" fmla="*/ 2320 w 2320"/>
              <a:gd name="T24" fmla="*/ 792 h 7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20" h="792">
                <a:moveTo>
                  <a:pt x="88" y="696"/>
                </a:moveTo>
                <a:lnTo>
                  <a:pt x="88" y="0"/>
                </a:lnTo>
                <a:lnTo>
                  <a:pt x="0" y="0"/>
                </a:lnTo>
                <a:lnTo>
                  <a:pt x="0" y="792"/>
                </a:lnTo>
                <a:lnTo>
                  <a:pt x="2320" y="792"/>
                </a:lnTo>
                <a:lnTo>
                  <a:pt x="2320" y="696"/>
                </a:lnTo>
                <a:lnTo>
                  <a:pt x="88" y="696"/>
                </a:ln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1" name="Rectangle 6"/>
          <p:cNvSpPr>
            <a:spLocks noChangeArrowheads="1"/>
          </p:cNvSpPr>
          <p:nvPr/>
        </p:nvSpPr>
        <p:spPr bwMode="gray">
          <a:xfrm>
            <a:off x="1208088" y="2017713"/>
            <a:ext cx="6629400" cy="1524000"/>
          </a:xfrm>
          <a:prstGeom prst="rect">
            <a:avLst/>
          </a:prstGeom>
          <a:solidFill>
            <a:srgbClr val="006699"/>
          </a:solidFill>
          <a:ln w="9525">
            <a:solidFill>
              <a:srgbClr val="FFFFFF"/>
            </a:solidFill>
            <a:miter lim="800000"/>
            <a:headEnd/>
            <a:tailEnd/>
          </a:ln>
          <a:effectLst>
            <a:outerShdw sy="50000" kx="-2453608" rotWithShape="0">
              <a:schemeClr val="bg2">
                <a:alpha val="50000"/>
              </a:schemeClr>
            </a:outerShdw>
          </a:effectLst>
        </p:spPr>
        <p:txBody>
          <a:bodyPr anchor="ctr"/>
          <a:lstStyle>
            <a:lvl1pPr marL="342900" indent="-342900"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ko-KR" altLang="en-US" sz="2000" b="1">
                <a:solidFill>
                  <a:srgbClr val="FFFFCC"/>
                </a:solidFill>
                <a:latin typeface="HY동녘M" pitchFamily="18" charset="-127"/>
              </a:rPr>
              <a:t>조직체의 운영과 목적을 지원하기 위해 </a:t>
            </a:r>
            <a:endParaRPr lang="en-US" altLang="ko-KR" sz="2000" b="1">
              <a:solidFill>
                <a:srgbClr val="FFFFCC"/>
              </a:solidFill>
              <a:latin typeface="HY동녘M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ko-KR" altLang="en-US" sz="2000" b="1">
                <a:solidFill>
                  <a:srgbClr val="FFFFCC"/>
                </a:solidFill>
                <a:latin typeface="HY동녘M" pitchFamily="18" charset="-127"/>
              </a:rPr>
              <a:t>데이터베이스를 생성하는 과정</a:t>
            </a:r>
          </a:p>
        </p:txBody>
      </p:sp>
      <p:sp>
        <p:nvSpPr>
          <p:cNvPr id="9222" name="Freeform 7"/>
          <p:cNvSpPr>
            <a:spLocks/>
          </p:cNvSpPr>
          <p:nvPr/>
        </p:nvSpPr>
        <p:spPr bwMode="gray">
          <a:xfrm>
            <a:off x="1047750" y="4913313"/>
            <a:ext cx="2019300" cy="962025"/>
          </a:xfrm>
          <a:custGeom>
            <a:avLst/>
            <a:gdLst>
              <a:gd name="T0" fmla="*/ 2147483646 w 2320"/>
              <a:gd name="T1" fmla="*/ 2147483646 h 792"/>
              <a:gd name="T2" fmla="*/ 2147483646 w 2320"/>
              <a:gd name="T3" fmla="*/ 0 h 792"/>
              <a:gd name="T4" fmla="*/ 0 w 2320"/>
              <a:gd name="T5" fmla="*/ 0 h 792"/>
              <a:gd name="T6" fmla="*/ 0 w 2320"/>
              <a:gd name="T7" fmla="*/ 2147483646 h 792"/>
              <a:gd name="T8" fmla="*/ 2147483646 w 2320"/>
              <a:gd name="T9" fmla="*/ 2147483646 h 792"/>
              <a:gd name="T10" fmla="*/ 2147483646 w 2320"/>
              <a:gd name="T11" fmla="*/ 2147483646 h 792"/>
              <a:gd name="T12" fmla="*/ 2147483646 w 2320"/>
              <a:gd name="T13" fmla="*/ 2147483646 h 7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20"/>
              <a:gd name="T22" fmla="*/ 0 h 792"/>
              <a:gd name="T23" fmla="*/ 2320 w 2320"/>
              <a:gd name="T24" fmla="*/ 792 h 7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20" h="792">
                <a:moveTo>
                  <a:pt x="88" y="696"/>
                </a:moveTo>
                <a:lnTo>
                  <a:pt x="88" y="0"/>
                </a:lnTo>
                <a:lnTo>
                  <a:pt x="0" y="0"/>
                </a:lnTo>
                <a:lnTo>
                  <a:pt x="0" y="792"/>
                </a:lnTo>
                <a:lnTo>
                  <a:pt x="2320" y="792"/>
                </a:lnTo>
                <a:lnTo>
                  <a:pt x="2320" y="696"/>
                </a:lnTo>
                <a:lnTo>
                  <a:pt x="88" y="696"/>
                </a:lnTo>
                <a:close/>
              </a:path>
            </a:pathLst>
          </a:custGeom>
          <a:solidFill>
            <a:srgbClr val="DFE29A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3" name="Freeform 8"/>
          <p:cNvSpPr>
            <a:spLocks/>
          </p:cNvSpPr>
          <p:nvPr/>
        </p:nvSpPr>
        <p:spPr bwMode="gray">
          <a:xfrm rot="10800000">
            <a:off x="6115050" y="3962400"/>
            <a:ext cx="1924050" cy="962025"/>
          </a:xfrm>
          <a:custGeom>
            <a:avLst/>
            <a:gdLst>
              <a:gd name="T0" fmla="*/ 2147483646 w 2320"/>
              <a:gd name="T1" fmla="*/ 2147483646 h 792"/>
              <a:gd name="T2" fmla="*/ 2147483646 w 2320"/>
              <a:gd name="T3" fmla="*/ 0 h 792"/>
              <a:gd name="T4" fmla="*/ 0 w 2320"/>
              <a:gd name="T5" fmla="*/ 0 h 792"/>
              <a:gd name="T6" fmla="*/ 0 w 2320"/>
              <a:gd name="T7" fmla="*/ 2147483646 h 792"/>
              <a:gd name="T8" fmla="*/ 2147483646 w 2320"/>
              <a:gd name="T9" fmla="*/ 2147483646 h 792"/>
              <a:gd name="T10" fmla="*/ 2147483646 w 2320"/>
              <a:gd name="T11" fmla="*/ 2147483646 h 792"/>
              <a:gd name="T12" fmla="*/ 2147483646 w 2320"/>
              <a:gd name="T13" fmla="*/ 2147483646 h 7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20"/>
              <a:gd name="T22" fmla="*/ 0 h 792"/>
              <a:gd name="T23" fmla="*/ 2320 w 2320"/>
              <a:gd name="T24" fmla="*/ 792 h 7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20" h="792">
                <a:moveTo>
                  <a:pt x="88" y="696"/>
                </a:moveTo>
                <a:lnTo>
                  <a:pt x="88" y="0"/>
                </a:lnTo>
                <a:lnTo>
                  <a:pt x="0" y="0"/>
                </a:lnTo>
                <a:lnTo>
                  <a:pt x="0" y="792"/>
                </a:lnTo>
                <a:lnTo>
                  <a:pt x="2320" y="792"/>
                </a:lnTo>
                <a:lnTo>
                  <a:pt x="2320" y="696"/>
                </a:lnTo>
                <a:lnTo>
                  <a:pt x="88" y="696"/>
                </a:lnTo>
                <a:close/>
              </a:path>
            </a:pathLst>
          </a:custGeom>
          <a:solidFill>
            <a:srgbClr val="DFE29A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4" name="Rectangle 9"/>
          <p:cNvSpPr>
            <a:spLocks noChangeArrowheads="1"/>
          </p:cNvSpPr>
          <p:nvPr/>
        </p:nvSpPr>
        <p:spPr bwMode="gray">
          <a:xfrm>
            <a:off x="1227138" y="4151313"/>
            <a:ext cx="6629400" cy="1524000"/>
          </a:xfrm>
          <a:prstGeom prst="rect">
            <a:avLst/>
          </a:prstGeom>
          <a:solidFill>
            <a:srgbClr val="009999"/>
          </a:solidFill>
          <a:ln w="9525">
            <a:solidFill>
              <a:srgbClr val="FFFFFF"/>
            </a:solidFill>
            <a:miter lim="800000"/>
            <a:headEnd/>
            <a:tailEnd/>
          </a:ln>
          <a:effectLst>
            <a:outerShdw sy="50000" kx="-2453608" rotWithShape="0">
              <a:schemeClr val="bg2">
                <a:alpha val="50000"/>
              </a:schemeClr>
            </a:outerShdw>
          </a:effectLst>
        </p:spPr>
        <p:txBody>
          <a:bodyPr anchor="ctr"/>
          <a:lstStyle>
            <a:lvl1pPr marL="342900" indent="-342900"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ko-KR" altLang="en-US" sz="2000" b="1">
                <a:solidFill>
                  <a:srgbClr val="FFFFCC"/>
                </a:solidFill>
                <a:latin typeface="HY동녘M" pitchFamily="18" charset="-127"/>
              </a:rPr>
              <a:t>모든 주요 응용과 사용자들이 요구하는 </a:t>
            </a:r>
            <a:endParaRPr lang="en-US" altLang="ko-KR" sz="2000" b="1">
              <a:solidFill>
                <a:srgbClr val="FFFFCC"/>
              </a:solidFill>
              <a:latin typeface="HY동녘M" pitchFamily="18" charset="-127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ko-KR" altLang="en-US" sz="2000" b="1">
                <a:solidFill>
                  <a:srgbClr val="FFFFCC"/>
                </a:solidFill>
                <a:latin typeface="HY동녘M" pitchFamily="18" charset="-127"/>
              </a:rPr>
              <a:t>데이터</a:t>
            </a:r>
            <a:r>
              <a:rPr lang="en-US" altLang="ko-KR" sz="2000" b="1">
                <a:solidFill>
                  <a:srgbClr val="FFFFCC"/>
                </a:solidFill>
                <a:latin typeface="HY동녘M" pitchFamily="18" charset="-127"/>
              </a:rPr>
              <a:t>, </a:t>
            </a:r>
            <a:r>
              <a:rPr lang="ko-KR" altLang="en-US" sz="2000" b="1">
                <a:solidFill>
                  <a:srgbClr val="FFFFCC"/>
                </a:solidFill>
                <a:latin typeface="HY동녘M" pitchFamily="18" charset="-127"/>
              </a:rPr>
              <a:t>데이터 간의 관계를 표현하는 것</a:t>
            </a:r>
          </a:p>
        </p:txBody>
      </p:sp>
    </p:spTree>
    <p:extLst>
      <p:ext uri="{BB962C8B-B14F-4D97-AF65-F5344CB8AC3E}">
        <p14:creationId xmlns:p14="http://schemas.microsoft.com/office/powerpoint/2010/main" val="120688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015"/>
    </mc:Choice>
    <mc:Fallback xmlns="">
      <p:transition spd="slow" advTm="5801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데이타베이스 설계의 요구사항</a:t>
            </a:r>
          </a:p>
        </p:txBody>
      </p:sp>
      <p:sp>
        <p:nvSpPr>
          <p:cNvPr id="11267" name="AutoShape 4"/>
          <p:cNvSpPr>
            <a:spLocks noChangeArrowheads="1"/>
          </p:cNvSpPr>
          <p:nvPr/>
        </p:nvSpPr>
        <p:spPr bwMode="invGray">
          <a:xfrm>
            <a:off x="0" y="1600200"/>
            <a:ext cx="5715000" cy="4495800"/>
          </a:xfrm>
          <a:prstGeom prst="rightArrow">
            <a:avLst>
              <a:gd name="adj1" fmla="val 86065"/>
              <a:gd name="adj2" fmla="val 31780"/>
            </a:avLst>
          </a:prstGeom>
          <a:gradFill rotWithShape="1">
            <a:gsLst>
              <a:gs pos="0">
                <a:srgbClr val="000066">
                  <a:alpha val="50000"/>
                </a:srgbClr>
              </a:gs>
              <a:gs pos="100000">
                <a:srgbClr val="0066CC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268" name="AutoShape 5"/>
          <p:cNvSpPr>
            <a:spLocks noChangeArrowheads="1"/>
          </p:cNvSpPr>
          <p:nvPr/>
        </p:nvSpPr>
        <p:spPr bwMode="blackWhite">
          <a:xfrm>
            <a:off x="304800" y="2133600"/>
            <a:ext cx="4038600" cy="509588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642C13"/>
              </a:gs>
              <a:gs pos="50000">
                <a:srgbClr val="D85E28"/>
              </a:gs>
              <a:gs pos="100000">
                <a:srgbClr val="642C13"/>
              </a:gs>
            </a:gsLst>
            <a:lin ang="2700000" scaled="1"/>
          </a:gradFill>
          <a:ln w="2540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itchFamily="18" charset="-127"/>
              </a:rPr>
              <a:t>데이터의 모든 측면을 표현</a:t>
            </a:r>
            <a:endParaRPr lang="en-US" altLang="ko-KR" sz="2400" b="1">
              <a:solidFill>
                <a:srgbClr val="FFFFFF"/>
              </a:solidFill>
              <a:latin typeface="HY동녘M" pitchFamily="18" charset="-127"/>
            </a:endParaRPr>
          </a:p>
        </p:txBody>
      </p:sp>
      <p:sp>
        <p:nvSpPr>
          <p:cNvPr id="11269" name="AutoShape 6"/>
          <p:cNvSpPr>
            <a:spLocks noChangeArrowheads="1"/>
          </p:cNvSpPr>
          <p:nvPr/>
        </p:nvSpPr>
        <p:spPr bwMode="blackWhite">
          <a:xfrm>
            <a:off x="304800" y="2857500"/>
            <a:ext cx="4038600" cy="509588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31492C"/>
              </a:gs>
              <a:gs pos="50000">
                <a:srgbClr val="699D5F"/>
              </a:gs>
              <a:gs pos="100000">
                <a:srgbClr val="31492C"/>
              </a:gs>
            </a:gsLst>
            <a:lin ang="2700000" scaled="1"/>
          </a:gradFill>
          <a:ln w="2540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itchFamily="18" charset="-127"/>
              </a:rPr>
              <a:t>중복 최소화</a:t>
            </a:r>
            <a:endParaRPr lang="en-US" altLang="ko-KR" sz="2400" b="1">
              <a:solidFill>
                <a:srgbClr val="FFFFFF"/>
              </a:solidFill>
              <a:latin typeface="HY동녘M" pitchFamily="18" charset="-127"/>
            </a:endParaRPr>
          </a:p>
        </p:txBody>
      </p:sp>
      <p:sp>
        <p:nvSpPr>
          <p:cNvPr id="11270" name="AutoShape 7"/>
          <p:cNvSpPr>
            <a:spLocks noChangeArrowheads="1"/>
          </p:cNvSpPr>
          <p:nvPr/>
        </p:nvSpPr>
        <p:spPr bwMode="blackWhite">
          <a:xfrm>
            <a:off x="304800" y="3571875"/>
            <a:ext cx="4038600" cy="509588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274B63"/>
              </a:gs>
              <a:gs pos="50000">
                <a:srgbClr val="55A2D7"/>
              </a:gs>
              <a:gs pos="100000">
                <a:srgbClr val="274B63"/>
              </a:gs>
            </a:gsLst>
            <a:lin ang="2700000" scaled="1"/>
          </a:gradFill>
          <a:ln w="2540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itchFamily="18" charset="-127"/>
              </a:rPr>
              <a:t>효율적 접근</a:t>
            </a:r>
            <a:endParaRPr lang="en-US" altLang="ko-KR" sz="2400" b="1">
              <a:solidFill>
                <a:srgbClr val="FFFFFF"/>
              </a:solidFill>
              <a:latin typeface="HY동녘M" pitchFamily="18" charset="-127"/>
            </a:endParaRPr>
          </a:p>
        </p:txBody>
      </p:sp>
      <p:sp>
        <p:nvSpPr>
          <p:cNvPr id="11271" name="AutoShape 8"/>
          <p:cNvSpPr>
            <a:spLocks noChangeArrowheads="1"/>
          </p:cNvSpPr>
          <p:nvPr/>
        </p:nvSpPr>
        <p:spPr bwMode="gray">
          <a:xfrm>
            <a:off x="5791200" y="2209800"/>
            <a:ext cx="3067050" cy="3200400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CCFFFF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ffectLst>
            <a:outerShdw dist="107763" dir="2700000" algn="ctr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>
                <a:solidFill>
                  <a:srgbClr val="000000"/>
                </a:solidFill>
                <a:latin typeface="HY동녘M" pitchFamily="18" charset="-127"/>
              </a:rPr>
              <a:t>올바른 </a:t>
            </a:r>
            <a:endParaRPr lang="en-US" altLang="ko-KR" sz="2400">
              <a:solidFill>
                <a:srgbClr val="000000"/>
              </a:solidFill>
              <a:latin typeface="HY동녘M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>
                <a:solidFill>
                  <a:srgbClr val="000000"/>
                </a:solidFill>
                <a:latin typeface="HY동녘M" pitchFamily="18" charset="-127"/>
              </a:rPr>
              <a:t>데이타베이스 설계</a:t>
            </a:r>
            <a:endParaRPr lang="en-US" altLang="ko-KR" sz="2400">
              <a:solidFill>
                <a:srgbClr val="000000"/>
              </a:solidFill>
              <a:latin typeface="HY동녘M" pitchFamily="18" charset="-127"/>
            </a:endParaRPr>
          </a:p>
        </p:txBody>
      </p:sp>
      <p:sp>
        <p:nvSpPr>
          <p:cNvPr id="11272" name="AutoShape 6"/>
          <p:cNvSpPr>
            <a:spLocks noChangeArrowheads="1"/>
          </p:cNvSpPr>
          <p:nvPr/>
        </p:nvSpPr>
        <p:spPr bwMode="blackWhite">
          <a:xfrm>
            <a:off x="285750" y="4286250"/>
            <a:ext cx="4038600" cy="509588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lin ang="2700000"/>
          </a:gradFill>
          <a:ln w="2540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itchFamily="18" charset="-127"/>
              </a:rPr>
              <a:t>데이터 무결성</a:t>
            </a:r>
            <a:endParaRPr lang="en-US" altLang="ko-KR" sz="2400" b="1">
              <a:solidFill>
                <a:srgbClr val="FFFFFF"/>
              </a:solidFill>
              <a:latin typeface="HY동녘M" pitchFamily="18" charset="-127"/>
            </a:endParaRPr>
          </a:p>
        </p:txBody>
      </p:sp>
      <p:sp>
        <p:nvSpPr>
          <p:cNvPr id="11273" name="AutoShape 7"/>
          <p:cNvSpPr>
            <a:spLocks noChangeArrowheads="1"/>
          </p:cNvSpPr>
          <p:nvPr/>
        </p:nvSpPr>
        <p:spPr bwMode="blackWhite">
          <a:xfrm>
            <a:off x="285750" y="5000625"/>
            <a:ext cx="4038600" cy="509588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D6B19C"/>
              </a:gs>
              <a:gs pos="30000">
                <a:srgbClr val="D49E6C"/>
              </a:gs>
              <a:gs pos="70000">
                <a:srgbClr val="A65528"/>
              </a:gs>
              <a:gs pos="100000">
                <a:srgbClr val="663012"/>
              </a:gs>
            </a:gsLst>
            <a:lin ang="2700000"/>
          </a:gradFill>
          <a:ln w="2540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solidFill>
                  <a:srgbClr val="FFFFFF"/>
                </a:solidFill>
                <a:latin typeface="HY동녘M" pitchFamily="18" charset="-127"/>
              </a:rPr>
              <a:t>일관성 및 이해 용이</a:t>
            </a:r>
            <a:endParaRPr lang="en-US" altLang="ko-KR" sz="2400" b="1">
              <a:solidFill>
                <a:srgbClr val="FFFFFF"/>
              </a:solidFill>
              <a:latin typeface="HY동녘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407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3952"/>
    </mc:Choice>
    <mc:Fallback xmlns="">
      <p:transition spd="slow" advTm="23395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 descr="5_p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446213"/>
            <a:ext cx="5170488" cy="541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데이타베이스 설계의 주요단계</a:t>
            </a:r>
          </a:p>
        </p:txBody>
      </p:sp>
    </p:spTree>
    <p:extLst>
      <p:ext uri="{BB962C8B-B14F-4D97-AF65-F5344CB8AC3E}">
        <p14:creationId xmlns:p14="http://schemas.microsoft.com/office/powerpoint/2010/main" val="3052560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5516"/>
    </mc:Choice>
    <mc:Fallback xmlns="">
      <p:transition spd="slow" advTm="39551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0" y="1285875"/>
            <a:ext cx="9144000" cy="5572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15363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ER</a:t>
            </a:r>
            <a:r>
              <a:rPr lang="ko-KR" altLang="en-US"/>
              <a:t>모델</a:t>
            </a:r>
          </a:p>
        </p:txBody>
      </p:sp>
      <p:grpSp>
        <p:nvGrpSpPr>
          <p:cNvPr id="15364" name="그룹 17"/>
          <p:cNvGrpSpPr>
            <a:grpSpLocks/>
          </p:cNvGrpSpPr>
          <p:nvPr/>
        </p:nvGrpSpPr>
        <p:grpSpPr bwMode="auto">
          <a:xfrm>
            <a:off x="1500188" y="2357438"/>
            <a:ext cx="5643562" cy="4348162"/>
            <a:chOff x="1143000" y="1752600"/>
            <a:chExt cx="6400800" cy="4953000"/>
          </a:xfrm>
        </p:grpSpPr>
        <p:sp>
          <p:nvSpPr>
            <p:cNvPr id="15366" name="Freeform 10"/>
            <p:cNvSpPr>
              <a:spLocks/>
            </p:cNvSpPr>
            <p:nvPr/>
          </p:nvSpPr>
          <p:spPr bwMode="gray">
            <a:xfrm rot="-6677128">
              <a:off x="4875212" y="458788"/>
              <a:ext cx="1374775" cy="3962400"/>
            </a:xfrm>
            <a:custGeom>
              <a:avLst/>
              <a:gdLst>
                <a:gd name="T0" fmla="*/ 0 w 646"/>
                <a:gd name="T1" fmla="*/ 0 h 1861"/>
                <a:gd name="T2" fmla="*/ 2147483646 w 646"/>
                <a:gd name="T3" fmla="*/ 2147483646 h 1861"/>
                <a:gd name="T4" fmla="*/ 2147483646 w 646"/>
                <a:gd name="T5" fmla="*/ 2147483646 h 1861"/>
                <a:gd name="T6" fmla="*/ 2147483646 w 646"/>
                <a:gd name="T7" fmla="*/ 2147483646 h 1861"/>
                <a:gd name="T8" fmla="*/ 2147483646 w 646"/>
                <a:gd name="T9" fmla="*/ 2147483646 h 1861"/>
                <a:gd name="T10" fmla="*/ 2147483646 w 646"/>
                <a:gd name="T11" fmla="*/ 2147483646 h 1861"/>
                <a:gd name="T12" fmla="*/ 2147483646 w 646"/>
                <a:gd name="T13" fmla="*/ 2147483646 h 1861"/>
                <a:gd name="T14" fmla="*/ 2147483646 w 646"/>
                <a:gd name="T15" fmla="*/ 2147483646 h 1861"/>
                <a:gd name="T16" fmla="*/ 2147483646 w 646"/>
                <a:gd name="T17" fmla="*/ 2147483646 h 1861"/>
                <a:gd name="T18" fmla="*/ 2147483646 w 646"/>
                <a:gd name="T19" fmla="*/ 2147483646 h 1861"/>
                <a:gd name="T20" fmla="*/ 2147483646 w 646"/>
                <a:gd name="T21" fmla="*/ 2147483646 h 1861"/>
                <a:gd name="T22" fmla="*/ 2147483646 w 646"/>
                <a:gd name="T23" fmla="*/ 2147483646 h 1861"/>
                <a:gd name="T24" fmla="*/ 2147483646 w 646"/>
                <a:gd name="T25" fmla="*/ 2147483646 h 1861"/>
                <a:gd name="T26" fmla="*/ 2147483646 w 646"/>
                <a:gd name="T27" fmla="*/ 2147483646 h 1861"/>
                <a:gd name="T28" fmla="*/ 2147483646 w 646"/>
                <a:gd name="T29" fmla="*/ 2147483646 h 1861"/>
                <a:gd name="T30" fmla="*/ 2147483646 w 646"/>
                <a:gd name="T31" fmla="*/ 2147483646 h 1861"/>
                <a:gd name="T32" fmla="*/ 2147483646 w 646"/>
                <a:gd name="T33" fmla="*/ 2147483646 h 1861"/>
                <a:gd name="T34" fmla="*/ 2147483646 w 646"/>
                <a:gd name="T35" fmla="*/ 2147483646 h 1861"/>
                <a:gd name="T36" fmla="*/ 2147483646 w 646"/>
                <a:gd name="T37" fmla="*/ 2147483646 h 1861"/>
                <a:gd name="T38" fmla="*/ 2147483646 w 646"/>
                <a:gd name="T39" fmla="*/ 2147483646 h 1861"/>
                <a:gd name="T40" fmla="*/ 2147483646 w 646"/>
                <a:gd name="T41" fmla="*/ 2147483646 h 1861"/>
                <a:gd name="T42" fmla="*/ 2147483646 w 646"/>
                <a:gd name="T43" fmla="*/ 2147483646 h 1861"/>
                <a:gd name="T44" fmla="*/ 2147483646 w 646"/>
                <a:gd name="T45" fmla="*/ 2147483646 h 1861"/>
                <a:gd name="T46" fmla="*/ 2147483646 w 646"/>
                <a:gd name="T47" fmla="*/ 2147483646 h 1861"/>
                <a:gd name="T48" fmla="*/ 2147483646 w 646"/>
                <a:gd name="T49" fmla="*/ 2147483646 h 1861"/>
                <a:gd name="T50" fmla="*/ 2147483646 w 646"/>
                <a:gd name="T51" fmla="*/ 2147483646 h 1861"/>
                <a:gd name="T52" fmla="*/ 2147483646 w 646"/>
                <a:gd name="T53" fmla="*/ 2147483646 h 1861"/>
                <a:gd name="T54" fmla="*/ 2147483646 w 646"/>
                <a:gd name="T55" fmla="*/ 2147483646 h 1861"/>
                <a:gd name="T56" fmla="*/ 2147483646 w 646"/>
                <a:gd name="T57" fmla="*/ 2147483646 h 1861"/>
                <a:gd name="T58" fmla="*/ 2147483646 w 646"/>
                <a:gd name="T59" fmla="*/ 2147483646 h 1861"/>
                <a:gd name="T60" fmla="*/ 2147483646 w 646"/>
                <a:gd name="T61" fmla="*/ 2147483646 h 1861"/>
                <a:gd name="T62" fmla="*/ 2147483646 w 646"/>
                <a:gd name="T63" fmla="*/ 2147483646 h 1861"/>
                <a:gd name="T64" fmla="*/ 2147483646 w 646"/>
                <a:gd name="T65" fmla="*/ 2147483646 h 1861"/>
                <a:gd name="T66" fmla="*/ 2147483646 w 646"/>
                <a:gd name="T67" fmla="*/ 2147483646 h 1861"/>
                <a:gd name="T68" fmla="*/ 2147483646 w 646"/>
                <a:gd name="T69" fmla="*/ 2147483646 h 1861"/>
                <a:gd name="T70" fmla="*/ 2147483646 w 646"/>
                <a:gd name="T71" fmla="*/ 2147483646 h 1861"/>
                <a:gd name="T72" fmla="*/ 2147483646 w 646"/>
                <a:gd name="T73" fmla="*/ 2147483646 h 1861"/>
                <a:gd name="T74" fmla="*/ 2147483646 w 646"/>
                <a:gd name="T75" fmla="*/ 2147483646 h 1861"/>
                <a:gd name="T76" fmla="*/ 0 w 646"/>
                <a:gd name="T77" fmla="*/ 2147483646 h 1861"/>
                <a:gd name="T78" fmla="*/ 0 w 646"/>
                <a:gd name="T79" fmla="*/ 0 h 186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646"/>
                <a:gd name="T121" fmla="*/ 0 h 1861"/>
                <a:gd name="T122" fmla="*/ 646 w 646"/>
                <a:gd name="T123" fmla="*/ 1861 h 1861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646" h="1861">
                  <a:moveTo>
                    <a:pt x="0" y="0"/>
                  </a:moveTo>
                  <a:lnTo>
                    <a:pt x="48" y="14"/>
                  </a:lnTo>
                  <a:lnTo>
                    <a:pt x="98" y="32"/>
                  </a:lnTo>
                  <a:lnTo>
                    <a:pt x="147" y="54"/>
                  </a:lnTo>
                  <a:lnTo>
                    <a:pt x="195" y="81"/>
                  </a:lnTo>
                  <a:lnTo>
                    <a:pt x="242" y="111"/>
                  </a:lnTo>
                  <a:lnTo>
                    <a:pt x="288" y="147"/>
                  </a:lnTo>
                  <a:lnTo>
                    <a:pt x="333" y="185"/>
                  </a:lnTo>
                  <a:lnTo>
                    <a:pt x="377" y="228"/>
                  </a:lnTo>
                  <a:lnTo>
                    <a:pt x="418" y="275"/>
                  </a:lnTo>
                  <a:lnTo>
                    <a:pt x="457" y="325"/>
                  </a:lnTo>
                  <a:lnTo>
                    <a:pt x="493" y="379"/>
                  </a:lnTo>
                  <a:lnTo>
                    <a:pt x="526" y="437"/>
                  </a:lnTo>
                  <a:lnTo>
                    <a:pt x="555" y="497"/>
                  </a:lnTo>
                  <a:lnTo>
                    <a:pt x="582" y="562"/>
                  </a:lnTo>
                  <a:lnTo>
                    <a:pt x="604" y="630"/>
                  </a:lnTo>
                  <a:lnTo>
                    <a:pt x="621" y="700"/>
                  </a:lnTo>
                  <a:lnTo>
                    <a:pt x="634" y="774"/>
                  </a:lnTo>
                  <a:lnTo>
                    <a:pt x="642" y="851"/>
                  </a:lnTo>
                  <a:lnTo>
                    <a:pt x="646" y="930"/>
                  </a:lnTo>
                  <a:lnTo>
                    <a:pt x="643" y="1011"/>
                  </a:lnTo>
                  <a:lnTo>
                    <a:pt x="636" y="1086"/>
                  </a:lnTo>
                  <a:lnTo>
                    <a:pt x="623" y="1160"/>
                  </a:lnTo>
                  <a:lnTo>
                    <a:pt x="607" y="1230"/>
                  </a:lnTo>
                  <a:lnTo>
                    <a:pt x="585" y="1297"/>
                  </a:lnTo>
                  <a:lnTo>
                    <a:pt x="561" y="1361"/>
                  </a:lnTo>
                  <a:lnTo>
                    <a:pt x="533" y="1421"/>
                  </a:lnTo>
                  <a:lnTo>
                    <a:pt x="500" y="1478"/>
                  </a:lnTo>
                  <a:lnTo>
                    <a:pt x="466" y="1532"/>
                  </a:lnTo>
                  <a:lnTo>
                    <a:pt x="428" y="1582"/>
                  </a:lnTo>
                  <a:lnTo>
                    <a:pt x="388" y="1627"/>
                  </a:lnTo>
                  <a:lnTo>
                    <a:pt x="345" y="1670"/>
                  </a:lnTo>
                  <a:lnTo>
                    <a:pt x="301" y="1709"/>
                  </a:lnTo>
                  <a:lnTo>
                    <a:pt x="254" y="1744"/>
                  </a:lnTo>
                  <a:lnTo>
                    <a:pt x="205" y="1776"/>
                  </a:lnTo>
                  <a:lnTo>
                    <a:pt x="156" y="1803"/>
                  </a:lnTo>
                  <a:lnTo>
                    <a:pt x="104" y="1826"/>
                  </a:lnTo>
                  <a:lnTo>
                    <a:pt x="53" y="1846"/>
                  </a:lnTo>
                  <a:lnTo>
                    <a:pt x="0" y="1861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FE6C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5367" name="그룹 16"/>
            <p:cNvGrpSpPr>
              <a:grpSpLocks/>
            </p:cNvGrpSpPr>
            <p:nvPr/>
          </p:nvGrpSpPr>
          <p:grpSpPr bwMode="auto">
            <a:xfrm>
              <a:off x="1143000" y="1905000"/>
              <a:ext cx="5999508" cy="4800600"/>
              <a:chOff x="1143000" y="1905000"/>
              <a:chExt cx="5999508" cy="4800600"/>
            </a:xfrm>
          </p:grpSpPr>
          <p:sp>
            <p:nvSpPr>
              <p:cNvPr id="15368" name="Freeform 4"/>
              <p:cNvSpPr>
                <a:spLocks/>
              </p:cNvSpPr>
              <p:nvPr/>
            </p:nvSpPr>
            <p:spPr bwMode="gray">
              <a:xfrm rot="-794496">
                <a:off x="4540250" y="2667000"/>
                <a:ext cx="1374775" cy="3962400"/>
              </a:xfrm>
              <a:custGeom>
                <a:avLst/>
                <a:gdLst>
                  <a:gd name="T0" fmla="*/ 0 w 646"/>
                  <a:gd name="T1" fmla="*/ 0 h 1861"/>
                  <a:gd name="T2" fmla="*/ 2147483646 w 646"/>
                  <a:gd name="T3" fmla="*/ 2147483646 h 1861"/>
                  <a:gd name="T4" fmla="*/ 2147483646 w 646"/>
                  <a:gd name="T5" fmla="*/ 2147483646 h 1861"/>
                  <a:gd name="T6" fmla="*/ 2147483646 w 646"/>
                  <a:gd name="T7" fmla="*/ 2147483646 h 1861"/>
                  <a:gd name="T8" fmla="*/ 2147483646 w 646"/>
                  <a:gd name="T9" fmla="*/ 2147483646 h 1861"/>
                  <a:gd name="T10" fmla="*/ 2147483646 w 646"/>
                  <a:gd name="T11" fmla="*/ 2147483646 h 1861"/>
                  <a:gd name="T12" fmla="*/ 2147483646 w 646"/>
                  <a:gd name="T13" fmla="*/ 2147483646 h 1861"/>
                  <a:gd name="T14" fmla="*/ 2147483646 w 646"/>
                  <a:gd name="T15" fmla="*/ 2147483646 h 1861"/>
                  <a:gd name="T16" fmla="*/ 2147483646 w 646"/>
                  <a:gd name="T17" fmla="*/ 2147483646 h 1861"/>
                  <a:gd name="T18" fmla="*/ 2147483646 w 646"/>
                  <a:gd name="T19" fmla="*/ 2147483646 h 1861"/>
                  <a:gd name="T20" fmla="*/ 2147483646 w 646"/>
                  <a:gd name="T21" fmla="*/ 2147483646 h 1861"/>
                  <a:gd name="T22" fmla="*/ 2147483646 w 646"/>
                  <a:gd name="T23" fmla="*/ 2147483646 h 1861"/>
                  <a:gd name="T24" fmla="*/ 2147483646 w 646"/>
                  <a:gd name="T25" fmla="*/ 2147483646 h 1861"/>
                  <a:gd name="T26" fmla="*/ 2147483646 w 646"/>
                  <a:gd name="T27" fmla="*/ 2147483646 h 1861"/>
                  <a:gd name="T28" fmla="*/ 2147483646 w 646"/>
                  <a:gd name="T29" fmla="*/ 2147483646 h 1861"/>
                  <a:gd name="T30" fmla="*/ 2147483646 w 646"/>
                  <a:gd name="T31" fmla="*/ 2147483646 h 1861"/>
                  <a:gd name="T32" fmla="*/ 2147483646 w 646"/>
                  <a:gd name="T33" fmla="*/ 2147483646 h 1861"/>
                  <a:gd name="T34" fmla="*/ 2147483646 w 646"/>
                  <a:gd name="T35" fmla="*/ 2147483646 h 1861"/>
                  <a:gd name="T36" fmla="*/ 2147483646 w 646"/>
                  <a:gd name="T37" fmla="*/ 2147483646 h 1861"/>
                  <a:gd name="T38" fmla="*/ 2147483646 w 646"/>
                  <a:gd name="T39" fmla="*/ 2147483646 h 1861"/>
                  <a:gd name="T40" fmla="*/ 2147483646 w 646"/>
                  <a:gd name="T41" fmla="*/ 2147483646 h 1861"/>
                  <a:gd name="T42" fmla="*/ 2147483646 w 646"/>
                  <a:gd name="T43" fmla="*/ 2147483646 h 1861"/>
                  <a:gd name="T44" fmla="*/ 2147483646 w 646"/>
                  <a:gd name="T45" fmla="*/ 2147483646 h 1861"/>
                  <a:gd name="T46" fmla="*/ 2147483646 w 646"/>
                  <a:gd name="T47" fmla="*/ 2147483646 h 1861"/>
                  <a:gd name="T48" fmla="*/ 2147483646 w 646"/>
                  <a:gd name="T49" fmla="*/ 2147483646 h 1861"/>
                  <a:gd name="T50" fmla="*/ 2147483646 w 646"/>
                  <a:gd name="T51" fmla="*/ 2147483646 h 1861"/>
                  <a:gd name="T52" fmla="*/ 2147483646 w 646"/>
                  <a:gd name="T53" fmla="*/ 2147483646 h 1861"/>
                  <a:gd name="T54" fmla="*/ 2147483646 w 646"/>
                  <a:gd name="T55" fmla="*/ 2147483646 h 1861"/>
                  <a:gd name="T56" fmla="*/ 2147483646 w 646"/>
                  <a:gd name="T57" fmla="*/ 2147483646 h 1861"/>
                  <a:gd name="T58" fmla="*/ 2147483646 w 646"/>
                  <a:gd name="T59" fmla="*/ 2147483646 h 1861"/>
                  <a:gd name="T60" fmla="*/ 2147483646 w 646"/>
                  <a:gd name="T61" fmla="*/ 2147483646 h 1861"/>
                  <a:gd name="T62" fmla="*/ 2147483646 w 646"/>
                  <a:gd name="T63" fmla="*/ 2147483646 h 1861"/>
                  <a:gd name="T64" fmla="*/ 2147483646 w 646"/>
                  <a:gd name="T65" fmla="*/ 2147483646 h 1861"/>
                  <a:gd name="T66" fmla="*/ 2147483646 w 646"/>
                  <a:gd name="T67" fmla="*/ 2147483646 h 1861"/>
                  <a:gd name="T68" fmla="*/ 2147483646 w 646"/>
                  <a:gd name="T69" fmla="*/ 2147483646 h 1861"/>
                  <a:gd name="T70" fmla="*/ 2147483646 w 646"/>
                  <a:gd name="T71" fmla="*/ 2147483646 h 1861"/>
                  <a:gd name="T72" fmla="*/ 2147483646 w 646"/>
                  <a:gd name="T73" fmla="*/ 2147483646 h 1861"/>
                  <a:gd name="T74" fmla="*/ 2147483646 w 646"/>
                  <a:gd name="T75" fmla="*/ 2147483646 h 1861"/>
                  <a:gd name="T76" fmla="*/ 0 w 646"/>
                  <a:gd name="T77" fmla="*/ 2147483646 h 1861"/>
                  <a:gd name="T78" fmla="*/ 0 w 646"/>
                  <a:gd name="T79" fmla="*/ 0 h 1861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646"/>
                  <a:gd name="T121" fmla="*/ 0 h 1861"/>
                  <a:gd name="T122" fmla="*/ 646 w 646"/>
                  <a:gd name="T123" fmla="*/ 1861 h 1861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646" h="1861">
                    <a:moveTo>
                      <a:pt x="0" y="0"/>
                    </a:moveTo>
                    <a:lnTo>
                      <a:pt x="48" y="14"/>
                    </a:lnTo>
                    <a:lnTo>
                      <a:pt x="98" y="32"/>
                    </a:lnTo>
                    <a:lnTo>
                      <a:pt x="147" y="54"/>
                    </a:lnTo>
                    <a:lnTo>
                      <a:pt x="195" y="81"/>
                    </a:lnTo>
                    <a:lnTo>
                      <a:pt x="242" y="111"/>
                    </a:lnTo>
                    <a:lnTo>
                      <a:pt x="288" y="147"/>
                    </a:lnTo>
                    <a:lnTo>
                      <a:pt x="333" y="185"/>
                    </a:lnTo>
                    <a:lnTo>
                      <a:pt x="377" y="228"/>
                    </a:lnTo>
                    <a:lnTo>
                      <a:pt x="418" y="275"/>
                    </a:lnTo>
                    <a:lnTo>
                      <a:pt x="457" y="325"/>
                    </a:lnTo>
                    <a:lnTo>
                      <a:pt x="493" y="379"/>
                    </a:lnTo>
                    <a:lnTo>
                      <a:pt x="526" y="437"/>
                    </a:lnTo>
                    <a:lnTo>
                      <a:pt x="555" y="497"/>
                    </a:lnTo>
                    <a:lnTo>
                      <a:pt x="582" y="562"/>
                    </a:lnTo>
                    <a:lnTo>
                      <a:pt x="604" y="630"/>
                    </a:lnTo>
                    <a:lnTo>
                      <a:pt x="621" y="700"/>
                    </a:lnTo>
                    <a:lnTo>
                      <a:pt x="634" y="774"/>
                    </a:lnTo>
                    <a:lnTo>
                      <a:pt x="642" y="851"/>
                    </a:lnTo>
                    <a:lnTo>
                      <a:pt x="646" y="930"/>
                    </a:lnTo>
                    <a:lnTo>
                      <a:pt x="643" y="1011"/>
                    </a:lnTo>
                    <a:lnTo>
                      <a:pt x="636" y="1086"/>
                    </a:lnTo>
                    <a:lnTo>
                      <a:pt x="623" y="1160"/>
                    </a:lnTo>
                    <a:lnTo>
                      <a:pt x="607" y="1230"/>
                    </a:lnTo>
                    <a:lnTo>
                      <a:pt x="585" y="1297"/>
                    </a:lnTo>
                    <a:lnTo>
                      <a:pt x="561" y="1361"/>
                    </a:lnTo>
                    <a:lnTo>
                      <a:pt x="533" y="1421"/>
                    </a:lnTo>
                    <a:lnTo>
                      <a:pt x="500" y="1478"/>
                    </a:lnTo>
                    <a:lnTo>
                      <a:pt x="466" y="1532"/>
                    </a:lnTo>
                    <a:lnTo>
                      <a:pt x="428" y="1582"/>
                    </a:lnTo>
                    <a:lnTo>
                      <a:pt x="388" y="1627"/>
                    </a:lnTo>
                    <a:lnTo>
                      <a:pt x="345" y="1670"/>
                    </a:lnTo>
                    <a:lnTo>
                      <a:pt x="301" y="1709"/>
                    </a:lnTo>
                    <a:lnTo>
                      <a:pt x="254" y="1744"/>
                    </a:lnTo>
                    <a:lnTo>
                      <a:pt x="205" y="1776"/>
                    </a:lnTo>
                    <a:lnTo>
                      <a:pt x="156" y="1803"/>
                    </a:lnTo>
                    <a:lnTo>
                      <a:pt x="104" y="1826"/>
                    </a:lnTo>
                    <a:lnTo>
                      <a:pt x="53" y="1846"/>
                    </a:lnTo>
                    <a:lnTo>
                      <a:pt x="0" y="186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4516AE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369" name="Freeform 5"/>
              <p:cNvSpPr>
                <a:spLocks/>
              </p:cNvSpPr>
              <p:nvPr/>
            </p:nvSpPr>
            <p:spPr bwMode="gray">
              <a:xfrm rot="5461794">
                <a:off x="2436812" y="2055813"/>
                <a:ext cx="1374775" cy="3962400"/>
              </a:xfrm>
              <a:custGeom>
                <a:avLst/>
                <a:gdLst>
                  <a:gd name="T0" fmla="*/ 0 w 646"/>
                  <a:gd name="T1" fmla="*/ 0 h 1861"/>
                  <a:gd name="T2" fmla="*/ 2147483646 w 646"/>
                  <a:gd name="T3" fmla="*/ 2147483646 h 1861"/>
                  <a:gd name="T4" fmla="*/ 2147483646 w 646"/>
                  <a:gd name="T5" fmla="*/ 2147483646 h 1861"/>
                  <a:gd name="T6" fmla="*/ 2147483646 w 646"/>
                  <a:gd name="T7" fmla="*/ 2147483646 h 1861"/>
                  <a:gd name="T8" fmla="*/ 2147483646 w 646"/>
                  <a:gd name="T9" fmla="*/ 2147483646 h 1861"/>
                  <a:gd name="T10" fmla="*/ 2147483646 w 646"/>
                  <a:gd name="T11" fmla="*/ 2147483646 h 1861"/>
                  <a:gd name="T12" fmla="*/ 2147483646 w 646"/>
                  <a:gd name="T13" fmla="*/ 2147483646 h 1861"/>
                  <a:gd name="T14" fmla="*/ 2147483646 w 646"/>
                  <a:gd name="T15" fmla="*/ 2147483646 h 1861"/>
                  <a:gd name="T16" fmla="*/ 2147483646 w 646"/>
                  <a:gd name="T17" fmla="*/ 2147483646 h 1861"/>
                  <a:gd name="T18" fmla="*/ 2147483646 w 646"/>
                  <a:gd name="T19" fmla="*/ 2147483646 h 1861"/>
                  <a:gd name="T20" fmla="*/ 2147483646 w 646"/>
                  <a:gd name="T21" fmla="*/ 2147483646 h 1861"/>
                  <a:gd name="T22" fmla="*/ 2147483646 w 646"/>
                  <a:gd name="T23" fmla="*/ 2147483646 h 1861"/>
                  <a:gd name="T24" fmla="*/ 2147483646 w 646"/>
                  <a:gd name="T25" fmla="*/ 2147483646 h 1861"/>
                  <a:gd name="T26" fmla="*/ 2147483646 w 646"/>
                  <a:gd name="T27" fmla="*/ 2147483646 h 1861"/>
                  <a:gd name="T28" fmla="*/ 2147483646 w 646"/>
                  <a:gd name="T29" fmla="*/ 2147483646 h 1861"/>
                  <a:gd name="T30" fmla="*/ 2147483646 w 646"/>
                  <a:gd name="T31" fmla="*/ 2147483646 h 1861"/>
                  <a:gd name="T32" fmla="*/ 2147483646 w 646"/>
                  <a:gd name="T33" fmla="*/ 2147483646 h 1861"/>
                  <a:gd name="T34" fmla="*/ 2147483646 w 646"/>
                  <a:gd name="T35" fmla="*/ 2147483646 h 1861"/>
                  <a:gd name="T36" fmla="*/ 2147483646 w 646"/>
                  <a:gd name="T37" fmla="*/ 2147483646 h 1861"/>
                  <a:gd name="T38" fmla="*/ 2147483646 w 646"/>
                  <a:gd name="T39" fmla="*/ 2147483646 h 1861"/>
                  <a:gd name="T40" fmla="*/ 2147483646 w 646"/>
                  <a:gd name="T41" fmla="*/ 2147483646 h 1861"/>
                  <a:gd name="T42" fmla="*/ 2147483646 w 646"/>
                  <a:gd name="T43" fmla="*/ 2147483646 h 1861"/>
                  <a:gd name="T44" fmla="*/ 2147483646 w 646"/>
                  <a:gd name="T45" fmla="*/ 2147483646 h 1861"/>
                  <a:gd name="T46" fmla="*/ 2147483646 w 646"/>
                  <a:gd name="T47" fmla="*/ 2147483646 h 1861"/>
                  <a:gd name="T48" fmla="*/ 2147483646 w 646"/>
                  <a:gd name="T49" fmla="*/ 2147483646 h 1861"/>
                  <a:gd name="T50" fmla="*/ 2147483646 w 646"/>
                  <a:gd name="T51" fmla="*/ 2147483646 h 1861"/>
                  <a:gd name="T52" fmla="*/ 2147483646 w 646"/>
                  <a:gd name="T53" fmla="*/ 2147483646 h 1861"/>
                  <a:gd name="T54" fmla="*/ 2147483646 w 646"/>
                  <a:gd name="T55" fmla="*/ 2147483646 h 1861"/>
                  <a:gd name="T56" fmla="*/ 2147483646 w 646"/>
                  <a:gd name="T57" fmla="*/ 2147483646 h 1861"/>
                  <a:gd name="T58" fmla="*/ 2147483646 w 646"/>
                  <a:gd name="T59" fmla="*/ 2147483646 h 1861"/>
                  <a:gd name="T60" fmla="*/ 2147483646 w 646"/>
                  <a:gd name="T61" fmla="*/ 2147483646 h 1861"/>
                  <a:gd name="T62" fmla="*/ 2147483646 w 646"/>
                  <a:gd name="T63" fmla="*/ 2147483646 h 1861"/>
                  <a:gd name="T64" fmla="*/ 2147483646 w 646"/>
                  <a:gd name="T65" fmla="*/ 2147483646 h 1861"/>
                  <a:gd name="T66" fmla="*/ 2147483646 w 646"/>
                  <a:gd name="T67" fmla="*/ 2147483646 h 1861"/>
                  <a:gd name="T68" fmla="*/ 2147483646 w 646"/>
                  <a:gd name="T69" fmla="*/ 2147483646 h 1861"/>
                  <a:gd name="T70" fmla="*/ 2147483646 w 646"/>
                  <a:gd name="T71" fmla="*/ 2147483646 h 1861"/>
                  <a:gd name="T72" fmla="*/ 2147483646 w 646"/>
                  <a:gd name="T73" fmla="*/ 2147483646 h 1861"/>
                  <a:gd name="T74" fmla="*/ 2147483646 w 646"/>
                  <a:gd name="T75" fmla="*/ 2147483646 h 1861"/>
                  <a:gd name="T76" fmla="*/ 0 w 646"/>
                  <a:gd name="T77" fmla="*/ 2147483646 h 1861"/>
                  <a:gd name="T78" fmla="*/ 0 w 646"/>
                  <a:gd name="T79" fmla="*/ 0 h 1861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646"/>
                  <a:gd name="T121" fmla="*/ 0 h 1861"/>
                  <a:gd name="T122" fmla="*/ 646 w 646"/>
                  <a:gd name="T123" fmla="*/ 1861 h 1861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646" h="1861">
                    <a:moveTo>
                      <a:pt x="0" y="0"/>
                    </a:moveTo>
                    <a:lnTo>
                      <a:pt x="48" y="14"/>
                    </a:lnTo>
                    <a:lnTo>
                      <a:pt x="98" y="32"/>
                    </a:lnTo>
                    <a:lnTo>
                      <a:pt x="147" y="54"/>
                    </a:lnTo>
                    <a:lnTo>
                      <a:pt x="195" y="81"/>
                    </a:lnTo>
                    <a:lnTo>
                      <a:pt x="242" y="111"/>
                    </a:lnTo>
                    <a:lnTo>
                      <a:pt x="288" y="147"/>
                    </a:lnTo>
                    <a:lnTo>
                      <a:pt x="333" y="185"/>
                    </a:lnTo>
                    <a:lnTo>
                      <a:pt x="377" y="228"/>
                    </a:lnTo>
                    <a:lnTo>
                      <a:pt x="418" y="275"/>
                    </a:lnTo>
                    <a:lnTo>
                      <a:pt x="457" y="325"/>
                    </a:lnTo>
                    <a:lnTo>
                      <a:pt x="493" y="379"/>
                    </a:lnTo>
                    <a:lnTo>
                      <a:pt x="526" y="437"/>
                    </a:lnTo>
                    <a:lnTo>
                      <a:pt x="555" y="497"/>
                    </a:lnTo>
                    <a:lnTo>
                      <a:pt x="582" y="562"/>
                    </a:lnTo>
                    <a:lnTo>
                      <a:pt x="604" y="630"/>
                    </a:lnTo>
                    <a:lnTo>
                      <a:pt x="621" y="700"/>
                    </a:lnTo>
                    <a:lnTo>
                      <a:pt x="634" y="774"/>
                    </a:lnTo>
                    <a:lnTo>
                      <a:pt x="642" y="851"/>
                    </a:lnTo>
                    <a:lnTo>
                      <a:pt x="646" y="930"/>
                    </a:lnTo>
                    <a:lnTo>
                      <a:pt x="643" y="1011"/>
                    </a:lnTo>
                    <a:lnTo>
                      <a:pt x="636" y="1086"/>
                    </a:lnTo>
                    <a:lnTo>
                      <a:pt x="623" y="1160"/>
                    </a:lnTo>
                    <a:lnTo>
                      <a:pt x="607" y="1230"/>
                    </a:lnTo>
                    <a:lnTo>
                      <a:pt x="585" y="1297"/>
                    </a:lnTo>
                    <a:lnTo>
                      <a:pt x="561" y="1361"/>
                    </a:lnTo>
                    <a:lnTo>
                      <a:pt x="533" y="1421"/>
                    </a:lnTo>
                    <a:lnTo>
                      <a:pt x="500" y="1478"/>
                    </a:lnTo>
                    <a:lnTo>
                      <a:pt x="466" y="1532"/>
                    </a:lnTo>
                    <a:lnTo>
                      <a:pt x="428" y="1582"/>
                    </a:lnTo>
                    <a:lnTo>
                      <a:pt x="388" y="1627"/>
                    </a:lnTo>
                    <a:lnTo>
                      <a:pt x="345" y="1670"/>
                    </a:lnTo>
                    <a:lnTo>
                      <a:pt x="301" y="1709"/>
                    </a:lnTo>
                    <a:lnTo>
                      <a:pt x="254" y="1744"/>
                    </a:lnTo>
                    <a:lnTo>
                      <a:pt x="205" y="1776"/>
                    </a:lnTo>
                    <a:lnTo>
                      <a:pt x="156" y="1803"/>
                    </a:lnTo>
                    <a:lnTo>
                      <a:pt x="104" y="1826"/>
                    </a:lnTo>
                    <a:lnTo>
                      <a:pt x="53" y="1846"/>
                    </a:lnTo>
                    <a:lnTo>
                      <a:pt x="0" y="186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00499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370" name="Freeform 8"/>
              <p:cNvSpPr>
                <a:spLocks/>
              </p:cNvSpPr>
              <p:nvPr/>
            </p:nvSpPr>
            <p:spPr bwMode="gray">
              <a:xfrm>
                <a:off x="4303713" y="2743200"/>
                <a:ext cx="1374775" cy="3962400"/>
              </a:xfrm>
              <a:custGeom>
                <a:avLst/>
                <a:gdLst>
                  <a:gd name="T0" fmla="*/ 0 w 646"/>
                  <a:gd name="T1" fmla="*/ 0 h 1861"/>
                  <a:gd name="T2" fmla="*/ 2147483646 w 646"/>
                  <a:gd name="T3" fmla="*/ 2147483646 h 1861"/>
                  <a:gd name="T4" fmla="*/ 2147483646 w 646"/>
                  <a:gd name="T5" fmla="*/ 2147483646 h 1861"/>
                  <a:gd name="T6" fmla="*/ 2147483646 w 646"/>
                  <a:gd name="T7" fmla="*/ 2147483646 h 1861"/>
                  <a:gd name="T8" fmla="*/ 2147483646 w 646"/>
                  <a:gd name="T9" fmla="*/ 2147483646 h 1861"/>
                  <a:gd name="T10" fmla="*/ 2147483646 w 646"/>
                  <a:gd name="T11" fmla="*/ 2147483646 h 1861"/>
                  <a:gd name="T12" fmla="*/ 2147483646 w 646"/>
                  <a:gd name="T13" fmla="*/ 2147483646 h 1861"/>
                  <a:gd name="T14" fmla="*/ 2147483646 w 646"/>
                  <a:gd name="T15" fmla="*/ 2147483646 h 1861"/>
                  <a:gd name="T16" fmla="*/ 2147483646 w 646"/>
                  <a:gd name="T17" fmla="*/ 2147483646 h 1861"/>
                  <a:gd name="T18" fmla="*/ 2147483646 w 646"/>
                  <a:gd name="T19" fmla="*/ 2147483646 h 1861"/>
                  <a:gd name="T20" fmla="*/ 2147483646 w 646"/>
                  <a:gd name="T21" fmla="*/ 2147483646 h 1861"/>
                  <a:gd name="T22" fmla="*/ 2147483646 w 646"/>
                  <a:gd name="T23" fmla="*/ 2147483646 h 1861"/>
                  <a:gd name="T24" fmla="*/ 2147483646 w 646"/>
                  <a:gd name="T25" fmla="*/ 2147483646 h 1861"/>
                  <a:gd name="T26" fmla="*/ 2147483646 w 646"/>
                  <a:gd name="T27" fmla="*/ 2147483646 h 1861"/>
                  <a:gd name="T28" fmla="*/ 2147483646 w 646"/>
                  <a:gd name="T29" fmla="*/ 2147483646 h 1861"/>
                  <a:gd name="T30" fmla="*/ 2147483646 w 646"/>
                  <a:gd name="T31" fmla="*/ 2147483646 h 1861"/>
                  <a:gd name="T32" fmla="*/ 2147483646 w 646"/>
                  <a:gd name="T33" fmla="*/ 2147483646 h 1861"/>
                  <a:gd name="T34" fmla="*/ 2147483646 w 646"/>
                  <a:gd name="T35" fmla="*/ 2147483646 h 1861"/>
                  <a:gd name="T36" fmla="*/ 2147483646 w 646"/>
                  <a:gd name="T37" fmla="*/ 2147483646 h 1861"/>
                  <a:gd name="T38" fmla="*/ 2147483646 w 646"/>
                  <a:gd name="T39" fmla="*/ 2147483646 h 1861"/>
                  <a:gd name="T40" fmla="*/ 2147483646 w 646"/>
                  <a:gd name="T41" fmla="*/ 2147483646 h 1861"/>
                  <a:gd name="T42" fmla="*/ 2147483646 w 646"/>
                  <a:gd name="T43" fmla="*/ 2147483646 h 1861"/>
                  <a:gd name="T44" fmla="*/ 2147483646 w 646"/>
                  <a:gd name="T45" fmla="*/ 2147483646 h 1861"/>
                  <a:gd name="T46" fmla="*/ 2147483646 w 646"/>
                  <a:gd name="T47" fmla="*/ 2147483646 h 1861"/>
                  <a:gd name="T48" fmla="*/ 2147483646 w 646"/>
                  <a:gd name="T49" fmla="*/ 2147483646 h 1861"/>
                  <a:gd name="T50" fmla="*/ 2147483646 w 646"/>
                  <a:gd name="T51" fmla="*/ 2147483646 h 1861"/>
                  <a:gd name="T52" fmla="*/ 2147483646 w 646"/>
                  <a:gd name="T53" fmla="*/ 2147483646 h 1861"/>
                  <a:gd name="T54" fmla="*/ 2147483646 w 646"/>
                  <a:gd name="T55" fmla="*/ 2147483646 h 1861"/>
                  <a:gd name="T56" fmla="*/ 2147483646 w 646"/>
                  <a:gd name="T57" fmla="*/ 2147483646 h 1861"/>
                  <a:gd name="T58" fmla="*/ 2147483646 w 646"/>
                  <a:gd name="T59" fmla="*/ 2147483646 h 1861"/>
                  <a:gd name="T60" fmla="*/ 2147483646 w 646"/>
                  <a:gd name="T61" fmla="*/ 2147483646 h 1861"/>
                  <a:gd name="T62" fmla="*/ 2147483646 w 646"/>
                  <a:gd name="T63" fmla="*/ 2147483646 h 1861"/>
                  <a:gd name="T64" fmla="*/ 2147483646 w 646"/>
                  <a:gd name="T65" fmla="*/ 2147483646 h 1861"/>
                  <a:gd name="T66" fmla="*/ 2147483646 w 646"/>
                  <a:gd name="T67" fmla="*/ 2147483646 h 1861"/>
                  <a:gd name="T68" fmla="*/ 2147483646 w 646"/>
                  <a:gd name="T69" fmla="*/ 2147483646 h 1861"/>
                  <a:gd name="T70" fmla="*/ 2147483646 w 646"/>
                  <a:gd name="T71" fmla="*/ 2147483646 h 1861"/>
                  <a:gd name="T72" fmla="*/ 2147483646 w 646"/>
                  <a:gd name="T73" fmla="*/ 2147483646 h 1861"/>
                  <a:gd name="T74" fmla="*/ 2147483646 w 646"/>
                  <a:gd name="T75" fmla="*/ 2147483646 h 1861"/>
                  <a:gd name="T76" fmla="*/ 0 w 646"/>
                  <a:gd name="T77" fmla="*/ 2147483646 h 1861"/>
                  <a:gd name="T78" fmla="*/ 0 w 646"/>
                  <a:gd name="T79" fmla="*/ 0 h 1861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646"/>
                  <a:gd name="T121" fmla="*/ 0 h 1861"/>
                  <a:gd name="T122" fmla="*/ 646 w 646"/>
                  <a:gd name="T123" fmla="*/ 1861 h 1861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646" h="1861">
                    <a:moveTo>
                      <a:pt x="0" y="0"/>
                    </a:moveTo>
                    <a:lnTo>
                      <a:pt x="48" y="14"/>
                    </a:lnTo>
                    <a:lnTo>
                      <a:pt x="98" y="32"/>
                    </a:lnTo>
                    <a:lnTo>
                      <a:pt x="147" y="54"/>
                    </a:lnTo>
                    <a:lnTo>
                      <a:pt x="195" y="81"/>
                    </a:lnTo>
                    <a:lnTo>
                      <a:pt x="242" y="111"/>
                    </a:lnTo>
                    <a:lnTo>
                      <a:pt x="288" y="147"/>
                    </a:lnTo>
                    <a:lnTo>
                      <a:pt x="333" y="185"/>
                    </a:lnTo>
                    <a:lnTo>
                      <a:pt x="377" y="228"/>
                    </a:lnTo>
                    <a:lnTo>
                      <a:pt x="418" y="275"/>
                    </a:lnTo>
                    <a:lnTo>
                      <a:pt x="457" y="325"/>
                    </a:lnTo>
                    <a:lnTo>
                      <a:pt x="493" y="379"/>
                    </a:lnTo>
                    <a:lnTo>
                      <a:pt x="526" y="437"/>
                    </a:lnTo>
                    <a:lnTo>
                      <a:pt x="555" y="497"/>
                    </a:lnTo>
                    <a:lnTo>
                      <a:pt x="582" y="562"/>
                    </a:lnTo>
                    <a:lnTo>
                      <a:pt x="604" y="630"/>
                    </a:lnTo>
                    <a:lnTo>
                      <a:pt x="621" y="700"/>
                    </a:lnTo>
                    <a:lnTo>
                      <a:pt x="634" y="774"/>
                    </a:lnTo>
                    <a:lnTo>
                      <a:pt x="642" y="851"/>
                    </a:lnTo>
                    <a:lnTo>
                      <a:pt x="646" y="930"/>
                    </a:lnTo>
                    <a:lnTo>
                      <a:pt x="643" y="1011"/>
                    </a:lnTo>
                    <a:lnTo>
                      <a:pt x="636" y="1086"/>
                    </a:lnTo>
                    <a:lnTo>
                      <a:pt x="623" y="1160"/>
                    </a:lnTo>
                    <a:lnTo>
                      <a:pt x="607" y="1230"/>
                    </a:lnTo>
                    <a:lnTo>
                      <a:pt x="585" y="1297"/>
                    </a:lnTo>
                    <a:lnTo>
                      <a:pt x="561" y="1361"/>
                    </a:lnTo>
                    <a:lnTo>
                      <a:pt x="533" y="1421"/>
                    </a:lnTo>
                    <a:lnTo>
                      <a:pt x="500" y="1478"/>
                    </a:lnTo>
                    <a:lnTo>
                      <a:pt x="466" y="1532"/>
                    </a:lnTo>
                    <a:lnTo>
                      <a:pt x="428" y="1582"/>
                    </a:lnTo>
                    <a:lnTo>
                      <a:pt x="388" y="1627"/>
                    </a:lnTo>
                    <a:lnTo>
                      <a:pt x="345" y="1670"/>
                    </a:lnTo>
                    <a:lnTo>
                      <a:pt x="301" y="1709"/>
                    </a:lnTo>
                    <a:lnTo>
                      <a:pt x="254" y="1744"/>
                    </a:lnTo>
                    <a:lnTo>
                      <a:pt x="205" y="1776"/>
                    </a:lnTo>
                    <a:lnTo>
                      <a:pt x="156" y="1803"/>
                    </a:lnTo>
                    <a:lnTo>
                      <a:pt x="104" y="1826"/>
                    </a:lnTo>
                    <a:lnTo>
                      <a:pt x="53" y="1846"/>
                    </a:lnTo>
                    <a:lnTo>
                      <a:pt x="0" y="186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D5DDF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371" name="Freeform 9"/>
              <p:cNvSpPr>
                <a:spLocks/>
              </p:cNvSpPr>
              <p:nvPr/>
            </p:nvSpPr>
            <p:spPr bwMode="gray">
              <a:xfrm rot="6256290">
                <a:off x="2436812" y="1830388"/>
                <a:ext cx="1374775" cy="3962400"/>
              </a:xfrm>
              <a:custGeom>
                <a:avLst/>
                <a:gdLst>
                  <a:gd name="T0" fmla="*/ 0 w 646"/>
                  <a:gd name="T1" fmla="*/ 0 h 1861"/>
                  <a:gd name="T2" fmla="*/ 2147483646 w 646"/>
                  <a:gd name="T3" fmla="*/ 2147483646 h 1861"/>
                  <a:gd name="T4" fmla="*/ 2147483646 w 646"/>
                  <a:gd name="T5" fmla="*/ 2147483646 h 1861"/>
                  <a:gd name="T6" fmla="*/ 2147483646 w 646"/>
                  <a:gd name="T7" fmla="*/ 2147483646 h 1861"/>
                  <a:gd name="T8" fmla="*/ 2147483646 w 646"/>
                  <a:gd name="T9" fmla="*/ 2147483646 h 1861"/>
                  <a:gd name="T10" fmla="*/ 2147483646 w 646"/>
                  <a:gd name="T11" fmla="*/ 2147483646 h 1861"/>
                  <a:gd name="T12" fmla="*/ 2147483646 w 646"/>
                  <a:gd name="T13" fmla="*/ 2147483646 h 1861"/>
                  <a:gd name="T14" fmla="*/ 2147483646 w 646"/>
                  <a:gd name="T15" fmla="*/ 2147483646 h 1861"/>
                  <a:gd name="T16" fmla="*/ 2147483646 w 646"/>
                  <a:gd name="T17" fmla="*/ 2147483646 h 1861"/>
                  <a:gd name="T18" fmla="*/ 2147483646 w 646"/>
                  <a:gd name="T19" fmla="*/ 2147483646 h 1861"/>
                  <a:gd name="T20" fmla="*/ 2147483646 w 646"/>
                  <a:gd name="T21" fmla="*/ 2147483646 h 1861"/>
                  <a:gd name="T22" fmla="*/ 2147483646 w 646"/>
                  <a:gd name="T23" fmla="*/ 2147483646 h 1861"/>
                  <a:gd name="T24" fmla="*/ 2147483646 w 646"/>
                  <a:gd name="T25" fmla="*/ 2147483646 h 1861"/>
                  <a:gd name="T26" fmla="*/ 2147483646 w 646"/>
                  <a:gd name="T27" fmla="*/ 2147483646 h 1861"/>
                  <a:gd name="T28" fmla="*/ 2147483646 w 646"/>
                  <a:gd name="T29" fmla="*/ 2147483646 h 1861"/>
                  <a:gd name="T30" fmla="*/ 2147483646 w 646"/>
                  <a:gd name="T31" fmla="*/ 2147483646 h 1861"/>
                  <a:gd name="T32" fmla="*/ 2147483646 w 646"/>
                  <a:gd name="T33" fmla="*/ 2147483646 h 1861"/>
                  <a:gd name="T34" fmla="*/ 2147483646 w 646"/>
                  <a:gd name="T35" fmla="*/ 2147483646 h 1861"/>
                  <a:gd name="T36" fmla="*/ 2147483646 w 646"/>
                  <a:gd name="T37" fmla="*/ 2147483646 h 1861"/>
                  <a:gd name="T38" fmla="*/ 2147483646 w 646"/>
                  <a:gd name="T39" fmla="*/ 2147483646 h 1861"/>
                  <a:gd name="T40" fmla="*/ 2147483646 w 646"/>
                  <a:gd name="T41" fmla="*/ 2147483646 h 1861"/>
                  <a:gd name="T42" fmla="*/ 2147483646 w 646"/>
                  <a:gd name="T43" fmla="*/ 2147483646 h 1861"/>
                  <a:gd name="T44" fmla="*/ 2147483646 w 646"/>
                  <a:gd name="T45" fmla="*/ 2147483646 h 1861"/>
                  <a:gd name="T46" fmla="*/ 2147483646 w 646"/>
                  <a:gd name="T47" fmla="*/ 2147483646 h 1861"/>
                  <a:gd name="T48" fmla="*/ 2147483646 w 646"/>
                  <a:gd name="T49" fmla="*/ 2147483646 h 1861"/>
                  <a:gd name="T50" fmla="*/ 2147483646 w 646"/>
                  <a:gd name="T51" fmla="*/ 2147483646 h 1861"/>
                  <a:gd name="T52" fmla="*/ 2147483646 w 646"/>
                  <a:gd name="T53" fmla="*/ 2147483646 h 1861"/>
                  <a:gd name="T54" fmla="*/ 2147483646 w 646"/>
                  <a:gd name="T55" fmla="*/ 2147483646 h 1861"/>
                  <a:gd name="T56" fmla="*/ 2147483646 w 646"/>
                  <a:gd name="T57" fmla="*/ 2147483646 h 1861"/>
                  <a:gd name="T58" fmla="*/ 2147483646 w 646"/>
                  <a:gd name="T59" fmla="*/ 2147483646 h 1861"/>
                  <a:gd name="T60" fmla="*/ 2147483646 w 646"/>
                  <a:gd name="T61" fmla="*/ 2147483646 h 1861"/>
                  <a:gd name="T62" fmla="*/ 2147483646 w 646"/>
                  <a:gd name="T63" fmla="*/ 2147483646 h 1861"/>
                  <a:gd name="T64" fmla="*/ 2147483646 w 646"/>
                  <a:gd name="T65" fmla="*/ 2147483646 h 1861"/>
                  <a:gd name="T66" fmla="*/ 2147483646 w 646"/>
                  <a:gd name="T67" fmla="*/ 2147483646 h 1861"/>
                  <a:gd name="T68" fmla="*/ 2147483646 w 646"/>
                  <a:gd name="T69" fmla="*/ 2147483646 h 1861"/>
                  <a:gd name="T70" fmla="*/ 2147483646 w 646"/>
                  <a:gd name="T71" fmla="*/ 2147483646 h 1861"/>
                  <a:gd name="T72" fmla="*/ 2147483646 w 646"/>
                  <a:gd name="T73" fmla="*/ 2147483646 h 1861"/>
                  <a:gd name="T74" fmla="*/ 2147483646 w 646"/>
                  <a:gd name="T75" fmla="*/ 2147483646 h 1861"/>
                  <a:gd name="T76" fmla="*/ 0 w 646"/>
                  <a:gd name="T77" fmla="*/ 2147483646 h 1861"/>
                  <a:gd name="T78" fmla="*/ 0 w 646"/>
                  <a:gd name="T79" fmla="*/ 0 h 1861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646"/>
                  <a:gd name="T121" fmla="*/ 0 h 1861"/>
                  <a:gd name="T122" fmla="*/ 646 w 646"/>
                  <a:gd name="T123" fmla="*/ 1861 h 1861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646" h="1861">
                    <a:moveTo>
                      <a:pt x="0" y="0"/>
                    </a:moveTo>
                    <a:lnTo>
                      <a:pt x="48" y="14"/>
                    </a:lnTo>
                    <a:lnTo>
                      <a:pt x="98" y="32"/>
                    </a:lnTo>
                    <a:lnTo>
                      <a:pt x="147" y="54"/>
                    </a:lnTo>
                    <a:lnTo>
                      <a:pt x="195" y="81"/>
                    </a:lnTo>
                    <a:lnTo>
                      <a:pt x="242" y="111"/>
                    </a:lnTo>
                    <a:lnTo>
                      <a:pt x="288" y="147"/>
                    </a:lnTo>
                    <a:lnTo>
                      <a:pt x="333" y="185"/>
                    </a:lnTo>
                    <a:lnTo>
                      <a:pt x="377" y="228"/>
                    </a:lnTo>
                    <a:lnTo>
                      <a:pt x="418" y="275"/>
                    </a:lnTo>
                    <a:lnTo>
                      <a:pt x="457" y="325"/>
                    </a:lnTo>
                    <a:lnTo>
                      <a:pt x="493" y="379"/>
                    </a:lnTo>
                    <a:lnTo>
                      <a:pt x="526" y="437"/>
                    </a:lnTo>
                    <a:lnTo>
                      <a:pt x="555" y="497"/>
                    </a:lnTo>
                    <a:lnTo>
                      <a:pt x="582" y="562"/>
                    </a:lnTo>
                    <a:lnTo>
                      <a:pt x="604" y="630"/>
                    </a:lnTo>
                    <a:lnTo>
                      <a:pt x="621" y="700"/>
                    </a:lnTo>
                    <a:lnTo>
                      <a:pt x="634" y="774"/>
                    </a:lnTo>
                    <a:lnTo>
                      <a:pt x="642" y="851"/>
                    </a:lnTo>
                    <a:lnTo>
                      <a:pt x="646" y="930"/>
                    </a:lnTo>
                    <a:lnTo>
                      <a:pt x="643" y="1011"/>
                    </a:lnTo>
                    <a:lnTo>
                      <a:pt x="636" y="1086"/>
                    </a:lnTo>
                    <a:lnTo>
                      <a:pt x="623" y="1160"/>
                    </a:lnTo>
                    <a:lnTo>
                      <a:pt x="607" y="1230"/>
                    </a:lnTo>
                    <a:lnTo>
                      <a:pt x="585" y="1297"/>
                    </a:lnTo>
                    <a:lnTo>
                      <a:pt x="561" y="1361"/>
                    </a:lnTo>
                    <a:lnTo>
                      <a:pt x="533" y="1421"/>
                    </a:lnTo>
                    <a:lnTo>
                      <a:pt x="500" y="1478"/>
                    </a:lnTo>
                    <a:lnTo>
                      <a:pt x="466" y="1532"/>
                    </a:lnTo>
                    <a:lnTo>
                      <a:pt x="428" y="1582"/>
                    </a:lnTo>
                    <a:lnTo>
                      <a:pt x="388" y="1627"/>
                    </a:lnTo>
                    <a:lnTo>
                      <a:pt x="345" y="1670"/>
                    </a:lnTo>
                    <a:lnTo>
                      <a:pt x="301" y="1709"/>
                    </a:lnTo>
                    <a:lnTo>
                      <a:pt x="254" y="1744"/>
                    </a:lnTo>
                    <a:lnTo>
                      <a:pt x="205" y="1776"/>
                    </a:lnTo>
                    <a:lnTo>
                      <a:pt x="156" y="1803"/>
                    </a:lnTo>
                    <a:lnTo>
                      <a:pt x="104" y="1826"/>
                    </a:lnTo>
                    <a:lnTo>
                      <a:pt x="53" y="1846"/>
                    </a:lnTo>
                    <a:lnTo>
                      <a:pt x="0" y="1861"/>
                    </a:lnTo>
                    <a:lnTo>
                      <a:pt x="0" y="0"/>
                    </a:lnTo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A2EAE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15372" name="Group 11"/>
              <p:cNvGrpSpPr>
                <a:grpSpLocks/>
              </p:cNvGrpSpPr>
              <p:nvPr/>
            </p:nvGrpSpPr>
            <p:grpSpPr bwMode="auto">
              <a:xfrm>
                <a:off x="3595688" y="2709863"/>
                <a:ext cx="1600200" cy="1600200"/>
                <a:chOff x="2016" y="1920"/>
                <a:chExt cx="1680" cy="1680"/>
              </a:xfrm>
            </p:grpSpPr>
            <p:sp>
              <p:nvSpPr>
                <p:cNvPr id="15377" name="Oval 12"/>
                <p:cNvSpPr>
                  <a:spLocks noChangeArrowheads="1"/>
                </p:cNvSpPr>
                <p:nvPr/>
              </p:nvSpPr>
              <p:spPr bwMode="gray">
                <a:xfrm>
                  <a:off x="2016" y="1920"/>
                  <a:ext cx="1680" cy="16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14343"/>
                    </a:gs>
                    <a:gs pos="100000">
                      <a:srgbClr val="6E1E1E"/>
                    </a:gs>
                  </a:gsLst>
                  <a:lin ang="5400000" scaled="1"/>
                </a:gradFill>
                <a:ln w="38100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latinLnBrk="1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£"/>
                    <a:defRPr kumimoji="1" sz="28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1pPr>
                  <a:lvl2pPr marL="742950" indent="-285750" latinLnBrk="1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2pPr>
                  <a:lvl3pPr marL="1143000" indent="-228600" latinLnBrk="1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4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3pPr>
                  <a:lvl4pPr marL="1600200" indent="-228600" latinLnBrk="1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4pPr>
                  <a:lvl5pPr marL="2057400" indent="-228600" latinLnBrk="1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MD솔체" pitchFamily="18" charset="-127"/>
                      <a:ea typeface="HY동녘M" pitchFamily="18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en-US" sz="2400">
                    <a:latin typeface="굴림" panose="020B0600000101010101" pitchFamily="50" charset="-127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15378" name="Freeform 13"/>
                <p:cNvSpPr>
                  <a:spLocks/>
                </p:cNvSpPr>
                <p:nvPr/>
              </p:nvSpPr>
              <p:spPr bwMode="gray">
                <a:xfrm>
                  <a:off x="2208" y="1948"/>
                  <a:ext cx="1296" cy="634"/>
                </a:xfrm>
                <a:custGeom>
                  <a:avLst/>
                  <a:gdLst>
                    <a:gd name="T0" fmla="*/ 958 w 1321"/>
                    <a:gd name="T1" fmla="*/ 62 h 712"/>
                    <a:gd name="T2" fmla="*/ 970 w 1321"/>
                    <a:gd name="T3" fmla="*/ 69 h 712"/>
                    <a:gd name="T4" fmla="*/ 973 w 1321"/>
                    <a:gd name="T5" fmla="*/ 75 h 712"/>
                    <a:gd name="T6" fmla="*/ 968 w 1321"/>
                    <a:gd name="T7" fmla="*/ 81 h 712"/>
                    <a:gd name="T8" fmla="*/ 956 w 1321"/>
                    <a:gd name="T9" fmla="*/ 85 h 712"/>
                    <a:gd name="T10" fmla="*/ 937 w 1321"/>
                    <a:gd name="T11" fmla="*/ 91 h 712"/>
                    <a:gd name="T12" fmla="*/ 912 w 1321"/>
                    <a:gd name="T13" fmla="*/ 94 h 712"/>
                    <a:gd name="T14" fmla="*/ 881 w 1321"/>
                    <a:gd name="T15" fmla="*/ 98 h 712"/>
                    <a:gd name="T16" fmla="*/ 845 w 1321"/>
                    <a:gd name="T17" fmla="*/ 102 h 712"/>
                    <a:gd name="T18" fmla="*/ 804 w 1321"/>
                    <a:gd name="T19" fmla="*/ 105 h 712"/>
                    <a:gd name="T20" fmla="*/ 759 w 1321"/>
                    <a:gd name="T21" fmla="*/ 106 h 712"/>
                    <a:gd name="T22" fmla="*/ 712 w 1321"/>
                    <a:gd name="T23" fmla="*/ 107 h 712"/>
                    <a:gd name="T24" fmla="*/ 660 w 1321"/>
                    <a:gd name="T25" fmla="*/ 110 h 712"/>
                    <a:gd name="T26" fmla="*/ 607 w 1321"/>
                    <a:gd name="T27" fmla="*/ 111 h 712"/>
                    <a:gd name="T28" fmla="*/ 586 w 1321"/>
                    <a:gd name="T29" fmla="*/ 112 h 712"/>
                    <a:gd name="T30" fmla="*/ 351 w 1321"/>
                    <a:gd name="T31" fmla="*/ 112 h 712"/>
                    <a:gd name="T32" fmla="*/ 347 w 1321"/>
                    <a:gd name="T33" fmla="*/ 112 h 712"/>
                    <a:gd name="T34" fmla="*/ 301 w 1321"/>
                    <a:gd name="T35" fmla="*/ 111 h 712"/>
                    <a:gd name="T36" fmla="*/ 257 w 1321"/>
                    <a:gd name="T37" fmla="*/ 110 h 712"/>
                    <a:gd name="T38" fmla="*/ 215 w 1321"/>
                    <a:gd name="T39" fmla="*/ 109 h 712"/>
                    <a:gd name="T40" fmla="*/ 174 w 1321"/>
                    <a:gd name="T41" fmla="*/ 106 h 712"/>
                    <a:gd name="T42" fmla="*/ 137 w 1321"/>
                    <a:gd name="T43" fmla="*/ 106 h 712"/>
                    <a:gd name="T44" fmla="*/ 106 w 1321"/>
                    <a:gd name="T45" fmla="*/ 103 h 712"/>
                    <a:gd name="T46" fmla="*/ 74 w 1321"/>
                    <a:gd name="T47" fmla="*/ 101 h 712"/>
                    <a:gd name="T48" fmla="*/ 51 w 1321"/>
                    <a:gd name="T49" fmla="*/ 99 h 712"/>
                    <a:gd name="T50" fmla="*/ 26 w 1321"/>
                    <a:gd name="T51" fmla="*/ 94 h 712"/>
                    <a:gd name="T52" fmla="*/ 18 w 1321"/>
                    <a:gd name="T53" fmla="*/ 91 h 712"/>
                    <a:gd name="T54" fmla="*/ 6 w 1321"/>
                    <a:gd name="T55" fmla="*/ 87 h 712"/>
                    <a:gd name="T56" fmla="*/ 0 w 1321"/>
                    <a:gd name="T57" fmla="*/ 82 h 712"/>
                    <a:gd name="T58" fmla="*/ 0 w 1321"/>
                    <a:gd name="T59" fmla="*/ 81 h 712"/>
                    <a:gd name="T60" fmla="*/ 4 w 1321"/>
                    <a:gd name="T61" fmla="*/ 75 h 712"/>
                    <a:gd name="T62" fmla="*/ 16 w 1321"/>
                    <a:gd name="T63" fmla="*/ 69 h 712"/>
                    <a:gd name="T64" fmla="*/ 35 w 1321"/>
                    <a:gd name="T65" fmla="*/ 58 h 712"/>
                    <a:gd name="T66" fmla="*/ 70 w 1321"/>
                    <a:gd name="T67" fmla="*/ 47 h 712"/>
                    <a:gd name="T68" fmla="*/ 110 w 1321"/>
                    <a:gd name="T69" fmla="*/ 37 h 712"/>
                    <a:gd name="T70" fmla="*/ 151 w 1321"/>
                    <a:gd name="T71" fmla="*/ 27 h 712"/>
                    <a:gd name="T72" fmla="*/ 199 w 1321"/>
                    <a:gd name="T73" fmla="*/ 19 h 712"/>
                    <a:gd name="T74" fmla="*/ 252 w 1321"/>
                    <a:gd name="T75" fmla="*/ 12 h 712"/>
                    <a:gd name="T76" fmla="*/ 306 w 1321"/>
                    <a:gd name="T77" fmla="*/ 7 h 712"/>
                    <a:gd name="T78" fmla="*/ 367 w 1321"/>
                    <a:gd name="T79" fmla="*/ 4 h 712"/>
                    <a:gd name="T80" fmla="*/ 428 w 1321"/>
                    <a:gd name="T81" fmla="*/ 4 h 712"/>
                    <a:gd name="T82" fmla="*/ 492 w 1321"/>
                    <a:gd name="T83" fmla="*/ 0 h 712"/>
                    <a:gd name="T84" fmla="*/ 492 w 1321"/>
                    <a:gd name="T85" fmla="*/ 0 h 712"/>
                    <a:gd name="T86" fmla="*/ 559 w 1321"/>
                    <a:gd name="T87" fmla="*/ 4 h 712"/>
                    <a:gd name="T88" fmla="*/ 624 w 1321"/>
                    <a:gd name="T89" fmla="*/ 4 h 712"/>
                    <a:gd name="T90" fmla="*/ 687 w 1321"/>
                    <a:gd name="T91" fmla="*/ 8 h 712"/>
                    <a:gd name="T92" fmla="*/ 745 w 1321"/>
                    <a:gd name="T93" fmla="*/ 14 h 712"/>
                    <a:gd name="T94" fmla="*/ 797 w 1321"/>
                    <a:gd name="T95" fmla="*/ 21 h 712"/>
                    <a:gd name="T96" fmla="*/ 846 w 1321"/>
                    <a:gd name="T97" fmla="*/ 30 h 712"/>
                    <a:gd name="T98" fmla="*/ 890 w 1321"/>
                    <a:gd name="T99" fmla="*/ 40 h 712"/>
                    <a:gd name="T100" fmla="*/ 927 w 1321"/>
                    <a:gd name="T101" fmla="*/ 51 h 712"/>
                    <a:gd name="T102" fmla="*/ 958 w 1321"/>
                    <a:gd name="T103" fmla="*/ 62 h 712"/>
                    <a:gd name="T104" fmla="*/ 958 w 1321"/>
                    <a:gd name="T105" fmla="*/ 62 h 712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w 1321"/>
                    <a:gd name="T160" fmla="*/ 0 h 712"/>
                    <a:gd name="T161" fmla="*/ 1321 w 1321"/>
                    <a:gd name="T162" fmla="*/ 712 h 712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T159" t="T160" r="T161" b="T162"/>
                  <a:pathLst>
                    <a:path w="1321" h="712">
                      <a:moveTo>
                        <a:pt x="1301" y="401"/>
                      </a:moveTo>
                      <a:lnTo>
                        <a:pt x="1317" y="442"/>
                      </a:lnTo>
                      <a:lnTo>
                        <a:pt x="1321" y="481"/>
                      </a:lnTo>
                      <a:lnTo>
                        <a:pt x="1315" y="516"/>
                      </a:lnTo>
                      <a:lnTo>
                        <a:pt x="1298" y="550"/>
                      </a:lnTo>
                      <a:lnTo>
                        <a:pt x="1272" y="579"/>
                      </a:lnTo>
                      <a:lnTo>
                        <a:pt x="1239" y="604"/>
                      </a:lnTo>
                      <a:lnTo>
                        <a:pt x="1196" y="628"/>
                      </a:lnTo>
                      <a:lnTo>
                        <a:pt x="1147" y="649"/>
                      </a:lnTo>
                      <a:lnTo>
                        <a:pt x="1092" y="667"/>
                      </a:lnTo>
                      <a:lnTo>
                        <a:pt x="1031" y="683"/>
                      </a:lnTo>
                      <a:lnTo>
                        <a:pt x="967" y="694"/>
                      </a:lnTo>
                      <a:lnTo>
                        <a:pt x="896" y="704"/>
                      </a:lnTo>
                      <a:lnTo>
                        <a:pt x="824" y="710"/>
                      </a:lnTo>
                      <a:lnTo>
                        <a:pt x="795" y="712"/>
                      </a:lnTo>
                      <a:lnTo>
                        <a:pt x="476" y="712"/>
                      </a:lnTo>
                      <a:lnTo>
                        <a:pt x="472" y="712"/>
                      </a:lnTo>
                      <a:lnTo>
                        <a:pt x="409" y="708"/>
                      </a:lnTo>
                      <a:lnTo>
                        <a:pt x="348" y="704"/>
                      </a:lnTo>
                      <a:lnTo>
                        <a:pt x="290" y="696"/>
                      </a:lnTo>
                      <a:lnTo>
                        <a:pt x="235" y="689"/>
                      </a:lnTo>
                      <a:lnTo>
                        <a:pt x="186" y="677"/>
                      </a:lnTo>
                      <a:lnTo>
                        <a:pt x="141" y="663"/>
                      </a:lnTo>
                      <a:lnTo>
                        <a:pt x="102" y="648"/>
                      </a:lnTo>
                      <a:lnTo>
                        <a:pt x="67" y="630"/>
                      </a:lnTo>
                      <a:lnTo>
                        <a:pt x="39" y="608"/>
                      </a:lnTo>
                      <a:lnTo>
                        <a:pt x="18" y="583"/>
                      </a:lnTo>
                      <a:lnTo>
                        <a:pt x="6" y="554"/>
                      </a:lnTo>
                      <a:lnTo>
                        <a:pt x="0" y="524"/>
                      </a:lnTo>
                      <a:lnTo>
                        <a:pt x="0" y="520"/>
                      </a:lnTo>
                      <a:lnTo>
                        <a:pt x="4" y="487"/>
                      </a:lnTo>
                      <a:lnTo>
                        <a:pt x="16" y="446"/>
                      </a:lnTo>
                      <a:lnTo>
                        <a:pt x="51" y="370"/>
                      </a:lnTo>
                      <a:lnTo>
                        <a:pt x="94" y="299"/>
                      </a:lnTo>
                      <a:lnTo>
                        <a:pt x="147" y="235"/>
                      </a:lnTo>
                      <a:lnTo>
                        <a:pt x="204" y="176"/>
                      </a:lnTo>
                      <a:lnTo>
                        <a:pt x="270" y="125"/>
                      </a:lnTo>
                      <a:lnTo>
                        <a:pt x="341" y="82"/>
                      </a:lnTo>
                      <a:lnTo>
                        <a:pt x="415" y="47"/>
                      </a:lnTo>
                      <a:lnTo>
                        <a:pt x="497" y="21"/>
                      </a:lnTo>
                      <a:lnTo>
                        <a:pt x="581" y="6"/>
                      </a:lnTo>
                      <a:lnTo>
                        <a:pt x="667" y="0"/>
                      </a:lnTo>
                      <a:lnTo>
                        <a:pt x="759" y="6"/>
                      </a:lnTo>
                      <a:lnTo>
                        <a:pt x="847" y="23"/>
                      </a:lnTo>
                      <a:lnTo>
                        <a:pt x="932" y="53"/>
                      </a:lnTo>
                      <a:lnTo>
                        <a:pt x="1010" y="90"/>
                      </a:lnTo>
                      <a:lnTo>
                        <a:pt x="1082" y="137"/>
                      </a:lnTo>
                      <a:lnTo>
                        <a:pt x="1149" y="194"/>
                      </a:lnTo>
                      <a:lnTo>
                        <a:pt x="1208" y="256"/>
                      </a:lnTo>
                      <a:lnTo>
                        <a:pt x="1258" y="325"/>
                      </a:lnTo>
                      <a:lnTo>
                        <a:pt x="1301" y="401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FFFFFF"/>
                    </a:gs>
                    <a:gs pos="100000">
                      <a:srgbClr val="F14343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2" name="Text Box 14"/>
              <p:cNvSpPr txBox="1">
                <a:spLocks noChangeArrowheads="1"/>
              </p:cNvSpPr>
              <p:nvPr/>
            </p:nvSpPr>
            <p:spPr bwMode="gray">
              <a:xfrm>
                <a:off x="3858164" y="3286059"/>
                <a:ext cx="1199137" cy="46112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HY동녘M" pitchFamily="18" charset="-127"/>
                    <a:ea typeface="HY동녘M" pitchFamily="18" charset="-127"/>
                  </a:rPr>
                  <a:t>ER</a:t>
                </a:r>
                <a:r>
                  <a:rPr lang="ko-KR" altLang="en-US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HY동녘M" pitchFamily="18" charset="-127"/>
                    <a:ea typeface="HY동녘M" pitchFamily="18" charset="-127"/>
                  </a:rPr>
                  <a:t>모델</a:t>
                </a:r>
                <a:endParaRPr lang="en-US" altLang="ko-KR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HY동녘M" pitchFamily="18" charset="-127"/>
                  <a:ea typeface="HY동녘M" pitchFamily="18" charset="-127"/>
                </a:endParaRPr>
              </a:p>
            </p:txBody>
          </p:sp>
          <p:sp>
            <p:nvSpPr>
              <p:cNvPr id="15374" name="Text Box 15"/>
              <p:cNvSpPr txBox="1">
                <a:spLocks noChangeArrowheads="1"/>
              </p:cNvSpPr>
              <p:nvPr/>
            </p:nvSpPr>
            <p:spPr bwMode="gray">
              <a:xfrm>
                <a:off x="2123052" y="2895600"/>
                <a:ext cx="155202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£"/>
                  <a:defRPr kumimoji="1" sz="28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2000">
                    <a:solidFill>
                      <a:srgbClr val="000000"/>
                    </a:solidFill>
                    <a:latin typeface="HY동녘M" pitchFamily="18" charset="-127"/>
                  </a:rPr>
                  <a:t>강한 표현력</a:t>
                </a:r>
                <a:endParaRPr lang="en-US" altLang="ko-KR" sz="2000">
                  <a:solidFill>
                    <a:srgbClr val="000000"/>
                  </a:solidFill>
                  <a:latin typeface="HY동녘M" pitchFamily="18" charset="-127"/>
                </a:endParaRPr>
              </a:p>
            </p:txBody>
          </p:sp>
          <p:sp>
            <p:nvSpPr>
              <p:cNvPr id="15375" name="Text Box 16"/>
              <p:cNvSpPr txBox="1">
                <a:spLocks noChangeArrowheads="1"/>
              </p:cNvSpPr>
              <p:nvPr/>
            </p:nvSpPr>
            <p:spPr bwMode="gray">
              <a:xfrm>
                <a:off x="5334000" y="1905000"/>
                <a:ext cx="180850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£"/>
                  <a:defRPr kumimoji="1" sz="28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2000">
                    <a:solidFill>
                      <a:srgbClr val="000000"/>
                    </a:solidFill>
                    <a:latin typeface="HY동녘M" pitchFamily="18" charset="-127"/>
                  </a:rPr>
                  <a:t>고도의 추상화</a:t>
                </a:r>
                <a:endParaRPr lang="en-US" altLang="ko-KR" sz="2000">
                  <a:solidFill>
                    <a:srgbClr val="000000"/>
                  </a:solidFill>
                  <a:latin typeface="HY동녘M" pitchFamily="18" charset="-127"/>
                </a:endParaRPr>
              </a:p>
            </p:txBody>
          </p:sp>
          <p:sp>
            <p:nvSpPr>
              <p:cNvPr id="15376" name="Text Box 17"/>
              <p:cNvSpPr txBox="1">
                <a:spLocks noChangeArrowheads="1"/>
              </p:cNvSpPr>
              <p:nvPr/>
            </p:nvSpPr>
            <p:spPr bwMode="gray">
              <a:xfrm>
                <a:off x="4092439" y="5029200"/>
                <a:ext cx="129554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£"/>
                  <a:defRPr kumimoji="1" sz="28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itchFamily="18" charset="-127"/>
                    <a:ea typeface="HY동녘M" pitchFamily="18" charset="-127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2000">
                    <a:solidFill>
                      <a:srgbClr val="000000"/>
                    </a:solidFill>
                    <a:latin typeface="HY동녘M" pitchFamily="18" charset="-127"/>
                  </a:rPr>
                  <a:t>이해 용이</a:t>
                </a:r>
                <a:endParaRPr lang="en-US" altLang="ko-KR" sz="2000">
                  <a:solidFill>
                    <a:srgbClr val="000000"/>
                  </a:solidFill>
                  <a:latin typeface="HY동녘M" pitchFamily="18" charset="-127"/>
                </a:endParaRPr>
              </a:p>
            </p:txBody>
          </p:sp>
        </p:grpSp>
      </p:grpSp>
      <p:sp>
        <p:nvSpPr>
          <p:cNvPr id="15365" name="TextBox 18"/>
          <p:cNvSpPr txBox="1">
            <a:spLocks noChangeArrowheads="1"/>
          </p:cNvSpPr>
          <p:nvPr/>
        </p:nvSpPr>
        <p:spPr bwMode="auto">
          <a:xfrm>
            <a:off x="714375" y="1428750"/>
            <a:ext cx="8224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400" b="1">
                <a:latin typeface="HY동녘M" pitchFamily="18" charset="-127"/>
              </a:rPr>
              <a:t>실세계를 엔티티</a:t>
            </a:r>
            <a:r>
              <a:rPr lang="en-US" altLang="ko-KR" sz="2400" b="1">
                <a:latin typeface="HY동녘M" pitchFamily="18" charset="-127"/>
              </a:rPr>
              <a:t>, </a:t>
            </a:r>
            <a:r>
              <a:rPr lang="ko-KR" altLang="en-US" sz="2400" b="1">
                <a:latin typeface="HY동녘M" pitchFamily="18" charset="-127"/>
              </a:rPr>
              <a:t>애트리뷰트</a:t>
            </a:r>
            <a:r>
              <a:rPr lang="en-US" altLang="ko-KR" sz="2400" b="1">
                <a:latin typeface="HY동녘M" pitchFamily="18" charset="-127"/>
              </a:rPr>
              <a:t>, </a:t>
            </a:r>
            <a:r>
              <a:rPr lang="ko-KR" altLang="en-US" sz="2400" b="1">
                <a:latin typeface="HY동녘M" pitchFamily="18" charset="-127"/>
              </a:rPr>
              <a:t>엔티티들 간의 관계로 표현함</a:t>
            </a:r>
            <a:endParaRPr lang="ko-KR" altLang="en-US" sz="2400">
              <a:latin typeface="HY동녘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233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609"/>
    </mc:Choice>
    <mc:Fallback xmlns="">
      <p:transition spd="slow" advTm="16860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ER </a:t>
            </a:r>
            <a:r>
              <a:rPr lang="ko-KR" altLang="en-US"/>
              <a:t>모델의 요소</a:t>
            </a:r>
          </a:p>
        </p:txBody>
      </p:sp>
      <p:sp>
        <p:nvSpPr>
          <p:cNvPr id="17411" name="AutoShape 21"/>
          <p:cNvSpPr>
            <a:spLocks noChangeArrowheads="1"/>
          </p:cNvSpPr>
          <p:nvPr/>
        </p:nvSpPr>
        <p:spPr bwMode="gray">
          <a:xfrm>
            <a:off x="3124200" y="2635250"/>
            <a:ext cx="2798763" cy="2420938"/>
          </a:xfrm>
          <a:prstGeom prst="triangle">
            <a:avLst>
              <a:gd name="adj" fmla="val 50000"/>
            </a:avLst>
          </a:prstGeom>
          <a:noFill/>
          <a:ln w="25400" algn="ctr">
            <a:solidFill>
              <a:srgbClr val="92915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7412" name="Group 5"/>
          <p:cNvGrpSpPr>
            <a:grpSpLocks/>
          </p:cNvGrpSpPr>
          <p:nvPr/>
        </p:nvGrpSpPr>
        <p:grpSpPr bwMode="auto">
          <a:xfrm>
            <a:off x="3429000" y="1752600"/>
            <a:ext cx="2125663" cy="1852613"/>
            <a:chOff x="2057" y="862"/>
            <a:chExt cx="1549" cy="1351"/>
          </a:xfrm>
        </p:grpSpPr>
        <p:sp>
          <p:nvSpPr>
            <p:cNvPr id="17427" name="AutoShape 6"/>
            <p:cNvSpPr>
              <a:spLocks noChangeArrowheads="1"/>
            </p:cNvSpPr>
            <p:nvPr/>
          </p:nvSpPr>
          <p:spPr bwMode="gray">
            <a:xfrm>
              <a:off x="2070" y="885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428" name="AutoShape 7"/>
            <p:cNvSpPr>
              <a:spLocks noChangeArrowheads="1"/>
            </p:cNvSpPr>
            <p:nvPr/>
          </p:nvSpPr>
          <p:spPr bwMode="gray">
            <a:xfrm>
              <a:off x="2057" y="862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429" name="AutoShape 8"/>
            <p:cNvSpPr>
              <a:spLocks noChangeArrowheads="1"/>
            </p:cNvSpPr>
            <p:nvPr/>
          </p:nvSpPr>
          <p:spPr bwMode="gray">
            <a:xfrm>
              <a:off x="2147" y="942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rgbClr val="7262EC"/>
                </a:gs>
                <a:gs pos="100000">
                  <a:srgbClr val="2614AA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17413" name="Group 9"/>
          <p:cNvGrpSpPr>
            <a:grpSpLocks/>
          </p:cNvGrpSpPr>
          <p:nvPr/>
        </p:nvGrpSpPr>
        <p:grpSpPr bwMode="auto">
          <a:xfrm>
            <a:off x="2057400" y="4144963"/>
            <a:ext cx="2125663" cy="1852612"/>
            <a:chOff x="1110" y="2656"/>
            <a:chExt cx="1549" cy="1351"/>
          </a:xfrm>
        </p:grpSpPr>
        <p:sp>
          <p:nvSpPr>
            <p:cNvPr id="17424" name="AutoShape 10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425" name="AutoShape 11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426" name="AutoShape 12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rgbClr val="24B443"/>
                </a:gs>
                <a:gs pos="100000">
                  <a:srgbClr val="115D16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17414" name="Group 13"/>
          <p:cNvGrpSpPr>
            <a:grpSpLocks/>
          </p:cNvGrpSpPr>
          <p:nvPr/>
        </p:nvGrpSpPr>
        <p:grpSpPr bwMode="auto">
          <a:xfrm>
            <a:off x="4887913" y="4144963"/>
            <a:ext cx="2122487" cy="1852612"/>
            <a:chOff x="3174" y="2656"/>
            <a:chExt cx="1549" cy="1351"/>
          </a:xfrm>
        </p:grpSpPr>
        <p:sp>
          <p:nvSpPr>
            <p:cNvPr id="17421" name="AutoShape 14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422" name="AutoShape 15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7423" name="AutoShape 16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rgbClr val="CC7032"/>
                </a:gs>
                <a:gs pos="100000">
                  <a:srgbClr val="844820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itchFamily="18" charset="-127"/>
                  <a:ea typeface="HY동녘M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7415" name="Text Box 17"/>
          <p:cNvSpPr txBox="1">
            <a:spLocks noChangeArrowheads="1"/>
          </p:cNvSpPr>
          <p:nvPr/>
        </p:nvSpPr>
        <p:spPr bwMode="gray">
          <a:xfrm>
            <a:off x="4000500" y="2428875"/>
            <a:ext cx="10604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000">
                <a:solidFill>
                  <a:srgbClr val="FFFFFF"/>
                </a:solidFill>
                <a:latin typeface="HY동녘M" pitchFamily="18" charset="-127"/>
              </a:rPr>
              <a:t>엔티티</a:t>
            </a:r>
            <a:endParaRPr lang="en-US" altLang="ko-KR" sz="2000">
              <a:solidFill>
                <a:srgbClr val="FFFFFF"/>
              </a:solidFill>
              <a:latin typeface="HY동녘M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solidFill>
                  <a:srgbClr val="FFFFFF"/>
                </a:solidFill>
                <a:latin typeface="HY동녘M" pitchFamily="18" charset="-127"/>
              </a:rPr>
              <a:t>(Entity)</a:t>
            </a:r>
          </a:p>
        </p:txBody>
      </p:sp>
      <p:sp>
        <p:nvSpPr>
          <p:cNvPr id="17416" name="Text Box 18"/>
          <p:cNvSpPr txBox="1">
            <a:spLocks noChangeArrowheads="1"/>
          </p:cNvSpPr>
          <p:nvPr/>
        </p:nvSpPr>
        <p:spPr bwMode="gray">
          <a:xfrm>
            <a:off x="2428875" y="4857750"/>
            <a:ext cx="14668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000">
                <a:solidFill>
                  <a:srgbClr val="FFFFFF"/>
                </a:solidFill>
                <a:latin typeface="HY동녘M" pitchFamily="18" charset="-127"/>
              </a:rPr>
              <a:t>애트리뷰트</a:t>
            </a:r>
            <a:endParaRPr lang="en-US" altLang="ko-KR" sz="2000">
              <a:solidFill>
                <a:srgbClr val="FFFFFF"/>
              </a:solidFill>
              <a:latin typeface="HY동녘M" pitchFamily="18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solidFill>
                  <a:srgbClr val="FFFFFF"/>
                </a:solidFill>
                <a:latin typeface="HY동녘M" pitchFamily="18" charset="-127"/>
              </a:rPr>
              <a:t>(Attribute)</a:t>
            </a:r>
          </a:p>
        </p:txBody>
      </p:sp>
      <p:sp>
        <p:nvSpPr>
          <p:cNvPr id="17417" name="Text Box 19"/>
          <p:cNvSpPr txBox="1">
            <a:spLocks noChangeArrowheads="1"/>
          </p:cNvSpPr>
          <p:nvPr/>
        </p:nvSpPr>
        <p:spPr bwMode="gray">
          <a:xfrm>
            <a:off x="5000625" y="4643438"/>
            <a:ext cx="18891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itchFamily="18" charset="-127"/>
                <a:ea typeface="HY동녘M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2000">
                <a:solidFill>
                  <a:srgbClr val="FFFFFF"/>
                </a:solidFill>
                <a:latin typeface="HY동녘M" pitchFamily="18" charset="-127"/>
              </a:rPr>
              <a:t>관계</a:t>
            </a:r>
            <a:endParaRPr lang="en-US" altLang="ko-KR" sz="2000">
              <a:solidFill>
                <a:srgbClr val="FFFFFF"/>
              </a:solidFill>
              <a:latin typeface="HY동녘M" pitchFamily="18" charset="-127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solidFill>
                  <a:srgbClr val="FFFFFF"/>
                </a:solidFill>
                <a:latin typeface="HY동녘M" pitchFamily="18" charset="-127"/>
              </a:rPr>
              <a:t>(Relationship)</a:t>
            </a: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643563" y="1714500"/>
            <a:ext cx="2857500" cy="1214438"/>
          </a:xfrm>
          <a:prstGeom prst="roundRect">
            <a:avLst/>
          </a:prstGeom>
          <a:solidFill>
            <a:srgbClr val="F4F1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독립적으로 존재하면서 고유하게 식별이 가능한 객체</a:t>
            </a:r>
            <a:endParaRPr lang="en-US" altLang="ko-KR" sz="1800" dirty="0">
              <a:solidFill>
                <a:schemeClr val="tx2">
                  <a:lumMod val="75000"/>
                </a:schemeClr>
              </a:solidFill>
              <a:latin typeface="HY동녘B" pitchFamily="18" charset="-127"/>
              <a:ea typeface="HY동녘B" pitchFamily="18" charset="-127"/>
            </a:endParaRPr>
          </a:p>
          <a:p>
            <a:pPr eaLnBrk="1" latinLnBrk="1" hangingPunct="1">
              <a:defRPr/>
            </a:pP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예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)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학생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,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학과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,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교과목</a:t>
            </a:r>
          </a:p>
        </p:txBody>
      </p:sp>
      <p:sp>
        <p:nvSpPr>
          <p:cNvPr id="24" name="모서리가 둥근 직사각형 23"/>
          <p:cNvSpPr/>
          <p:nvPr/>
        </p:nvSpPr>
        <p:spPr>
          <a:xfrm>
            <a:off x="6000750" y="5643563"/>
            <a:ext cx="2857500" cy="1214437"/>
          </a:xfrm>
          <a:prstGeom prst="roundRect">
            <a:avLst/>
          </a:prstGeom>
          <a:solidFill>
            <a:srgbClr val="F4F1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ko-KR" altLang="en-US" sz="1800" dirty="0" err="1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두개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 이상의 </a:t>
            </a:r>
            <a:r>
              <a:rPr lang="ko-KR" altLang="en-US" sz="1800" dirty="0" err="1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엔티티들을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 </a:t>
            </a:r>
            <a:r>
              <a:rPr lang="ko-KR" altLang="en-US" sz="1800" dirty="0" err="1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연관짓는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 것</a:t>
            </a:r>
            <a:endParaRPr lang="en-US" altLang="ko-KR" sz="1800" dirty="0">
              <a:solidFill>
                <a:schemeClr val="tx2">
                  <a:lumMod val="75000"/>
                </a:schemeClr>
              </a:solidFill>
              <a:latin typeface="HY동녘B" pitchFamily="18" charset="-127"/>
              <a:ea typeface="HY동녘B" pitchFamily="18" charset="-127"/>
            </a:endParaRPr>
          </a:p>
          <a:p>
            <a:pPr eaLnBrk="1" latinLnBrk="1" hangingPunct="1">
              <a:defRPr/>
            </a:pP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예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)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수강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,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소속</a:t>
            </a:r>
          </a:p>
        </p:txBody>
      </p:sp>
      <p:sp>
        <p:nvSpPr>
          <p:cNvPr id="23" name="모서리가 둥근 직사각형 22"/>
          <p:cNvSpPr/>
          <p:nvPr/>
        </p:nvSpPr>
        <p:spPr>
          <a:xfrm>
            <a:off x="142875" y="3286125"/>
            <a:ext cx="3071813" cy="1214438"/>
          </a:xfrm>
          <a:prstGeom prst="roundRect">
            <a:avLst/>
          </a:prstGeom>
          <a:solidFill>
            <a:srgbClr val="F4F1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ko-KR" altLang="en-US" sz="1800" dirty="0" err="1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엔티티를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 구성하는 속성</a:t>
            </a:r>
            <a:endParaRPr lang="en-US" altLang="ko-KR" sz="1800" dirty="0">
              <a:solidFill>
                <a:schemeClr val="tx2">
                  <a:lumMod val="75000"/>
                </a:schemeClr>
              </a:solidFill>
              <a:latin typeface="HY동녘B" pitchFamily="18" charset="-127"/>
              <a:ea typeface="HY동녘B" pitchFamily="18" charset="-127"/>
            </a:endParaRPr>
          </a:p>
          <a:p>
            <a:pPr eaLnBrk="1" latinLnBrk="1" hangingPunct="1">
              <a:defRPr/>
            </a:pP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예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)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이름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,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학번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,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위치</a:t>
            </a:r>
            <a:r>
              <a:rPr lang="en-US" altLang="ko-KR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, </a:t>
            </a:r>
            <a:r>
              <a:rPr lang="ko-KR" altLang="en-US" sz="1800" dirty="0">
                <a:solidFill>
                  <a:schemeClr val="tx2">
                    <a:lumMod val="75000"/>
                  </a:schemeClr>
                </a:solidFill>
                <a:latin typeface="HY동녘B" pitchFamily="18" charset="-127"/>
                <a:ea typeface="HY동녘B" pitchFamily="18" charset="-127"/>
              </a:rPr>
              <a:t>강사</a:t>
            </a:r>
          </a:p>
        </p:txBody>
      </p:sp>
    </p:spTree>
    <p:extLst>
      <p:ext uri="{BB962C8B-B14F-4D97-AF65-F5344CB8AC3E}">
        <p14:creationId xmlns:p14="http://schemas.microsoft.com/office/powerpoint/2010/main" val="353501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4143"/>
    </mc:Choice>
    <mc:Fallback xmlns="">
      <p:transition spd="slow" advTm="32414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87C3C38F-BC99-89F9-06D8-8949E730AE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3" y="1781175"/>
          <a:ext cx="7932737" cy="442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7403175" imgH="4126984" progId="Photoshop.Image.7">
                  <p:embed/>
                </p:oleObj>
              </mc:Choice>
              <mc:Fallback>
                <p:oleObj name="Image" r:id="rId3" imgW="7403175" imgH="4126984" progId="Photoshop.Image.7">
                  <p:embed/>
                  <p:pic>
                    <p:nvPicPr>
                      <p:cNvPr id="11266" name="Object 2">
                        <a:extLst>
                          <a:ext uri="{FF2B5EF4-FFF2-40B4-BE49-F238E27FC236}">
                            <a16:creationId xmlns:a16="http://schemas.microsoft.com/office/drawing/2014/main" id="{87C3C38F-BC99-89F9-06D8-8949E730AE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1781175"/>
                        <a:ext cx="7932737" cy="442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Tm="68555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3">
            <a:extLst>
              <a:ext uri="{FF2B5EF4-FFF2-40B4-BE49-F238E27FC236}">
                <a16:creationId xmlns:a16="http://schemas.microsoft.com/office/drawing/2014/main" id="{A71FEB67-072F-757A-C8F6-129F6AB2F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3" y="2324100"/>
            <a:ext cx="8267700" cy="358298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car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</a:p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((ABC 123, TEXAS), TK629, Ford Mustang, convertible, 1999, (red, black))</a:t>
            </a:r>
          </a:p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car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((ABC 123, NEW YORK), WP9872, Nissan 300ZX, 2-door, 2002, (blue))</a:t>
            </a:r>
          </a:p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car</a:t>
            </a:r>
            <a:r>
              <a:rPr kumimoji="0" lang="en-US" altLang="ko-KR" sz="2000" baseline="-25000">
                <a:latin typeface="Times New Roman" panose="02020603050405020304" pitchFamily="18" charset="0"/>
                <a:ea typeface="굴림" panose="020B0600000101010101" pitchFamily="50" charset="-127"/>
              </a:rPr>
              <a:t>3</a:t>
            </a: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2000">
                <a:latin typeface="Times New Roman" panose="02020603050405020304" pitchFamily="18" charset="0"/>
                <a:ea typeface="굴림" panose="020B0600000101010101" pitchFamily="50" charset="-127"/>
              </a:rPr>
              <a:t>((VSY 720, TEXAS), TD729, Buick LeSabre, 4-door, 2003, (white, blue))</a:t>
            </a:r>
          </a:p>
          <a:p>
            <a:pPr algn="ctr" latinLnBrk="0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>
                <a:latin typeface="Times New Roman" panose="02020603050405020304" pitchFamily="18" charset="0"/>
                <a:ea typeface="굴림" panose="020B0600000101010101" pitchFamily="50" charset="-127"/>
              </a:rPr>
              <a:t>…</a:t>
            </a: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endParaRPr kumimoji="0" lang="en-US" altLang="ko-KR" sz="2000"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3315" name="Text Box 4">
            <a:extLst>
              <a:ext uri="{FF2B5EF4-FFF2-40B4-BE49-F238E27FC236}">
                <a16:creationId xmlns:a16="http://schemas.microsoft.com/office/drawing/2014/main" id="{A2A4EEE2-FCD8-093E-0F04-DA05CE65C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1550988"/>
            <a:ext cx="8053388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900">
                <a:latin typeface="Times New Roman" panose="02020603050405020304" pitchFamily="18" charset="0"/>
                <a:ea typeface="굴림" panose="020B0600000101010101" pitchFamily="50" charset="-127"/>
              </a:rPr>
              <a:t>CAR</a:t>
            </a: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ko-KR" sz="1900">
                <a:latin typeface="Times New Roman" panose="02020603050405020304" pitchFamily="18" charset="0"/>
                <a:ea typeface="굴림" panose="020B0600000101010101" pitchFamily="50" charset="-127"/>
              </a:rPr>
              <a:t>Registration(RegistrationNumber, State), VehicleID, Make, Model, Year, (Color)</a:t>
            </a:r>
          </a:p>
        </p:txBody>
      </p:sp>
      <p:sp>
        <p:nvSpPr>
          <p:cNvPr id="13316" name="제목 1">
            <a:extLst>
              <a:ext uri="{FF2B5EF4-FFF2-40B4-BE49-F238E27FC236}">
                <a16:creationId xmlns:a16="http://schemas.microsoft.com/office/drawing/2014/main" id="{46C95DCD-1CD0-27FA-C58D-9753F5193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엔티티 타입과 엔티티</a:t>
            </a:r>
          </a:p>
        </p:txBody>
      </p:sp>
    </p:spTree>
  </p:cSld>
  <p:clrMapOvr>
    <a:masterClrMapping/>
  </p:clrMapOvr>
  <p:transition spd="slow" advTm="130654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CDCBCC9C-6973-BD3F-8ED6-E0CC67ECA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애트리뷰트</a:t>
            </a:r>
          </a:p>
        </p:txBody>
      </p:sp>
      <p:grpSp>
        <p:nvGrpSpPr>
          <p:cNvPr id="5123" name="Group 3">
            <a:extLst>
              <a:ext uri="{FF2B5EF4-FFF2-40B4-BE49-F238E27FC236}">
                <a16:creationId xmlns:a16="http://schemas.microsoft.com/office/drawing/2014/main" id="{C91D2437-6C0F-9DE6-3379-598B6F10EF1D}"/>
              </a:ext>
            </a:extLst>
          </p:cNvPr>
          <p:cNvGrpSpPr>
            <a:grpSpLocks/>
          </p:cNvGrpSpPr>
          <p:nvPr/>
        </p:nvGrpSpPr>
        <p:grpSpPr bwMode="auto">
          <a:xfrm>
            <a:off x="928688" y="1785938"/>
            <a:ext cx="1728787" cy="1371600"/>
            <a:chOff x="1248" y="1680"/>
            <a:chExt cx="864" cy="864"/>
          </a:xfrm>
        </p:grpSpPr>
        <p:sp>
          <p:nvSpPr>
            <p:cNvPr id="5140" name="AutoShape 4">
              <a:extLst>
                <a:ext uri="{FF2B5EF4-FFF2-40B4-BE49-F238E27FC236}">
                  <a16:creationId xmlns:a16="http://schemas.microsoft.com/office/drawing/2014/main" id="{85A217BE-7A91-EF49-A0CC-32DC9BC7245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248" y="1680"/>
              <a:ext cx="864" cy="864"/>
            </a:xfrm>
            <a:prstGeom prst="roundRect">
              <a:avLst>
                <a:gd name="adj" fmla="val 11921"/>
              </a:avLst>
            </a:prstGeom>
            <a:solidFill>
              <a:srgbClr val="EEAD38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en-US" sz="2400">
                <a:latin typeface="HY동녘M" panose="02030600000101010101" pitchFamily="18" charset="-127"/>
              </a:endParaRPr>
            </a:p>
          </p:txBody>
        </p:sp>
        <p:sp>
          <p:nvSpPr>
            <p:cNvPr id="5141" name="Freeform 5">
              <a:extLst>
                <a:ext uri="{FF2B5EF4-FFF2-40B4-BE49-F238E27FC236}">
                  <a16:creationId xmlns:a16="http://schemas.microsoft.com/office/drawing/2014/main" id="{25F300F3-6F1F-797E-B440-50C6589F58FB}"/>
                </a:ext>
              </a:extLst>
            </p:cNvPr>
            <p:cNvSpPr>
              <a:spLocks/>
            </p:cNvSpPr>
            <p:nvPr/>
          </p:nvSpPr>
          <p:spPr bwMode="gray">
            <a:xfrm>
              <a:off x="1296" y="1728"/>
              <a:ext cx="431" cy="432"/>
            </a:xfrm>
            <a:custGeom>
              <a:avLst/>
              <a:gdLst>
                <a:gd name="T0" fmla="*/ 1 w 596"/>
                <a:gd name="T1" fmla="*/ 0 h 598"/>
                <a:gd name="T2" fmla="*/ 0 w 596"/>
                <a:gd name="T3" fmla="*/ 1 h 598"/>
                <a:gd name="T4" fmla="*/ 0 w 596"/>
                <a:gd name="T5" fmla="*/ 3 h 598"/>
                <a:gd name="T6" fmla="*/ 1 w 596"/>
                <a:gd name="T7" fmla="*/ 1 h 598"/>
                <a:gd name="T8" fmla="*/ 3 w 596"/>
                <a:gd name="T9" fmla="*/ 0 h 598"/>
                <a:gd name="T10" fmla="*/ 1 w 596"/>
                <a:gd name="T11" fmla="*/ 0 h 5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96"/>
                <a:gd name="T19" fmla="*/ 0 h 598"/>
                <a:gd name="T20" fmla="*/ 596 w 596"/>
                <a:gd name="T21" fmla="*/ 598 h 59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gradFill rotWithShape="1">
              <a:gsLst>
                <a:gs pos="0">
                  <a:srgbClr val="F9E1B6"/>
                </a:gs>
                <a:gs pos="50000">
                  <a:srgbClr val="EEAD38"/>
                </a:gs>
                <a:gs pos="100000">
                  <a:srgbClr val="F9E1B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Text Box 6">
            <a:extLst>
              <a:ext uri="{FF2B5EF4-FFF2-40B4-BE49-F238E27FC236}">
                <a16:creationId xmlns:a16="http://schemas.microsoft.com/office/drawing/2014/main" id="{02FFC03A-308E-FC3D-3AD3-8C318D001E7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071563" y="2143125"/>
            <a:ext cx="1466850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2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M" pitchFamily="18" charset="-127"/>
                <a:ea typeface="HY동녘M" pitchFamily="18" charset="-127"/>
              </a:rPr>
              <a:t>애트리뷰트</a:t>
            </a:r>
            <a:endParaRPr lang="en-US" altLang="ko-KR" sz="2000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동녘M" pitchFamily="18" charset="-127"/>
              <a:ea typeface="HY동녘M" pitchFamily="18" charset="-127"/>
            </a:endParaRPr>
          </a:p>
        </p:txBody>
      </p:sp>
      <p:sp>
        <p:nvSpPr>
          <p:cNvPr id="5125" name="AutoShape 7">
            <a:extLst>
              <a:ext uri="{FF2B5EF4-FFF2-40B4-BE49-F238E27FC236}">
                <a16:creationId xmlns:a16="http://schemas.microsoft.com/office/drawing/2014/main" id="{7FC18751-5572-6573-DB0F-072AD2FEFFBE}"/>
              </a:ext>
            </a:extLst>
          </p:cNvPr>
          <p:cNvSpPr>
            <a:spLocks noChangeArrowheads="1"/>
          </p:cNvSpPr>
          <p:nvPr/>
        </p:nvSpPr>
        <p:spPr bwMode="gray">
          <a:xfrm>
            <a:off x="928688" y="3309938"/>
            <a:ext cx="1728787" cy="1371600"/>
          </a:xfrm>
          <a:prstGeom prst="roundRect">
            <a:avLst>
              <a:gd name="adj" fmla="val 11921"/>
            </a:avLst>
          </a:prstGeom>
          <a:gradFill rotWithShape="1">
            <a:gsLst>
              <a:gs pos="0">
                <a:srgbClr val="3399FF"/>
              </a:gs>
              <a:gs pos="100000">
                <a:srgbClr val="246BB2"/>
              </a:gs>
            </a:gsLst>
            <a:lin ang="5400000" scaled="1"/>
          </a:gradFill>
          <a:ln w="381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£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4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MD솔체" panose="02020603020101020101" pitchFamily="18" charset="-127"/>
                <a:ea typeface="HY동녘M" panose="02030600000101010101" pitchFamily="18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2400">
              <a:latin typeface="HY동녘M" panose="02030600000101010101" pitchFamily="18" charset="-127"/>
            </a:endParaRPr>
          </a:p>
        </p:txBody>
      </p:sp>
      <p:sp>
        <p:nvSpPr>
          <p:cNvPr id="5126" name="Freeform 8">
            <a:extLst>
              <a:ext uri="{FF2B5EF4-FFF2-40B4-BE49-F238E27FC236}">
                <a16:creationId xmlns:a16="http://schemas.microsoft.com/office/drawing/2014/main" id="{86C336AB-EAC9-F2E0-A672-7A4E04F10698}"/>
              </a:ext>
            </a:extLst>
          </p:cNvPr>
          <p:cNvSpPr>
            <a:spLocks/>
          </p:cNvSpPr>
          <p:nvPr/>
        </p:nvSpPr>
        <p:spPr bwMode="gray">
          <a:xfrm>
            <a:off x="1000125" y="3386138"/>
            <a:ext cx="684213" cy="685800"/>
          </a:xfrm>
          <a:custGeom>
            <a:avLst/>
            <a:gdLst>
              <a:gd name="T0" fmla="*/ 2147483646 w 596"/>
              <a:gd name="T1" fmla="*/ 0 h 598"/>
              <a:gd name="T2" fmla="*/ 0 w 596"/>
              <a:gd name="T3" fmla="*/ 2147483646 h 598"/>
              <a:gd name="T4" fmla="*/ 0 w 596"/>
              <a:gd name="T5" fmla="*/ 2147483646 h 598"/>
              <a:gd name="T6" fmla="*/ 2147483646 w 596"/>
              <a:gd name="T7" fmla="*/ 2147483646 h 598"/>
              <a:gd name="T8" fmla="*/ 2147483646 w 596"/>
              <a:gd name="T9" fmla="*/ 0 h 598"/>
              <a:gd name="T10" fmla="*/ 2147483646 w 596"/>
              <a:gd name="T11" fmla="*/ 0 h 5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96"/>
              <a:gd name="T19" fmla="*/ 0 h 598"/>
              <a:gd name="T20" fmla="*/ 596 w 596"/>
              <a:gd name="T21" fmla="*/ 598 h 5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rgbClr val="A2DAFF"/>
              </a:gs>
              <a:gs pos="50000">
                <a:srgbClr val="0099FF"/>
              </a:gs>
              <a:gs pos="100000">
                <a:srgbClr val="A2DA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B9AFE073-E36E-A3B3-FB4C-A0247B09457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357313" y="3786188"/>
            <a:ext cx="954087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200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M" pitchFamily="18" charset="-127"/>
                <a:ea typeface="HY동녘M" pitchFamily="18" charset="-127"/>
              </a:rPr>
              <a:t>도메인</a:t>
            </a:r>
            <a:endParaRPr lang="en-US" altLang="ko-KR" sz="2000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동녘M" pitchFamily="18" charset="-127"/>
              <a:ea typeface="HY동녘M" pitchFamily="18" charset="-127"/>
            </a:endParaRPr>
          </a:p>
        </p:txBody>
      </p:sp>
      <p:grpSp>
        <p:nvGrpSpPr>
          <p:cNvPr id="5128" name="Group 19">
            <a:extLst>
              <a:ext uri="{FF2B5EF4-FFF2-40B4-BE49-F238E27FC236}">
                <a16:creationId xmlns:a16="http://schemas.microsoft.com/office/drawing/2014/main" id="{1ED8F3AA-D59F-B070-57E9-C452715F3F52}"/>
              </a:ext>
            </a:extLst>
          </p:cNvPr>
          <p:cNvGrpSpPr>
            <a:grpSpLocks/>
          </p:cNvGrpSpPr>
          <p:nvPr/>
        </p:nvGrpSpPr>
        <p:grpSpPr bwMode="auto">
          <a:xfrm>
            <a:off x="2767013" y="1785938"/>
            <a:ext cx="5929312" cy="1374775"/>
            <a:chOff x="1728" y="1920"/>
            <a:chExt cx="3264" cy="866"/>
          </a:xfrm>
        </p:grpSpPr>
        <p:grpSp>
          <p:nvGrpSpPr>
            <p:cNvPr id="5136" name="Group 20">
              <a:extLst>
                <a:ext uri="{FF2B5EF4-FFF2-40B4-BE49-F238E27FC236}">
                  <a16:creationId xmlns:a16="http://schemas.microsoft.com/office/drawing/2014/main" id="{227B1BC8-F2B6-AEED-E705-B48169A540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920"/>
              <a:ext cx="3264" cy="866"/>
              <a:chOff x="1728" y="1920"/>
              <a:chExt cx="3264" cy="866"/>
            </a:xfrm>
          </p:grpSpPr>
          <p:sp>
            <p:nvSpPr>
              <p:cNvPr id="5138" name="AutoShape 21">
                <a:extLst>
                  <a:ext uri="{FF2B5EF4-FFF2-40B4-BE49-F238E27FC236}">
                    <a16:creationId xmlns:a16="http://schemas.microsoft.com/office/drawing/2014/main" id="{38CE9525-5007-669E-48AD-743801D44FD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728" y="1920"/>
                <a:ext cx="3264" cy="866"/>
              </a:xfrm>
              <a:prstGeom prst="roundRect">
                <a:avLst>
                  <a:gd name="adj" fmla="val 10889"/>
                </a:avLst>
              </a:prstGeom>
              <a:gradFill rotWithShape="1">
                <a:gsLst>
                  <a:gs pos="0">
                    <a:srgbClr val="FBEBD1"/>
                  </a:gs>
                  <a:gs pos="50000">
                    <a:srgbClr val="FFFFFF"/>
                  </a:gs>
                  <a:gs pos="100000">
                    <a:srgbClr val="FBEBD1"/>
                  </a:gs>
                </a:gsLst>
                <a:lin ang="5400000" scaled="1"/>
              </a:gradFill>
              <a:ln w="38100">
                <a:solidFill>
                  <a:srgbClr val="FFFFFF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£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>
                  <a:latin typeface="HY동녘M" panose="02030600000101010101" pitchFamily="18" charset="-127"/>
                </a:endParaRPr>
              </a:p>
            </p:txBody>
          </p:sp>
          <p:sp>
            <p:nvSpPr>
              <p:cNvPr id="5139" name="Freeform 22">
                <a:extLst>
                  <a:ext uri="{FF2B5EF4-FFF2-40B4-BE49-F238E27FC236}">
                    <a16:creationId xmlns:a16="http://schemas.microsoft.com/office/drawing/2014/main" id="{34EC8E7C-F0F3-E774-035C-557AE1CE6FD9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776" y="1968"/>
                <a:ext cx="431" cy="432"/>
              </a:xfrm>
              <a:custGeom>
                <a:avLst/>
                <a:gdLst>
                  <a:gd name="T0" fmla="*/ 1 w 596"/>
                  <a:gd name="T1" fmla="*/ 0 h 598"/>
                  <a:gd name="T2" fmla="*/ 0 w 596"/>
                  <a:gd name="T3" fmla="*/ 1 h 598"/>
                  <a:gd name="T4" fmla="*/ 0 w 596"/>
                  <a:gd name="T5" fmla="*/ 3 h 598"/>
                  <a:gd name="T6" fmla="*/ 1 w 596"/>
                  <a:gd name="T7" fmla="*/ 1 h 598"/>
                  <a:gd name="T8" fmla="*/ 3 w 596"/>
                  <a:gd name="T9" fmla="*/ 0 h 598"/>
                  <a:gd name="T10" fmla="*/ 1 w 596"/>
                  <a:gd name="T11" fmla="*/ 0 h 5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6"/>
                  <a:gd name="T19" fmla="*/ 0 h 598"/>
                  <a:gd name="T20" fmla="*/ 596 w 596"/>
                  <a:gd name="T21" fmla="*/ 598 h 59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6" h="598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lnTo>
                      <a:pt x="0" y="589"/>
                    </a:lnTo>
                    <a:cubicBezTo>
                      <a:pt x="27" y="598"/>
                      <a:pt x="12" y="309"/>
                      <a:pt x="161" y="174"/>
                    </a:cubicBezTo>
                    <a:cubicBezTo>
                      <a:pt x="310" y="39"/>
                      <a:pt x="596" y="29"/>
                      <a:pt x="589" y="0"/>
                    </a:cubicBez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137" name="Text Box 23">
              <a:extLst>
                <a:ext uri="{FF2B5EF4-FFF2-40B4-BE49-F238E27FC236}">
                  <a16:creationId xmlns:a16="http://schemas.microsoft.com/office/drawing/2014/main" id="{7713ABFA-EE08-06A4-15D3-A09BD49371A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17" y="2190"/>
              <a:ext cx="292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2000">
                  <a:solidFill>
                    <a:srgbClr val="000000"/>
                  </a:solidFill>
                  <a:latin typeface="HY동녘M" panose="02030600000101010101" pitchFamily="18" charset="-127"/>
                </a:rPr>
                <a:t> 엔티티의 구성 요소</a:t>
              </a:r>
              <a:endParaRPr lang="en-US" altLang="ko-KR" sz="2000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</p:grpSp>
      <p:grpSp>
        <p:nvGrpSpPr>
          <p:cNvPr id="5129" name="Group 29">
            <a:extLst>
              <a:ext uri="{FF2B5EF4-FFF2-40B4-BE49-F238E27FC236}">
                <a16:creationId xmlns:a16="http://schemas.microsoft.com/office/drawing/2014/main" id="{1FD79881-3484-617C-E53C-696089589D30}"/>
              </a:ext>
            </a:extLst>
          </p:cNvPr>
          <p:cNvGrpSpPr>
            <a:grpSpLocks/>
          </p:cNvGrpSpPr>
          <p:nvPr/>
        </p:nvGrpSpPr>
        <p:grpSpPr bwMode="auto">
          <a:xfrm>
            <a:off x="2767013" y="3309938"/>
            <a:ext cx="5929312" cy="1374775"/>
            <a:chOff x="1728" y="1920"/>
            <a:chExt cx="3264" cy="866"/>
          </a:xfrm>
        </p:grpSpPr>
        <p:grpSp>
          <p:nvGrpSpPr>
            <p:cNvPr id="5132" name="Group 30">
              <a:extLst>
                <a:ext uri="{FF2B5EF4-FFF2-40B4-BE49-F238E27FC236}">
                  <a16:creationId xmlns:a16="http://schemas.microsoft.com/office/drawing/2014/main" id="{540D691F-47D6-2DAE-610D-ACC0CA9BD4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920"/>
              <a:ext cx="3264" cy="866"/>
              <a:chOff x="1728" y="1920"/>
              <a:chExt cx="3264" cy="866"/>
            </a:xfrm>
          </p:grpSpPr>
          <p:sp>
            <p:nvSpPr>
              <p:cNvPr id="5134" name="AutoShape 31">
                <a:extLst>
                  <a:ext uri="{FF2B5EF4-FFF2-40B4-BE49-F238E27FC236}">
                    <a16:creationId xmlns:a16="http://schemas.microsoft.com/office/drawing/2014/main" id="{097AD52F-2B2D-5D4F-C4C0-815443D353E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728" y="1920"/>
                <a:ext cx="3264" cy="866"/>
              </a:xfrm>
              <a:prstGeom prst="roundRect">
                <a:avLst>
                  <a:gd name="adj" fmla="val 10889"/>
                </a:avLst>
              </a:prstGeom>
              <a:gradFill rotWithShape="1">
                <a:gsLst>
                  <a:gs pos="0">
                    <a:srgbClr val="CCECFF"/>
                  </a:gs>
                  <a:gs pos="50000">
                    <a:srgbClr val="FFFFFF"/>
                  </a:gs>
                  <a:gs pos="100000">
                    <a:srgbClr val="CCECFF"/>
                  </a:gs>
                </a:gsLst>
                <a:lin ang="5400000" scaled="1"/>
              </a:gradFill>
              <a:ln w="38100">
                <a:solidFill>
                  <a:srgbClr val="FFFFFF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£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en-US" sz="2400">
                  <a:latin typeface="HY동녘M" panose="02030600000101010101" pitchFamily="18" charset="-127"/>
                </a:endParaRPr>
              </a:p>
            </p:txBody>
          </p:sp>
          <p:sp>
            <p:nvSpPr>
              <p:cNvPr id="5135" name="Freeform 32">
                <a:extLst>
                  <a:ext uri="{FF2B5EF4-FFF2-40B4-BE49-F238E27FC236}">
                    <a16:creationId xmlns:a16="http://schemas.microsoft.com/office/drawing/2014/main" id="{0766947F-9FF1-D029-28C8-F1F66B34A91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776" y="1968"/>
                <a:ext cx="431" cy="432"/>
              </a:xfrm>
              <a:custGeom>
                <a:avLst/>
                <a:gdLst>
                  <a:gd name="T0" fmla="*/ 1 w 596"/>
                  <a:gd name="T1" fmla="*/ 0 h 598"/>
                  <a:gd name="T2" fmla="*/ 0 w 596"/>
                  <a:gd name="T3" fmla="*/ 1 h 598"/>
                  <a:gd name="T4" fmla="*/ 0 w 596"/>
                  <a:gd name="T5" fmla="*/ 3 h 598"/>
                  <a:gd name="T6" fmla="*/ 1 w 596"/>
                  <a:gd name="T7" fmla="*/ 1 h 598"/>
                  <a:gd name="T8" fmla="*/ 3 w 596"/>
                  <a:gd name="T9" fmla="*/ 0 h 598"/>
                  <a:gd name="T10" fmla="*/ 1 w 596"/>
                  <a:gd name="T11" fmla="*/ 0 h 5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6"/>
                  <a:gd name="T19" fmla="*/ 0 h 598"/>
                  <a:gd name="T20" fmla="*/ 596 w 596"/>
                  <a:gd name="T21" fmla="*/ 598 h 59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6" h="598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lnTo>
                      <a:pt x="0" y="589"/>
                    </a:lnTo>
                    <a:cubicBezTo>
                      <a:pt x="27" y="598"/>
                      <a:pt x="12" y="309"/>
                      <a:pt x="161" y="174"/>
                    </a:cubicBezTo>
                    <a:cubicBezTo>
                      <a:pt x="310" y="39"/>
                      <a:pt x="596" y="29"/>
                      <a:pt x="589" y="0"/>
                    </a:cubicBez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133" name="Text Box 33">
              <a:extLst>
                <a:ext uri="{FF2B5EF4-FFF2-40B4-BE49-F238E27FC236}">
                  <a16:creationId xmlns:a16="http://schemas.microsoft.com/office/drawing/2014/main" id="{428E9EE7-7832-4875-0E6B-F8DBB8F69DD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817" y="2085"/>
              <a:ext cx="310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 </a:t>
              </a: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한 애트리뷰트가 가질 수있는 모든 값들의 집합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 </a:t>
              </a: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예</a:t>
              </a:r>
              <a:r>
                <a:rPr lang="en-US" altLang="ko-KR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) “</a:t>
              </a: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성별</a:t>
              </a:r>
              <a:r>
                <a:rPr lang="en-US" altLang="ko-KR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”</a:t>
              </a: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애트리뷰트의 도메인 </a:t>
              </a:r>
              <a:r>
                <a:rPr lang="en-US" altLang="ko-KR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:</a:t>
              </a: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 남</a:t>
              </a:r>
              <a:r>
                <a:rPr lang="en-US" altLang="ko-KR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, </a:t>
              </a: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여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</p:grp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5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36A30412-9F57-063E-95B0-B272C1D11A93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775680" y="4218480"/>
              <a:ext cx="471240" cy="255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36A30412-9F57-063E-95B0-B272C1D11A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66320" y="4209120"/>
                <a:ext cx="489960" cy="4428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오디오 13">
            <a:hlinkClick r:id="" action="ppaction://media"/>
            <a:extLst>
              <a:ext uri="{FF2B5EF4-FFF2-40B4-BE49-F238E27FC236}">
                <a16:creationId xmlns:a16="http://schemas.microsoft.com/office/drawing/2014/main" id="{7D076D8E-0629-C813-B68C-FBDF794604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440738" y="6154738"/>
            <a:ext cx="487362" cy="487362"/>
          </a:xfrm>
          <a:prstGeom prst="rect">
            <a:avLst/>
          </a:prstGeom>
        </p:spPr>
      </p:pic>
    </p:spTree>
  </p:cSld>
  <p:clrMapOvr>
    <a:masterClrMapping/>
  </p:clrMapOvr>
  <p:transition spd="slow" advTm="6623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5A7AE9BF-2F5E-9942-33D3-8D22146A0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애트리뷰트의 종류</a:t>
            </a:r>
          </a:p>
        </p:txBody>
      </p:sp>
      <p:grpSp>
        <p:nvGrpSpPr>
          <p:cNvPr id="7171" name="Group 38">
            <a:extLst>
              <a:ext uri="{FF2B5EF4-FFF2-40B4-BE49-F238E27FC236}">
                <a16:creationId xmlns:a16="http://schemas.microsoft.com/office/drawing/2014/main" id="{34AF0EA3-DAEA-1FB6-6191-DA21FBF5BD55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1295400"/>
            <a:ext cx="5035550" cy="5181600"/>
            <a:chOff x="1292" y="816"/>
            <a:chExt cx="3172" cy="3264"/>
          </a:xfrm>
        </p:grpSpPr>
        <p:sp>
          <p:nvSpPr>
            <p:cNvPr id="7174" name="Freeform 25">
              <a:extLst>
                <a:ext uri="{FF2B5EF4-FFF2-40B4-BE49-F238E27FC236}">
                  <a16:creationId xmlns:a16="http://schemas.microsoft.com/office/drawing/2014/main" id="{5C50F1FE-1848-692C-1885-DAA6C43218FC}"/>
                </a:ext>
              </a:extLst>
            </p:cNvPr>
            <p:cNvSpPr>
              <a:spLocks/>
            </p:cNvSpPr>
            <p:nvPr/>
          </p:nvSpPr>
          <p:spPr bwMode="gray">
            <a:xfrm>
              <a:off x="2352" y="816"/>
              <a:ext cx="1008" cy="1673"/>
            </a:xfrm>
            <a:custGeom>
              <a:avLst/>
              <a:gdLst>
                <a:gd name="T0" fmla="*/ 11 w 1470"/>
                <a:gd name="T1" fmla="*/ 15 h 2346"/>
                <a:gd name="T2" fmla="*/ 11 w 1470"/>
                <a:gd name="T3" fmla="*/ 17 h 2346"/>
                <a:gd name="T4" fmla="*/ 10 w 1470"/>
                <a:gd name="T5" fmla="*/ 19 h 2346"/>
                <a:gd name="T6" fmla="*/ 10 w 1470"/>
                <a:gd name="T7" fmla="*/ 21 h 2346"/>
                <a:gd name="T8" fmla="*/ 10 w 1470"/>
                <a:gd name="T9" fmla="*/ 22 h 2346"/>
                <a:gd name="T10" fmla="*/ 9 w 1470"/>
                <a:gd name="T11" fmla="*/ 24 h 2346"/>
                <a:gd name="T12" fmla="*/ 8 w 1470"/>
                <a:gd name="T13" fmla="*/ 24 h 2346"/>
                <a:gd name="T14" fmla="*/ 8 w 1470"/>
                <a:gd name="T15" fmla="*/ 26 h 2346"/>
                <a:gd name="T16" fmla="*/ 7 w 1470"/>
                <a:gd name="T17" fmla="*/ 26 h 2346"/>
                <a:gd name="T18" fmla="*/ 7 w 1470"/>
                <a:gd name="T19" fmla="*/ 28 h 2346"/>
                <a:gd name="T20" fmla="*/ 6 w 1470"/>
                <a:gd name="T21" fmla="*/ 29 h 2346"/>
                <a:gd name="T22" fmla="*/ 5 w 1470"/>
                <a:gd name="T23" fmla="*/ 29 h 2346"/>
                <a:gd name="T24" fmla="*/ 5 w 1470"/>
                <a:gd name="T25" fmla="*/ 29 h 2346"/>
                <a:gd name="T26" fmla="*/ 5 w 1470"/>
                <a:gd name="T27" fmla="*/ 29 h 2346"/>
                <a:gd name="T28" fmla="*/ 5 w 1470"/>
                <a:gd name="T29" fmla="*/ 29 h 2346"/>
                <a:gd name="T30" fmla="*/ 5 w 1470"/>
                <a:gd name="T31" fmla="*/ 29 h 2346"/>
                <a:gd name="T32" fmla="*/ 5 w 1470"/>
                <a:gd name="T33" fmla="*/ 28 h 2346"/>
                <a:gd name="T34" fmla="*/ 3 w 1470"/>
                <a:gd name="T35" fmla="*/ 26 h 2346"/>
                <a:gd name="T36" fmla="*/ 3 w 1470"/>
                <a:gd name="T37" fmla="*/ 26 h 2346"/>
                <a:gd name="T38" fmla="*/ 2 w 1470"/>
                <a:gd name="T39" fmla="*/ 24 h 2346"/>
                <a:gd name="T40" fmla="*/ 2 w 1470"/>
                <a:gd name="T41" fmla="*/ 24 h 2346"/>
                <a:gd name="T42" fmla="*/ 1 w 1470"/>
                <a:gd name="T43" fmla="*/ 22 h 2346"/>
                <a:gd name="T44" fmla="*/ 1 w 1470"/>
                <a:gd name="T45" fmla="*/ 21 h 2346"/>
                <a:gd name="T46" fmla="*/ 1 w 1470"/>
                <a:gd name="T47" fmla="*/ 19 h 2346"/>
                <a:gd name="T48" fmla="*/ 1 w 1470"/>
                <a:gd name="T49" fmla="*/ 17 h 2346"/>
                <a:gd name="T50" fmla="*/ 1 w 1470"/>
                <a:gd name="T51" fmla="*/ 15 h 2346"/>
                <a:gd name="T52" fmla="*/ 1 w 1470"/>
                <a:gd name="T53" fmla="*/ 14 h 2346"/>
                <a:gd name="T54" fmla="*/ 1 w 1470"/>
                <a:gd name="T55" fmla="*/ 12 h 2346"/>
                <a:gd name="T56" fmla="*/ 1 w 1470"/>
                <a:gd name="T57" fmla="*/ 10 h 2346"/>
                <a:gd name="T58" fmla="*/ 1 w 1470"/>
                <a:gd name="T59" fmla="*/ 9 h 2346"/>
                <a:gd name="T60" fmla="*/ 1 w 1470"/>
                <a:gd name="T61" fmla="*/ 7 h 2346"/>
                <a:gd name="T62" fmla="*/ 2 w 1470"/>
                <a:gd name="T63" fmla="*/ 6 h 2346"/>
                <a:gd name="T64" fmla="*/ 2 w 1470"/>
                <a:gd name="T65" fmla="*/ 4 h 2346"/>
                <a:gd name="T66" fmla="*/ 3 w 1470"/>
                <a:gd name="T67" fmla="*/ 3 h 2346"/>
                <a:gd name="T68" fmla="*/ 3 w 1470"/>
                <a:gd name="T69" fmla="*/ 2 h 2346"/>
                <a:gd name="T70" fmla="*/ 5 w 1470"/>
                <a:gd name="T71" fmla="*/ 1 h 2346"/>
                <a:gd name="T72" fmla="*/ 5 w 1470"/>
                <a:gd name="T73" fmla="*/ 1 h 2346"/>
                <a:gd name="T74" fmla="*/ 5 w 1470"/>
                <a:gd name="T75" fmla="*/ 1 h 2346"/>
                <a:gd name="T76" fmla="*/ 5 w 1470"/>
                <a:gd name="T77" fmla="*/ 1 h 2346"/>
                <a:gd name="T78" fmla="*/ 5 w 1470"/>
                <a:gd name="T79" fmla="*/ 1 h 2346"/>
                <a:gd name="T80" fmla="*/ 5 w 1470"/>
                <a:gd name="T81" fmla="*/ 1 h 2346"/>
                <a:gd name="T82" fmla="*/ 6 w 1470"/>
                <a:gd name="T83" fmla="*/ 1 h 2346"/>
                <a:gd name="T84" fmla="*/ 7 w 1470"/>
                <a:gd name="T85" fmla="*/ 1 h 2346"/>
                <a:gd name="T86" fmla="*/ 7 w 1470"/>
                <a:gd name="T87" fmla="*/ 2 h 2346"/>
                <a:gd name="T88" fmla="*/ 8 w 1470"/>
                <a:gd name="T89" fmla="*/ 3 h 2346"/>
                <a:gd name="T90" fmla="*/ 8 w 1470"/>
                <a:gd name="T91" fmla="*/ 4 h 2346"/>
                <a:gd name="T92" fmla="*/ 9 w 1470"/>
                <a:gd name="T93" fmla="*/ 6 h 2346"/>
                <a:gd name="T94" fmla="*/ 10 w 1470"/>
                <a:gd name="T95" fmla="*/ 7 h 2346"/>
                <a:gd name="T96" fmla="*/ 10 w 1470"/>
                <a:gd name="T97" fmla="*/ 9 h 2346"/>
                <a:gd name="T98" fmla="*/ 10 w 1470"/>
                <a:gd name="T99" fmla="*/ 10 h 2346"/>
                <a:gd name="T100" fmla="*/ 11 w 1470"/>
                <a:gd name="T101" fmla="*/ 12 h 2346"/>
                <a:gd name="T102" fmla="*/ 11 w 1470"/>
                <a:gd name="T103" fmla="*/ 14 h 234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470" h="2346">
                  <a:moveTo>
                    <a:pt x="1470" y="1173"/>
                  </a:moveTo>
                  <a:lnTo>
                    <a:pt x="1467" y="1246"/>
                  </a:lnTo>
                  <a:lnTo>
                    <a:pt x="1458" y="1319"/>
                  </a:lnTo>
                  <a:lnTo>
                    <a:pt x="1444" y="1390"/>
                  </a:lnTo>
                  <a:lnTo>
                    <a:pt x="1423" y="1462"/>
                  </a:lnTo>
                  <a:lnTo>
                    <a:pt x="1400" y="1529"/>
                  </a:lnTo>
                  <a:lnTo>
                    <a:pt x="1371" y="1596"/>
                  </a:lnTo>
                  <a:lnTo>
                    <a:pt x="1339" y="1662"/>
                  </a:lnTo>
                  <a:lnTo>
                    <a:pt x="1305" y="1724"/>
                  </a:lnTo>
                  <a:lnTo>
                    <a:pt x="1267" y="1784"/>
                  </a:lnTo>
                  <a:lnTo>
                    <a:pt x="1228" y="1843"/>
                  </a:lnTo>
                  <a:lnTo>
                    <a:pt x="1187" y="1898"/>
                  </a:lnTo>
                  <a:lnTo>
                    <a:pt x="1145" y="1952"/>
                  </a:lnTo>
                  <a:lnTo>
                    <a:pt x="1102" y="2002"/>
                  </a:lnTo>
                  <a:lnTo>
                    <a:pt x="1060" y="2050"/>
                  </a:lnTo>
                  <a:lnTo>
                    <a:pt x="1019" y="2094"/>
                  </a:lnTo>
                  <a:lnTo>
                    <a:pt x="978" y="2134"/>
                  </a:lnTo>
                  <a:lnTo>
                    <a:pt x="939" y="2174"/>
                  </a:lnTo>
                  <a:lnTo>
                    <a:pt x="901" y="2207"/>
                  </a:lnTo>
                  <a:lnTo>
                    <a:pt x="866" y="2239"/>
                  </a:lnTo>
                  <a:lnTo>
                    <a:pt x="835" y="2266"/>
                  </a:lnTo>
                  <a:lnTo>
                    <a:pt x="806" y="2290"/>
                  </a:lnTo>
                  <a:lnTo>
                    <a:pt x="783" y="2309"/>
                  </a:lnTo>
                  <a:lnTo>
                    <a:pt x="763" y="2325"/>
                  </a:lnTo>
                  <a:lnTo>
                    <a:pt x="748" y="2336"/>
                  </a:lnTo>
                  <a:lnTo>
                    <a:pt x="739" y="2343"/>
                  </a:lnTo>
                  <a:lnTo>
                    <a:pt x="735" y="2346"/>
                  </a:lnTo>
                  <a:lnTo>
                    <a:pt x="732" y="2343"/>
                  </a:lnTo>
                  <a:lnTo>
                    <a:pt x="723" y="2336"/>
                  </a:lnTo>
                  <a:lnTo>
                    <a:pt x="709" y="2325"/>
                  </a:lnTo>
                  <a:lnTo>
                    <a:pt x="688" y="2309"/>
                  </a:lnTo>
                  <a:lnTo>
                    <a:pt x="665" y="2290"/>
                  </a:lnTo>
                  <a:lnTo>
                    <a:pt x="636" y="2266"/>
                  </a:lnTo>
                  <a:lnTo>
                    <a:pt x="604" y="2239"/>
                  </a:lnTo>
                  <a:lnTo>
                    <a:pt x="570" y="2207"/>
                  </a:lnTo>
                  <a:lnTo>
                    <a:pt x="532" y="2174"/>
                  </a:lnTo>
                  <a:lnTo>
                    <a:pt x="493" y="2134"/>
                  </a:lnTo>
                  <a:lnTo>
                    <a:pt x="452" y="2094"/>
                  </a:lnTo>
                  <a:lnTo>
                    <a:pt x="410" y="2050"/>
                  </a:lnTo>
                  <a:lnTo>
                    <a:pt x="367" y="2002"/>
                  </a:lnTo>
                  <a:lnTo>
                    <a:pt x="325" y="1952"/>
                  </a:lnTo>
                  <a:lnTo>
                    <a:pt x="284" y="1898"/>
                  </a:lnTo>
                  <a:lnTo>
                    <a:pt x="243" y="1843"/>
                  </a:lnTo>
                  <a:lnTo>
                    <a:pt x="204" y="1784"/>
                  </a:lnTo>
                  <a:lnTo>
                    <a:pt x="166" y="1724"/>
                  </a:lnTo>
                  <a:lnTo>
                    <a:pt x="131" y="1662"/>
                  </a:lnTo>
                  <a:lnTo>
                    <a:pt x="100" y="1596"/>
                  </a:lnTo>
                  <a:lnTo>
                    <a:pt x="71" y="1529"/>
                  </a:lnTo>
                  <a:lnTo>
                    <a:pt x="48" y="1462"/>
                  </a:lnTo>
                  <a:lnTo>
                    <a:pt x="27" y="1390"/>
                  </a:lnTo>
                  <a:lnTo>
                    <a:pt x="13" y="1319"/>
                  </a:lnTo>
                  <a:lnTo>
                    <a:pt x="4" y="1246"/>
                  </a:lnTo>
                  <a:lnTo>
                    <a:pt x="0" y="1173"/>
                  </a:lnTo>
                  <a:lnTo>
                    <a:pt x="4" y="1098"/>
                  </a:lnTo>
                  <a:lnTo>
                    <a:pt x="13" y="1025"/>
                  </a:lnTo>
                  <a:lnTo>
                    <a:pt x="27" y="954"/>
                  </a:lnTo>
                  <a:lnTo>
                    <a:pt x="48" y="884"/>
                  </a:lnTo>
                  <a:lnTo>
                    <a:pt x="71" y="815"/>
                  </a:lnTo>
                  <a:lnTo>
                    <a:pt x="100" y="748"/>
                  </a:lnTo>
                  <a:lnTo>
                    <a:pt x="131" y="684"/>
                  </a:lnTo>
                  <a:lnTo>
                    <a:pt x="166" y="621"/>
                  </a:lnTo>
                  <a:lnTo>
                    <a:pt x="204" y="560"/>
                  </a:lnTo>
                  <a:lnTo>
                    <a:pt x="243" y="502"/>
                  </a:lnTo>
                  <a:lnTo>
                    <a:pt x="284" y="446"/>
                  </a:lnTo>
                  <a:lnTo>
                    <a:pt x="325" y="394"/>
                  </a:lnTo>
                  <a:lnTo>
                    <a:pt x="367" y="343"/>
                  </a:lnTo>
                  <a:lnTo>
                    <a:pt x="410" y="294"/>
                  </a:lnTo>
                  <a:lnTo>
                    <a:pt x="452" y="251"/>
                  </a:lnTo>
                  <a:lnTo>
                    <a:pt x="493" y="210"/>
                  </a:lnTo>
                  <a:lnTo>
                    <a:pt x="532" y="170"/>
                  </a:lnTo>
                  <a:lnTo>
                    <a:pt x="570" y="137"/>
                  </a:lnTo>
                  <a:lnTo>
                    <a:pt x="604" y="105"/>
                  </a:lnTo>
                  <a:lnTo>
                    <a:pt x="636" y="79"/>
                  </a:lnTo>
                  <a:lnTo>
                    <a:pt x="665" y="55"/>
                  </a:lnTo>
                  <a:lnTo>
                    <a:pt x="688" y="35"/>
                  </a:lnTo>
                  <a:lnTo>
                    <a:pt x="709" y="19"/>
                  </a:lnTo>
                  <a:lnTo>
                    <a:pt x="723" y="9"/>
                  </a:lnTo>
                  <a:lnTo>
                    <a:pt x="732" y="1"/>
                  </a:lnTo>
                  <a:lnTo>
                    <a:pt x="735" y="0"/>
                  </a:lnTo>
                  <a:lnTo>
                    <a:pt x="739" y="1"/>
                  </a:lnTo>
                  <a:lnTo>
                    <a:pt x="748" y="9"/>
                  </a:lnTo>
                  <a:lnTo>
                    <a:pt x="763" y="19"/>
                  </a:lnTo>
                  <a:lnTo>
                    <a:pt x="783" y="35"/>
                  </a:lnTo>
                  <a:lnTo>
                    <a:pt x="806" y="55"/>
                  </a:lnTo>
                  <a:lnTo>
                    <a:pt x="835" y="79"/>
                  </a:lnTo>
                  <a:lnTo>
                    <a:pt x="866" y="105"/>
                  </a:lnTo>
                  <a:lnTo>
                    <a:pt x="901" y="137"/>
                  </a:lnTo>
                  <a:lnTo>
                    <a:pt x="939" y="170"/>
                  </a:lnTo>
                  <a:lnTo>
                    <a:pt x="978" y="210"/>
                  </a:lnTo>
                  <a:lnTo>
                    <a:pt x="1019" y="251"/>
                  </a:lnTo>
                  <a:lnTo>
                    <a:pt x="1060" y="294"/>
                  </a:lnTo>
                  <a:lnTo>
                    <a:pt x="1102" y="343"/>
                  </a:lnTo>
                  <a:lnTo>
                    <a:pt x="1145" y="394"/>
                  </a:lnTo>
                  <a:lnTo>
                    <a:pt x="1187" y="446"/>
                  </a:lnTo>
                  <a:lnTo>
                    <a:pt x="1228" y="502"/>
                  </a:lnTo>
                  <a:lnTo>
                    <a:pt x="1267" y="560"/>
                  </a:lnTo>
                  <a:lnTo>
                    <a:pt x="1305" y="621"/>
                  </a:lnTo>
                  <a:lnTo>
                    <a:pt x="1339" y="684"/>
                  </a:lnTo>
                  <a:lnTo>
                    <a:pt x="1371" y="748"/>
                  </a:lnTo>
                  <a:lnTo>
                    <a:pt x="1400" y="815"/>
                  </a:lnTo>
                  <a:lnTo>
                    <a:pt x="1423" y="884"/>
                  </a:lnTo>
                  <a:lnTo>
                    <a:pt x="1444" y="954"/>
                  </a:lnTo>
                  <a:lnTo>
                    <a:pt x="1458" y="1025"/>
                  </a:lnTo>
                  <a:lnTo>
                    <a:pt x="1467" y="1098"/>
                  </a:lnTo>
                  <a:lnTo>
                    <a:pt x="1470" y="1173"/>
                  </a:lnTo>
                </a:path>
              </a:pathLst>
            </a:custGeom>
            <a:gradFill rotWithShape="1">
              <a:gsLst>
                <a:gs pos="0">
                  <a:srgbClr val="53B749"/>
                </a:gs>
                <a:gs pos="100000">
                  <a:srgbClr val="265522"/>
                </a:gs>
              </a:gsLst>
              <a:lin ang="5400000" scaled="1"/>
            </a:gradFill>
            <a:ln w="3810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75" name="Freeform 27">
              <a:extLst>
                <a:ext uri="{FF2B5EF4-FFF2-40B4-BE49-F238E27FC236}">
                  <a16:creationId xmlns:a16="http://schemas.microsoft.com/office/drawing/2014/main" id="{AA522C7B-7A97-9D42-9E3E-C3B75CBE72AF}"/>
                </a:ext>
              </a:extLst>
            </p:cNvPr>
            <p:cNvSpPr>
              <a:spLocks/>
            </p:cNvSpPr>
            <p:nvPr/>
          </p:nvSpPr>
          <p:spPr bwMode="gray">
            <a:xfrm rot="575181">
              <a:off x="1296" y="1584"/>
              <a:ext cx="1749" cy="924"/>
            </a:xfrm>
            <a:custGeom>
              <a:avLst/>
              <a:gdLst>
                <a:gd name="T0" fmla="*/ 207 w 2032"/>
                <a:gd name="T1" fmla="*/ 1 h 1536"/>
                <a:gd name="T2" fmla="*/ 224 w 2032"/>
                <a:gd name="T3" fmla="*/ 1 h 1536"/>
                <a:gd name="T4" fmla="*/ 238 w 2032"/>
                <a:gd name="T5" fmla="*/ 1 h 1536"/>
                <a:gd name="T6" fmla="*/ 250 w 2032"/>
                <a:gd name="T7" fmla="*/ 1 h 1536"/>
                <a:gd name="T8" fmla="*/ 262 w 2032"/>
                <a:gd name="T9" fmla="*/ 1 h 1536"/>
                <a:gd name="T10" fmla="*/ 269 w 2032"/>
                <a:gd name="T11" fmla="*/ 1 h 1536"/>
                <a:gd name="T12" fmla="*/ 276 w 2032"/>
                <a:gd name="T13" fmla="*/ 1 h 1536"/>
                <a:gd name="T14" fmla="*/ 281 w 2032"/>
                <a:gd name="T15" fmla="*/ 1 h 1536"/>
                <a:gd name="T16" fmla="*/ 285 w 2032"/>
                <a:gd name="T17" fmla="*/ 1 h 1536"/>
                <a:gd name="T18" fmla="*/ 287 w 2032"/>
                <a:gd name="T19" fmla="*/ 2 h 1536"/>
                <a:gd name="T20" fmla="*/ 288 w 2032"/>
                <a:gd name="T21" fmla="*/ 2 h 1536"/>
                <a:gd name="T22" fmla="*/ 290 w 2032"/>
                <a:gd name="T23" fmla="*/ 2 h 1536"/>
                <a:gd name="T24" fmla="*/ 289 w 2032"/>
                <a:gd name="T25" fmla="*/ 2 h 1536"/>
                <a:gd name="T26" fmla="*/ 285 w 2032"/>
                <a:gd name="T27" fmla="*/ 2 h 1536"/>
                <a:gd name="T28" fmla="*/ 277 w 2032"/>
                <a:gd name="T29" fmla="*/ 2 h 1536"/>
                <a:gd name="T30" fmla="*/ 265 w 2032"/>
                <a:gd name="T31" fmla="*/ 2 h 1536"/>
                <a:gd name="T32" fmla="*/ 250 w 2032"/>
                <a:gd name="T33" fmla="*/ 2 h 1536"/>
                <a:gd name="T34" fmla="*/ 236 w 2032"/>
                <a:gd name="T35" fmla="*/ 2 h 1536"/>
                <a:gd name="T36" fmla="*/ 215 w 2032"/>
                <a:gd name="T37" fmla="*/ 2 h 1536"/>
                <a:gd name="T38" fmla="*/ 195 w 2032"/>
                <a:gd name="T39" fmla="*/ 2 h 1536"/>
                <a:gd name="T40" fmla="*/ 176 w 2032"/>
                <a:gd name="T41" fmla="*/ 2 h 1536"/>
                <a:gd name="T42" fmla="*/ 153 w 2032"/>
                <a:gd name="T43" fmla="*/ 2 h 1536"/>
                <a:gd name="T44" fmla="*/ 133 w 2032"/>
                <a:gd name="T45" fmla="*/ 2 h 1536"/>
                <a:gd name="T46" fmla="*/ 112 w 2032"/>
                <a:gd name="T47" fmla="*/ 2 h 1536"/>
                <a:gd name="T48" fmla="*/ 93 w 2032"/>
                <a:gd name="T49" fmla="*/ 2 h 1536"/>
                <a:gd name="T50" fmla="*/ 74 w 2032"/>
                <a:gd name="T51" fmla="*/ 2 h 1536"/>
                <a:gd name="T52" fmla="*/ 57 w 2032"/>
                <a:gd name="T53" fmla="*/ 1 h 1536"/>
                <a:gd name="T54" fmla="*/ 45 w 2032"/>
                <a:gd name="T55" fmla="*/ 1 h 1536"/>
                <a:gd name="T56" fmla="*/ 33 w 2032"/>
                <a:gd name="T57" fmla="*/ 1 h 1536"/>
                <a:gd name="T58" fmla="*/ 24 w 2032"/>
                <a:gd name="T59" fmla="*/ 1 h 1536"/>
                <a:gd name="T60" fmla="*/ 16 w 2032"/>
                <a:gd name="T61" fmla="*/ 1 h 1536"/>
                <a:gd name="T62" fmla="*/ 10 w 2032"/>
                <a:gd name="T63" fmla="*/ 1 h 1536"/>
                <a:gd name="T64" fmla="*/ 6 w 2032"/>
                <a:gd name="T65" fmla="*/ 1 h 1536"/>
                <a:gd name="T66" fmla="*/ 3 w 2032"/>
                <a:gd name="T67" fmla="*/ 1 h 1536"/>
                <a:gd name="T68" fmla="*/ 3 w 2032"/>
                <a:gd name="T69" fmla="*/ 1 h 1536"/>
                <a:gd name="T70" fmla="*/ 3 w 2032"/>
                <a:gd name="T71" fmla="*/ 1 h 1536"/>
                <a:gd name="T72" fmla="*/ 0 w 2032"/>
                <a:gd name="T73" fmla="*/ 1 h 1536"/>
                <a:gd name="T74" fmla="*/ 3 w 2032"/>
                <a:gd name="T75" fmla="*/ 1 h 1536"/>
                <a:gd name="T76" fmla="*/ 8 w 2032"/>
                <a:gd name="T77" fmla="*/ 1 h 1536"/>
                <a:gd name="T78" fmla="*/ 19 w 2032"/>
                <a:gd name="T79" fmla="*/ 1 h 1536"/>
                <a:gd name="T80" fmla="*/ 31 w 2032"/>
                <a:gd name="T81" fmla="*/ 1 h 1536"/>
                <a:gd name="T82" fmla="*/ 46 w 2032"/>
                <a:gd name="T83" fmla="*/ 1 h 1536"/>
                <a:gd name="T84" fmla="*/ 64 w 2032"/>
                <a:gd name="T85" fmla="*/ 1 h 1536"/>
                <a:gd name="T86" fmla="*/ 83 w 2032"/>
                <a:gd name="T87" fmla="*/ 1 h 1536"/>
                <a:gd name="T88" fmla="*/ 103 w 2032"/>
                <a:gd name="T89" fmla="*/ 1 h 1536"/>
                <a:gd name="T90" fmla="*/ 125 w 2032"/>
                <a:gd name="T91" fmla="*/ 0 h 1536"/>
                <a:gd name="T92" fmla="*/ 145 w 2032"/>
                <a:gd name="T93" fmla="*/ 1 h 1536"/>
                <a:gd name="T94" fmla="*/ 168 w 2032"/>
                <a:gd name="T95" fmla="*/ 1 h 1536"/>
                <a:gd name="T96" fmla="*/ 188 w 2032"/>
                <a:gd name="T97" fmla="*/ 1 h 1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032" h="1536">
                  <a:moveTo>
                    <a:pt x="1383" y="131"/>
                  </a:moveTo>
                  <a:lnTo>
                    <a:pt x="1451" y="175"/>
                  </a:lnTo>
                  <a:lnTo>
                    <a:pt x="1514" y="223"/>
                  </a:lnTo>
                  <a:lnTo>
                    <a:pt x="1572" y="277"/>
                  </a:lnTo>
                  <a:lnTo>
                    <a:pt x="1626" y="334"/>
                  </a:lnTo>
                  <a:lnTo>
                    <a:pt x="1676" y="395"/>
                  </a:lnTo>
                  <a:lnTo>
                    <a:pt x="1721" y="459"/>
                  </a:lnTo>
                  <a:lnTo>
                    <a:pt x="1763" y="525"/>
                  </a:lnTo>
                  <a:lnTo>
                    <a:pt x="1801" y="592"/>
                  </a:lnTo>
                  <a:lnTo>
                    <a:pt x="1835" y="660"/>
                  </a:lnTo>
                  <a:lnTo>
                    <a:pt x="1866" y="729"/>
                  </a:lnTo>
                  <a:lnTo>
                    <a:pt x="1893" y="798"/>
                  </a:lnTo>
                  <a:lnTo>
                    <a:pt x="1918" y="865"/>
                  </a:lnTo>
                  <a:lnTo>
                    <a:pt x="1940" y="929"/>
                  </a:lnTo>
                  <a:lnTo>
                    <a:pt x="1957" y="993"/>
                  </a:lnTo>
                  <a:lnTo>
                    <a:pt x="1975" y="1053"/>
                  </a:lnTo>
                  <a:lnTo>
                    <a:pt x="1988" y="1108"/>
                  </a:lnTo>
                  <a:lnTo>
                    <a:pt x="2000" y="1161"/>
                  </a:lnTo>
                  <a:lnTo>
                    <a:pt x="2008" y="1209"/>
                  </a:lnTo>
                  <a:lnTo>
                    <a:pt x="2017" y="1250"/>
                  </a:lnTo>
                  <a:lnTo>
                    <a:pt x="2022" y="1286"/>
                  </a:lnTo>
                  <a:lnTo>
                    <a:pt x="2026" y="1316"/>
                  </a:lnTo>
                  <a:lnTo>
                    <a:pt x="2029" y="1336"/>
                  </a:lnTo>
                  <a:lnTo>
                    <a:pt x="2030" y="1349"/>
                  </a:lnTo>
                  <a:lnTo>
                    <a:pt x="2032" y="1355"/>
                  </a:lnTo>
                  <a:lnTo>
                    <a:pt x="2027" y="1356"/>
                  </a:lnTo>
                  <a:lnTo>
                    <a:pt x="2016" y="1361"/>
                  </a:lnTo>
                  <a:lnTo>
                    <a:pt x="1998" y="1368"/>
                  </a:lnTo>
                  <a:lnTo>
                    <a:pt x="1972" y="1378"/>
                  </a:lnTo>
                  <a:lnTo>
                    <a:pt x="1941" y="1390"/>
                  </a:lnTo>
                  <a:lnTo>
                    <a:pt x="1905" y="1405"/>
                  </a:lnTo>
                  <a:lnTo>
                    <a:pt x="1861" y="1419"/>
                  </a:lnTo>
                  <a:lnTo>
                    <a:pt x="1814" y="1434"/>
                  </a:lnTo>
                  <a:lnTo>
                    <a:pt x="1762" y="1450"/>
                  </a:lnTo>
                  <a:lnTo>
                    <a:pt x="1707" y="1466"/>
                  </a:lnTo>
                  <a:lnTo>
                    <a:pt x="1647" y="1480"/>
                  </a:lnTo>
                  <a:lnTo>
                    <a:pt x="1583" y="1495"/>
                  </a:lnTo>
                  <a:lnTo>
                    <a:pt x="1517" y="1507"/>
                  </a:lnTo>
                  <a:lnTo>
                    <a:pt x="1448" y="1518"/>
                  </a:lnTo>
                  <a:lnTo>
                    <a:pt x="1377" y="1527"/>
                  </a:lnTo>
                  <a:lnTo>
                    <a:pt x="1305" y="1533"/>
                  </a:lnTo>
                  <a:lnTo>
                    <a:pt x="1231" y="1536"/>
                  </a:lnTo>
                  <a:lnTo>
                    <a:pt x="1157" y="1536"/>
                  </a:lnTo>
                  <a:lnTo>
                    <a:pt x="1082" y="1532"/>
                  </a:lnTo>
                  <a:lnTo>
                    <a:pt x="1008" y="1524"/>
                  </a:lnTo>
                  <a:lnTo>
                    <a:pt x="933" y="1511"/>
                  </a:lnTo>
                  <a:lnTo>
                    <a:pt x="859" y="1494"/>
                  </a:lnTo>
                  <a:lnTo>
                    <a:pt x="788" y="1469"/>
                  </a:lnTo>
                  <a:lnTo>
                    <a:pt x="716" y="1440"/>
                  </a:lnTo>
                  <a:lnTo>
                    <a:pt x="648" y="1405"/>
                  </a:lnTo>
                  <a:lnTo>
                    <a:pt x="580" y="1361"/>
                  </a:lnTo>
                  <a:lnTo>
                    <a:pt x="518" y="1313"/>
                  </a:lnTo>
                  <a:lnTo>
                    <a:pt x="459" y="1259"/>
                  </a:lnTo>
                  <a:lnTo>
                    <a:pt x="405" y="1202"/>
                  </a:lnTo>
                  <a:lnTo>
                    <a:pt x="356" y="1141"/>
                  </a:lnTo>
                  <a:lnTo>
                    <a:pt x="311" y="1076"/>
                  </a:lnTo>
                  <a:lnTo>
                    <a:pt x="268" y="1011"/>
                  </a:lnTo>
                  <a:lnTo>
                    <a:pt x="230" y="944"/>
                  </a:lnTo>
                  <a:lnTo>
                    <a:pt x="197" y="875"/>
                  </a:lnTo>
                  <a:lnTo>
                    <a:pt x="166" y="806"/>
                  </a:lnTo>
                  <a:lnTo>
                    <a:pt x="138" y="738"/>
                  </a:lnTo>
                  <a:lnTo>
                    <a:pt x="114" y="672"/>
                  </a:lnTo>
                  <a:lnTo>
                    <a:pt x="92" y="607"/>
                  </a:lnTo>
                  <a:lnTo>
                    <a:pt x="73" y="542"/>
                  </a:lnTo>
                  <a:lnTo>
                    <a:pt x="57" y="482"/>
                  </a:lnTo>
                  <a:lnTo>
                    <a:pt x="44" y="427"/>
                  </a:lnTo>
                  <a:lnTo>
                    <a:pt x="32" y="375"/>
                  </a:lnTo>
                  <a:lnTo>
                    <a:pt x="22" y="326"/>
                  </a:lnTo>
                  <a:lnTo>
                    <a:pt x="15" y="286"/>
                  </a:lnTo>
                  <a:lnTo>
                    <a:pt x="9" y="249"/>
                  </a:lnTo>
                  <a:lnTo>
                    <a:pt x="4" y="220"/>
                  </a:lnTo>
                  <a:lnTo>
                    <a:pt x="3" y="199"/>
                  </a:lnTo>
                  <a:lnTo>
                    <a:pt x="0" y="186"/>
                  </a:lnTo>
                  <a:lnTo>
                    <a:pt x="0" y="182"/>
                  </a:lnTo>
                  <a:lnTo>
                    <a:pt x="4" y="179"/>
                  </a:lnTo>
                  <a:lnTo>
                    <a:pt x="16" y="175"/>
                  </a:lnTo>
                  <a:lnTo>
                    <a:pt x="33" y="167"/>
                  </a:lnTo>
                  <a:lnTo>
                    <a:pt x="58" y="157"/>
                  </a:lnTo>
                  <a:lnTo>
                    <a:pt x="90" y="145"/>
                  </a:lnTo>
                  <a:lnTo>
                    <a:pt x="127" y="131"/>
                  </a:lnTo>
                  <a:lnTo>
                    <a:pt x="169" y="116"/>
                  </a:lnTo>
                  <a:lnTo>
                    <a:pt x="217" y="102"/>
                  </a:lnTo>
                  <a:lnTo>
                    <a:pt x="270" y="86"/>
                  </a:lnTo>
                  <a:lnTo>
                    <a:pt x="325" y="70"/>
                  </a:lnTo>
                  <a:lnTo>
                    <a:pt x="385" y="55"/>
                  </a:lnTo>
                  <a:lnTo>
                    <a:pt x="449" y="42"/>
                  </a:lnTo>
                  <a:lnTo>
                    <a:pt x="515" y="29"/>
                  </a:lnTo>
                  <a:lnTo>
                    <a:pt x="583" y="17"/>
                  </a:lnTo>
                  <a:lnTo>
                    <a:pt x="653" y="8"/>
                  </a:lnTo>
                  <a:lnTo>
                    <a:pt x="726" y="2"/>
                  </a:lnTo>
                  <a:lnTo>
                    <a:pt x="801" y="0"/>
                  </a:lnTo>
                  <a:lnTo>
                    <a:pt x="875" y="0"/>
                  </a:lnTo>
                  <a:lnTo>
                    <a:pt x="949" y="4"/>
                  </a:lnTo>
                  <a:lnTo>
                    <a:pt x="1024" y="11"/>
                  </a:lnTo>
                  <a:lnTo>
                    <a:pt x="1098" y="24"/>
                  </a:lnTo>
                  <a:lnTo>
                    <a:pt x="1173" y="43"/>
                  </a:lnTo>
                  <a:lnTo>
                    <a:pt x="1244" y="67"/>
                  </a:lnTo>
                  <a:lnTo>
                    <a:pt x="1314" y="96"/>
                  </a:lnTo>
                  <a:lnTo>
                    <a:pt x="1383" y="131"/>
                  </a:lnTo>
                </a:path>
              </a:pathLst>
            </a:custGeom>
            <a:gradFill rotWithShape="1">
              <a:gsLst>
                <a:gs pos="0">
                  <a:srgbClr val="00B1F0"/>
                </a:gs>
                <a:gs pos="100000">
                  <a:srgbClr val="00526F"/>
                </a:gs>
              </a:gsLst>
              <a:lin ang="2700000" scaled="1"/>
            </a:gradFill>
            <a:ln w="3810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76" name="Freeform 28">
              <a:extLst>
                <a:ext uri="{FF2B5EF4-FFF2-40B4-BE49-F238E27FC236}">
                  <a16:creationId xmlns:a16="http://schemas.microsoft.com/office/drawing/2014/main" id="{63FF4067-7E42-8AA6-1504-C4CBF6713C36}"/>
                </a:ext>
              </a:extLst>
            </p:cNvPr>
            <p:cNvSpPr>
              <a:spLocks/>
            </p:cNvSpPr>
            <p:nvPr/>
          </p:nvSpPr>
          <p:spPr bwMode="gray">
            <a:xfrm rot="-480829">
              <a:off x="1292" y="2482"/>
              <a:ext cx="1760" cy="926"/>
            </a:xfrm>
            <a:custGeom>
              <a:avLst/>
              <a:gdLst>
                <a:gd name="T0" fmla="*/ 111 w 2032"/>
                <a:gd name="T1" fmla="*/ 1 h 1536"/>
                <a:gd name="T2" fmla="*/ 133 w 2032"/>
                <a:gd name="T3" fmla="*/ 1 h 1536"/>
                <a:gd name="T4" fmla="*/ 155 w 2032"/>
                <a:gd name="T5" fmla="*/ 1 h 1536"/>
                <a:gd name="T6" fmla="*/ 178 w 2032"/>
                <a:gd name="T7" fmla="*/ 0 h 1536"/>
                <a:gd name="T8" fmla="*/ 202 w 2032"/>
                <a:gd name="T9" fmla="*/ 1 h 1536"/>
                <a:gd name="T10" fmla="*/ 223 w 2032"/>
                <a:gd name="T11" fmla="*/ 1 h 1536"/>
                <a:gd name="T12" fmla="*/ 244 w 2032"/>
                <a:gd name="T13" fmla="*/ 1 h 1536"/>
                <a:gd name="T14" fmla="*/ 263 w 2032"/>
                <a:gd name="T15" fmla="*/ 1 h 1536"/>
                <a:gd name="T16" fmla="*/ 280 w 2032"/>
                <a:gd name="T17" fmla="*/ 1 h 1536"/>
                <a:gd name="T18" fmla="*/ 294 w 2032"/>
                <a:gd name="T19" fmla="*/ 1 h 1536"/>
                <a:gd name="T20" fmla="*/ 304 w 2032"/>
                <a:gd name="T21" fmla="*/ 1 h 1536"/>
                <a:gd name="T22" fmla="*/ 311 w 2032"/>
                <a:gd name="T23" fmla="*/ 1 h 1536"/>
                <a:gd name="T24" fmla="*/ 313 w 2032"/>
                <a:gd name="T25" fmla="*/ 1 h 1536"/>
                <a:gd name="T26" fmla="*/ 313 w 2032"/>
                <a:gd name="T27" fmla="*/ 1 h 1536"/>
                <a:gd name="T28" fmla="*/ 313 w 2032"/>
                <a:gd name="T29" fmla="*/ 1 h 1536"/>
                <a:gd name="T30" fmla="*/ 310 w 2032"/>
                <a:gd name="T31" fmla="*/ 1 h 1536"/>
                <a:gd name="T32" fmla="*/ 307 w 2032"/>
                <a:gd name="T33" fmla="*/ 1 h 1536"/>
                <a:gd name="T34" fmla="*/ 301 w 2032"/>
                <a:gd name="T35" fmla="*/ 1 h 1536"/>
                <a:gd name="T36" fmla="*/ 296 w 2032"/>
                <a:gd name="T37" fmla="*/ 1 h 1536"/>
                <a:gd name="T38" fmla="*/ 288 w 2032"/>
                <a:gd name="T39" fmla="*/ 1 h 1536"/>
                <a:gd name="T40" fmla="*/ 278 w 2032"/>
                <a:gd name="T41" fmla="*/ 1 h 1536"/>
                <a:gd name="T42" fmla="*/ 266 w 2032"/>
                <a:gd name="T43" fmla="*/ 1 h 1536"/>
                <a:gd name="T44" fmla="*/ 250 w 2032"/>
                <a:gd name="T45" fmla="*/ 2 h 1536"/>
                <a:gd name="T46" fmla="*/ 233 w 2032"/>
                <a:gd name="T47" fmla="*/ 2 h 1536"/>
                <a:gd name="T48" fmla="*/ 214 w 2032"/>
                <a:gd name="T49" fmla="*/ 2 h 1536"/>
                <a:gd name="T50" fmla="*/ 192 w 2032"/>
                <a:gd name="T51" fmla="*/ 2 h 1536"/>
                <a:gd name="T52" fmla="*/ 170 w 2032"/>
                <a:gd name="T53" fmla="*/ 2 h 1536"/>
                <a:gd name="T54" fmla="*/ 147 w 2032"/>
                <a:gd name="T55" fmla="*/ 2 h 1536"/>
                <a:gd name="T56" fmla="*/ 124 w 2032"/>
                <a:gd name="T57" fmla="*/ 2 h 1536"/>
                <a:gd name="T58" fmla="*/ 100 w 2032"/>
                <a:gd name="T59" fmla="*/ 2 h 1536"/>
                <a:gd name="T60" fmla="*/ 80 w 2032"/>
                <a:gd name="T61" fmla="*/ 2 h 1536"/>
                <a:gd name="T62" fmla="*/ 59 w 2032"/>
                <a:gd name="T63" fmla="*/ 2 h 1536"/>
                <a:gd name="T64" fmla="*/ 42 w 2032"/>
                <a:gd name="T65" fmla="*/ 2 h 1536"/>
                <a:gd name="T66" fmla="*/ 26 w 2032"/>
                <a:gd name="T67" fmla="*/ 2 h 1536"/>
                <a:gd name="T68" fmla="*/ 14 w 2032"/>
                <a:gd name="T69" fmla="*/ 2 h 1536"/>
                <a:gd name="T70" fmla="*/ 5 w 2032"/>
                <a:gd name="T71" fmla="*/ 2 h 1536"/>
                <a:gd name="T72" fmla="*/ 3 w 2032"/>
                <a:gd name="T73" fmla="*/ 2 h 1536"/>
                <a:gd name="T74" fmla="*/ 0 w 2032"/>
                <a:gd name="T75" fmla="*/ 2 h 1536"/>
                <a:gd name="T76" fmla="*/ 3 w 2032"/>
                <a:gd name="T77" fmla="*/ 2 h 1536"/>
                <a:gd name="T78" fmla="*/ 3 w 2032"/>
                <a:gd name="T79" fmla="*/ 2 h 1536"/>
                <a:gd name="T80" fmla="*/ 5 w 2032"/>
                <a:gd name="T81" fmla="*/ 1 h 1536"/>
                <a:gd name="T82" fmla="*/ 9 w 2032"/>
                <a:gd name="T83" fmla="*/ 1 h 1536"/>
                <a:gd name="T84" fmla="*/ 14 w 2032"/>
                <a:gd name="T85" fmla="*/ 1 h 1536"/>
                <a:gd name="T86" fmla="*/ 22 w 2032"/>
                <a:gd name="T87" fmla="*/ 1 h 1536"/>
                <a:gd name="T88" fmla="*/ 31 w 2032"/>
                <a:gd name="T89" fmla="*/ 1 h 1536"/>
                <a:gd name="T90" fmla="*/ 42 w 2032"/>
                <a:gd name="T91" fmla="*/ 1 h 1536"/>
                <a:gd name="T92" fmla="*/ 55 w 2032"/>
                <a:gd name="T93" fmla="*/ 1 h 1536"/>
                <a:gd name="T94" fmla="*/ 70 w 2032"/>
                <a:gd name="T95" fmla="*/ 1 h 1536"/>
                <a:gd name="T96" fmla="*/ 90 w 2032"/>
                <a:gd name="T97" fmla="*/ 1 h 1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032" h="1536">
                  <a:moveTo>
                    <a:pt x="648" y="131"/>
                  </a:moveTo>
                  <a:lnTo>
                    <a:pt x="717" y="96"/>
                  </a:lnTo>
                  <a:lnTo>
                    <a:pt x="788" y="67"/>
                  </a:lnTo>
                  <a:lnTo>
                    <a:pt x="860" y="43"/>
                  </a:lnTo>
                  <a:lnTo>
                    <a:pt x="934" y="24"/>
                  </a:lnTo>
                  <a:lnTo>
                    <a:pt x="1008" y="11"/>
                  </a:lnTo>
                  <a:lnTo>
                    <a:pt x="1083" y="4"/>
                  </a:lnTo>
                  <a:lnTo>
                    <a:pt x="1157" y="0"/>
                  </a:lnTo>
                  <a:lnTo>
                    <a:pt x="1232" y="0"/>
                  </a:lnTo>
                  <a:lnTo>
                    <a:pt x="1306" y="3"/>
                  </a:lnTo>
                  <a:lnTo>
                    <a:pt x="1377" y="8"/>
                  </a:lnTo>
                  <a:lnTo>
                    <a:pt x="1449" y="17"/>
                  </a:lnTo>
                  <a:lnTo>
                    <a:pt x="1517" y="29"/>
                  </a:lnTo>
                  <a:lnTo>
                    <a:pt x="1583" y="42"/>
                  </a:lnTo>
                  <a:lnTo>
                    <a:pt x="1647" y="55"/>
                  </a:lnTo>
                  <a:lnTo>
                    <a:pt x="1707" y="70"/>
                  </a:lnTo>
                  <a:lnTo>
                    <a:pt x="1762" y="86"/>
                  </a:lnTo>
                  <a:lnTo>
                    <a:pt x="1815" y="102"/>
                  </a:lnTo>
                  <a:lnTo>
                    <a:pt x="1862" y="116"/>
                  </a:lnTo>
                  <a:lnTo>
                    <a:pt x="1905" y="131"/>
                  </a:lnTo>
                  <a:lnTo>
                    <a:pt x="1942" y="146"/>
                  </a:lnTo>
                  <a:lnTo>
                    <a:pt x="1972" y="157"/>
                  </a:lnTo>
                  <a:lnTo>
                    <a:pt x="1999" y="167"/>
                  </a:lnTo>
                  <a:lnTo>
                    <a:pt x="2016" y="175"/>
                  </a:lnTo>
                  <a:lnTo>
                    <a:pt x="2028" y="179"/>
                  </a:lnTo>
                  <a:lnTo>
                    <a:pt x="2032" y="182"/>
                  </a:lnTo>
                  <a:lnTo>
                    <a:pt x="2031" y="186"/>
                  </a:lnTo>
                  <a:lnTo>
                    <a:pt x="2029" y="200"/>
                  </a:lnTo>
                  <a:lnTo>
                    <a:pt x="2026" y="220"/>
                  </a:lnTo>
                  <a:lnTo>
                    <a:pt x="2022" y="249"/>
                  </a:lnTo>
                  <a:lnTo>
                    <a:pt x="2018" y="286"/>
                  </a:lnTo>
                  <a:lnTo>
                    <a:pt x="2009" y="326"/>
                  </a:lnTo>
                  <a:lnTo>
                    <a:pt x="2000" y="375"/>
                  </a:lnTo>
                  <a:lnTo>
                    <a:pt x="1989" y="427"/>
                  </a:lnTo>
                  <a:lnTo>
                    <a:pt x="1975" y="483"/>
                  </a:lnTo>
                  <a:lnTo>
                    <a:pt x="1958" y="542"/>
                  </a:lnTo>
                  <a:lnTo>
                    <a:pt x="1940" y="607"/>
                  </a:lnTo>
                  <a:lnTo>
                    <a:pt x="1919" y="672"/>
                  </a:lnTo>
                  <a:lnTo>
                    <a:pt x="1894" y="738"/>
                  </a:lnTo>
                  <a:lnTo>
                    <a:pt x="1866" y="806"/>
                  </a:lnTo>
                  <a:lnTo>
                    <a:pt x="1835" y="875"/>
                  </a:lnTo>
                  <a:lnTo>
                    <a:pt x="1802" y="944"/>
                  </a:lnTo>
                  <a:lnTo>
                    <a:pt x="1764" y="1011"/>
                  </a:lnTo>
                  <a:lnTo>
                    <a:pt x="1722" y="1076"/>
                  </a:lnTo>
                  <a:lnTo>
                    <a:pt x="1676" y="1141"/>
                  </a:lnTo>
                  <a:lnTo>
                    <a:pt x="1627" y="1202"/>
                  </a:lnTo>
                  <a:lnTo>
                    <a:pt x="1573" y="1259"/>
                  </a:lnTo>
                  <a:lnTo>
                    <a:pt x="1514" y="1313"/>
                  </a:lnTo>
                  <a:lnTo>
                    <a:pt x="1452" y="1361"/>
                  </a:lnTo>
                  <a:lnTo>
                    <a:pt x="1383" y="1405"/>
                  </a:lnTo>
                  <a:lnTo>
                    <a:pt x="1315" y="1440"/>
                  </a:lnTo>
                  <a:lnTo>
                    <a:pt x="1245" y="1469"/>
                  </a:lnTo>
                  <a:lnTo>
                    <a:pt x="1173" y="1494"/>
                  </a:lnTo>
                  <a:lnTo>
                    <a:pt x="1099" y="1511"/>
                  </a:lnTo>
                  <a:lnTo>
                    <a:pt x="1024" y="1524"/>
                  </a:lnTo>
                  <a:lnTo>
                    <a:pt x="950" y="1532"/>
                  </a:lnTo>
                  <a:lnTo>
                    <a:pt x="876" y="1536"/>
                  </a:lnTo>
                  <a:lnTo>
                    <a:pt x="801" y="1536"/>
                  </a:lnTo>
                  <a:lnTo>
                    <a:pt x="727" y="1533"/>
                  </a:lnTo>
                  <a:lnTo>
                    <a:pt x="654" y="1527"/>
                  </a:lnTo>
                  <a:lnTo>
                    <a:pt x="584" y="1518"/>
                  </a:lnTo>
                  <a:lnTo>
                    <a:pt x="515" y="1507"/>
                  </a:lnTo>
                  <a:lnTo>
                    <a:pt x="450" y="1495"/>
                  </a:lnTo>
                  <a:lnTo>
                    <a:pt x="385" y="1481"/>
                  </a:lnTo>
                  <a:lnTo>
                    <a:pt x="326" y="1466"/>
                  </a:lnTo>
                  <a:lnTo>
                    <a:pt x="270" y="1450"/>
                  </a:lnTo>
                  <a:lnTo>
                    <a:pt x="218" y="1434"/>
                  </a:lnTo>
                  <a:lnTo>
                    <a:pt x="170" y="1419"/>
                  </a:lnTo>
                  <a:lnTo>
                    <a:pt x="127" y="1405"/>
                  </a:lnTo>
                  <a:lnTo>
                    <a:pt x="91" y="1390"/>
                  </a:lnTo>
                  <a:lnTo>
                    <a:pt x="59" y="1378"/>
                  </a:lnTo>
                  <a:lnTo>
                    <a:pt x="34" y="1368"/>
                  </a:lnTo>
                  <a:lnTo>
                    <a:pt x="16" y="1361"/>
                  </a:lnTo>
                  <a:lnTo>
                    <a:pt x="5" y="1357"/>
                  </a:lnTo>
                  <a:lnTo>
                    <a:pt x="0" y="1355"/>
                  </a:lnTo>
                  <a:lnTo>
                    <a:pt x="0" y="1349"/>
                  </a:lnTo>
                  <a:lnTo>
                    <a:pt x="3" y="1336"/>
                  </a:lnTo>
                  <a:lnTo>
                    <a:pt x="5" y="1316"/>
                  </a:lnTo>
                  <a:lnTo>
                    <a:pt x="9" y="1287"/>
                  </a:lnTo>
                  <a:lnTo>
                    <a:pt x="15" y="1250"/>
                  </a:lnTo>
                  <a:lnTo>
                    <a:pt x="22" y="1209"/>
                  </a:lnTo>
                  <a:lnTo>
                    <a:pt x="33" y="1161"/>
                  </a:lnTo>
                  <a:lnTo>
                    <a:pt x="44" y="1109"/>
                  </a:lnTo>
                  <a:lnTo>
                    <a:pt x="57" y="1053"/>
                  </a:lnTo>
                  <a:lnTo>
                    <a:pt x="73" y="993"/>
                  </a:lnTo>
                  <a:lnTo>
                    <a:pt x="92" y="929"/>
                  </a:lnTo>
                  <a:lnTo>
                    <a:pt x="114" y="865"/>
                  </a:lnTo>
                  <a:lnTo>
                    <a:pt x="139" y="798"/>
                  </a:lnTo>
                  <a:lnTo>
                    <a:pt x="167" y="729"/>
                  </a:lnTo>
                  <a:lnTo>
                    <a:pt x="197" y="661"/>
                  </a:lnTo>
                  <a:lnTo>
                    <a:pt x="231" y="592"/>
                  </a:lnTo>
                  <a:lnTo>
                    <a:pt x="269" y="525"/>
                  </a:lnTo>
                  <a:lnTo>
                    <a:pt x="311" y="459"/>
                  </a:lnTo>
                  <a:lnTo>
                    <a:pt x="356" y="395"/>
                  </a:lnTo>
                  <a:lnTo>
                    <a:pt x="406" y="334"/>
                  </a:lnTo>
                  <a:lnTo>
                    <a:pt x="460" y="277"/>
                  </a:lnTo>
                  <a:lnTo>
                    <a:pt x="518" y="223"/>
                  </a:lnTo>
                  <a:lnTo>
                    <a:pt x="581" y="175"/>
                  </a:lnTo>
                  <a:lnTo>
                    <a:pt x="648" y="131"/>
                  </a:lnTo>
                </a:path>
              </a:pathLst>
            </a:custGeom>
            <a:gradFill rotWithShape="1">
              <a:gsLst>
                <a:gs pos="0">
                  <a:srgbClr val="BC61CB"/>
                </a:gs>
                <a:gs pos="100000">
                  <a:srgbClr val="572D5E"/>
                </a:gs>
              </a:gsLst>
              <a:lin ang="0" scaled="1"/>
            </a:gradFill>
            <a:ln w="3810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77" name="Freeform 24">
              <a:extLst>
                <a:ext uri="{FF2B5EF4-FFF2-40B4-BE49-F238E27FC236}">
                  <a16:creationId xmlns:a16="http://schemas.microsoft.com/office/drawing/2014/main" id="{433FFAB9-CCD8-9306-63A9-FE9AE823E0B9}"/>
                </a:ext>
              </a:extLst>
            </p:cNvPr>
            <p:cNvSpPr>
              <a:spLocks/>
            </p:cNvSpPr>
            <p:nvPr/>
          </p:nvSpPr>
          <p:spPr bwMode="gray">
            <a:xfrm>
              <a:off x="2352" y="2462"/>
              <a:ext cx="960" cy="1618"/>
            </a:xfrm>
            <a:custGeom>
              <a:avLst/>
              <a:gdLst>
                <a:gd name="T0" fmla="*/ 5 w 1470"/>
                <a:gd name="T1" fmla="*/ 10 h 2346"/>
                <a:gd name="T2" fmla="*/ 5 w 1470"/>
                <a:gd name="T3" fmla="*/ 11 h 2346"/>
                <a:gd name="T4" fmla="*/ 5 w 1470"/>
                <a:gd name="T5" fmla="*/ 12 h 2346"/>
                <a:gd name="T6" fmla="*/ 5 w 1470"/>
                <a:gd name="T7" fmla="*/ 13 h 2346"/>
                <a:gd name="T8" fmla="*/ 5 w 1470"/>
                <a:gd name="T9" fmla="*/ 14 h 2346"/>
                <a:gd name="T10" fmla="*/ 5 w 1470"/>
                <a:gd name="T11" fmla="*/ 15 h 2346"/>
                <a:gd name="T12" fmla="*/ 5 w 1470"/>
                <a:gd name="T13" fmla="*/ 16 h 2346"/>
                <a:gd name="T14" fmla="*/ 4 w 1470"/>
                <a:gd name="T15" fmla="*/ 17 h 2346"/>
                <a:gd name="T16" fmla="*/ 3 w 1470"/>
                <a:gd name="T17" fmla="*/ 18 h 2346"/>
                <a:gd name="T18" fmla="*/ 3 w 1470"/>
                <a:gd name="T19" fmla="*/ 18 h 2346"/>
                <a:gd name="T20" fmla="*/ 3 w 1470"/>
                <a:gd name="T21" fmla="*/ 19 h 2346"/>
                <a:gd name="T22" fmla="*/ 3 w 1470"/>
                <a:gd name="T23" fmla="*/ 19 h 2346"/>
                <a:gd name="T24" fmla="*/ 3 w 1470"/>
                <a:gd name="T25" fmla="*/ 19 h 2346"/>
                <a:gd name="T26" fmla="*/ 3 w 1470"/>
                <a:gd name="T27" fmla="*/ 19 h 2346"/>
                <a:gd name="T28" fmla="*/ 3 w 1470"/>
                <a:gd name="T29" fmla="*/ 19 h 2346"/>
                <a:gd name="T30" fmla="*/ 3 w 1470"/>
                <a:gd name="T31" fmla="*/ 19 h 2346"/>
                <a:gd name="T32" fmla="*/ 2 w 1470"/>
                <a:gd name="T33" fmla="*/ 18 h 2346"/>
                <a:gd name="T34" fmla="*/ 2 w 1470"/>
                <a:gd name="T35" fmla="*/ 18 h 2346"/>
                <a:gd name="T36" fmla="*/ 2 w 1470"/>
                <a:gd name="T37" fmla="*/ 17 h 2346"/>
                <a:gd name="T38" fmla="*/ 1 w 1470"/>
                <a:gd name="T39" fmla="*/ 16 h 2346"/>
                <a:gd name="T40" fmla="*/ 1 w 1470"/>
                <a:gd name="T41" fmla="*/ 15 h 2346"/>
                <a:gd name="T42" fmla="*/ 1 w 1470"/>
                <a:gd name="T43" fmla="*/ 14 h 2346"/>
                <a:gd name="T44" fmla="*/ 1 w 1470"/>
                <a:gd name="T45" fmla="*/ 13 h 2346"/>
                <a:gd name="T46" fmla="*/ 1 w 1470"/>
                <a:gd name="T47" fmla="*/ 12 h 2346"/>
                <a:gd name="T48" fmla="*/ 1 w 1470"/>
                <a:gd name="T49" fmla="*/ 11 h 2346"/>
                <a:gd name="T50" fmla="*/ 1 w 1470"/>
                <a:gd name="T51" fmla="*/ 10 h 2346"/>
                <a:gd name="T52" fmla="*/ 1 w 1470"/>
                <a:gd name="T53" fmla="*/ 9 h 2346"/>
                <a:gd name="T54" fmla="*/ 1 w 1470"/>
                <a:gd name="T55" fmla="*/ 8 h 2346"/>
                <a:gd name="T56" fmla="*/ 1 w 1470"/>
                <a:gd name="T57" fmla="*/ 7 h 2346"/>
                <a:gd name="T58" fmla="*/ 1 w 1470"/>
                <a:gd name="T59" fmla="*/ 6 h 2346"/>
                <a:gd name="T60" fmla="*/ 1 w 1470"/>
                <a:gd name="T61" fmla="*/ 4 h 2346"/>
                <a:gd name="T62" fmla="*/ 1 w 1470"/>
                <a:gd name="T63" fmla="*/ 4 h 2346"/>
                <a:gd name="T64" fmla="*/ 1 w 1470"/>
                <a:gd name="T65" fmla="*/ 3 h 2346"/>
                <a:gd name="T66" fmla="*/ 2 w 1470"/>
                <a:gd name="T67" fmla="*/ 2 h 2346"/>
                <a:gd name="T68" fmla="*/ 2 w 1470"/>
                <a:gd name="T69" fmla="*/ 1 h 2346"/>
                <a:gd name="T70" fmla="*/ 2 w 1470"/>
                <a:gd name="T71" fmla="*/ 1 h 2346"/>
                <a:gd name="T72" fmla="*/ 3 w 1470"/>
                <a:gd name="T73" fmla="*/ 1 h 2346"/>
                <a:gd name="T74" fmla="*/ 3 w 1470"/>
                <a:gd name="T75" fmla="*/ 1 h 2346"/>
                <a:gd name="T76" fmla="*/ 3 w 1470"/>
                <a:gd name="T77" fmla="*/ 1 h 2346"/>
                <a:gd name="T78" fmla="*/ 3 w 1470"/>
                <a:gd name="T79" fmla="*/ 1 h 2346"/>
                <a:gd name="T80" fmla="*/ 3 w 1470"/>
                <a:gd name="T81" fmla="*/ 1 h 2346"/>
                <a:gd name="T82" fmla="*/ 3 w 1470"/>
                <a:gd name="T83" fmla="*/ 1 h 2346"/>
                <a:gd name="T84" fmla="*/ 3 w 1470"/>
                <a:gd name="T85" fmla="*/ 1 h 2346"/>
                <a:gd name="T86" fmla="*/ 3 w 1470"/>
                <a:gd name="T87" fmla="*/ 1 h 2346"/>
                <a:gd name="T88" fmla="*/ 4 w 1470"/>
                <a:gd name="T89" fmla="*/ 2 h 2346"/>
                <a:gd name="T90" fmla="*/ 5 w 1470"/>
                <a:gd name="T91" fmla="*/ 3 h 2346"/>
                <a:gd name="T92" fmla="*/ 5 w 1470"/>
                <a:gd name="T93" fmla="*/ 4 h 2346"/>
                <a:gd name="T94" fmla="*/ 5 w 1470"/>
                <a:gd name="T95" fmla="*/ 4 h 2346"/>
                <a:gd name="T96" fmla="*/ 5 w 1470"/>
                <a:gd name="T97" fmla="*/ 6 h 2346"/>
                <a:gd name="T98" fmla="*/ 5 w 1470"/>
                <a:gd name="T99" fmla="*/ 7 h 2346"/>
                <a:gd name="T100" fmla="*/ 5 w 1470"/>
                <a:gd name="T101" fmla="*/ 8 h 2346"/>
                <a:gd name="T102" fmla="*/ 5 w 1470"/>
                <a:gd name="T103" fmla="*/ 9 h 234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470" h="2346">
                  <a:moveTo>
                    <a:pt x="1470" y="1173"/>
                  </a:moveTo>
                  <a:lnTo>
                    <a:pt x="1467" y="1246"/>
                  </a:lnTo>
                  <a:lnTo>
                    <a:pt x="1458" y="1319"/>
                  </a:lnTo>
                  <a:lnTo>
                    <a:pt x="1444" y="1390"/>
                  </a:lnTo>
                  <a:lnTo>
                    <a:pt x="1423" y="1462"/>
                  </a:lnTo>
                  <a:lnTo>
                    <a:pt x="1400" y="1529"/>
                  </a:lnTo>
                  <a:lnTo>
                    <a:pt x="1371" y="1596"/>
                  </a:lnTo>
                  <a:lnTo>
                    <a:pt x="1339" y="1662"/>
                  </a:lnTo>
                  <a:lnTo>
                    <a:pt x="1305" y="1725"/>
                  </a:lnTo>
                  <a:lnTo>
                    <a:pt x="1267" y="1784"/>
                  </a:lnTo>
                  <a:lnTo>
                    <a:pt x="1228" y="1843"/>
                  </a:lnTo>
                  <a:lnTo>
                    <a:pt x="1187" y="1898"/>
                  </a:lnTo>
                  <a:lnTo>
                    <a:pt x="1145" y="1952"/>
                  </a:lnTo>
                  <a:lnTo>
                    <a:pt x="1102" y="2002"/>
                  </a:lnTo>
                  <a:lnTo>
                    <a:pt x="1060" y="2050"/>
                  </a:lnTo>
                  <a:lnTo>
                    <a:pt x="1019" y="2094"/>
                  </a:lnTo>
                  <a:lnTo>
                    <a:pt x="978" y="2135"/>
                  </a:lnTo>
                  <a:lnTo>
                    <a:pt x="939" y="2174"/>
                  </a:lnTo>
                  <a:lnTo>
                    <a:pt x="901" y="2207"/>
                  </a:lnTo>
                  <a:lnTo>
                    <a:pt x="866" y="2240"/>
                  </a:lnTo>
                  <a:lnTo>
                    <a:pt x="835" y="2266"/>
                  </a:lnTo>
                  <a:lnTo>
                    <a:pt x="806" y="2291"/>
                  </a:lnTo>
                  <a:lnTo>
                    <a:pt x="783" y="2310"/>
                  </a:lnTo>
                  <a:lnTo>
                    <a:pt x="763" y="2326"/>
                  </a:lnTo>
                  <a:lnTo>
                    <a:pt x="748" y="2336"/>
                  </a:lnTo>
                  <a:lnTo>
                    <a:pt x="739" y="2343"/>
                  </a:lnTo>
                  <a:lnTo>
                    <a:pt x="735" y="2346"/>
                  </a:lnTo>
                  <a:lnTo>
                    <a:pt x="732" y="2343"/>
                  </a:lnTo>
                  <a:lnTo>
                    <a:pt x="723" y="2336"/>
                  </a:lnTo>
                  <a:lnTo>
                    <a:pt x="709" y="2326"/>
                  </a:lnTo>
                  <a:lnTo>
                    <a:pt x="688" y="2310"/>
                  </a:lnTo>
                  <a:lnTo>
                    <a:pt x="665" y="2291"/>
                  </a:lnTo>
                  <a:lnTo>
                    <a:pt x="636" y="2266"/>
                  </a:lnTo>
                  <a:lnTo>
                    <a:pt x="604" y="2240"/>
                  </a:lnTo>
                  <a:lnTo>
                    <a:pt x="570" y="2207"/>
                  </a:lnTo>
                  <a:lnTo>
                    <a:pt x="532" y="2174"/>
                  </a:lnTo>
                  <a:lnTo>
                    <a:pt x="493" y="2135"/>
                  </a:lnTo>
                  <a:lnTo>
                    <a:pt x="452" y="2094"/>
                  </a:lnTo>
                  <a:lnTo>
                    <a:pt x="410" y="2050"/>
                  </a:lnTo>
                  <a:lnTo>
                    <a:pt x="367" y="2002"/>
                  </a:lnTo>
                  <a:lnTo>
                    <a:pt x="325" y="1952"/>
                  </a:lnTo>
                  <a:lnTo>
                    <a:pt x="284" y="1898"/>
                  </a:lnTo>
                  <a:lnTo>
                    <a:pt x="243" y="1843"/>
                  </a:lnTo>
                  <a:lnTo>
                    <a:pt x="204" y="1784"/>
                  </a:lnTo>
                  <a:lnTo>
                    <a:pt x="166" y="1725"/>
                  </a:lnTo>
                  <a:lnTo>
                    <a:pt x="131" y="1662"/>
                  </a:lnTo>
                  <a:lnTo>
                    <a:pt x="100" y="1596"/>
                  </a:lnTo>
                  <a:lnTo>
                    <a:pt x="71" y="1529"/>
                  </a:lnTo>
                  <a:lnTo>
                    <a:pt x="48" y="1462"/>
                  </a:lnTo>
                  <a:lnTo>
                    <a:pt x="27" y="1390"/>
                  </a:lnTo>
                  <a:lnTo>
                    <a:pt x="13" y="1319"/>
                  </a:lnTo>
                  <a:lnTo>
                    <a:pt x="4" y="1246"/>
                  </a:lnTo>
                  <a:lnTo>
                    <a:pt x="0" y="1173"/>
                  </a:lnTo>
                  <a:lnTo>
                    <a:pt x="4" y="1099"/>
                  </a:lnTo>
                  <a:lnTo>
                    <a:pt x="13" y="1026"/>
                  </a:lnTo>
                  <a:lnTo>
                    <a:pt x="27" y="954"/>
                  </a:lnTo>
                  <a:lnTo>
                    <a:pt x="48" y="884"/>
                  </a:lnTo>
                  <a:lnTo>
                    <a:pt x="71" y="816"/>
                  </a:lnTo>
                  <a:lnTo>
                    <a:pt x="100" y="748"/>
                  </a:lnTo>
                  <a:lnTo>
                    <a:pt x="131" y="684"/>
                  </a:lnTo>
                  <a:lnTo>
                    <a:pt x="166" y="621"/>
                  </a:lnTo>
                  <a:lnTo>
                    <a:pt x="204" y="560"/>
                  </a:lnTo>
                  <a:lnTo>
                    <a:pt x="243" y="502"/>
                  </a:lnTo>
                  <a:lnTo>
                    <a:pt x="284" y="446"/>
                  </a:lnTo>
                  <a:lnTo>
                    <a:pt x="325" y="394"/>
                  </a:lnTo>
                  <a:lnTo>
                    <a:pt x="367" y="343"/>
                  </a:lnTo>
                  <a:lnTo>
                    <a:pt x="410" y="295"/>
                  </a:lnTo>
                  <a:lnTo>
                    <a:pt x="452" y="251"/>
                  </a:lnTo>
                  <a:lnTo>
                    <a:pt x="493" y="210"/>
                  </a:lnTo>
                  <a:lnTo>
                    <a:pt x="532" y="171"/>
                  </a:lnTo>
                  <a:lnTo>
                    <a:pt x="570" y="137"/>
                  </a:lnTo>
                  <a:lnTo>
                    <a:pt x="604" y="105"/>
                  </a:lnTo>
                  <a:lnTo>
                    <a:pt x="636" y="79"/>
                  </a:lnTo>
                  <a:lnTo>
                    <a:pt x="665" y="55"/>
                  </a:lnTo>
                  <a:lnTo>
                    <a:pt x="688" y="35"/>
                  </a:lnTo>
                  <a:lnTo>
                    <a:pt x="709" y="19"/>
                  </a:lnTo>
                  <a:lnTo>
                    <a:pt x="723" y="9"/>
                  </a:lnTo>
                  <a:lnTo>
                    <a:pt x="732" y="1"/>
                  </a:lnTo>
                  <a:lnTo>
                    <a:pt x="735" y="0"/>
                  </a:lnTo>
                  <a:lnTo>
                    <a:pt x="739" y="1"/>
                  </a:lnTo>
                  <a:lnTo>
                    <a:pt x="748" y="9"/>
                  </a:lnTo>
                  <a:lnTo>
                    <a:pt x="763" y="19"/>
                  </a:lnTo>
                  <a:lnTo>
                    <a:pt x="783" y="35"/>
                  </a:lnTo>
                  <a:lnTo>
                    <a:pt x="806" y="55"/>
                  </a:lnTo>
                  <a:lnTo>
                    <a:pt x="835" y="79"/>
                  </a:lnTo>
                  <a:lnTo>
                    <a:pt x="866" y="105"/>
                  </a:lnTo>
                  <a:lnTo>
                    <a:pt x="901" y="137"/>
                  </a:lnTo>
                  <a:lnTo>
                    <a:pt x="939" y="171"/>
                  </a:lnTo>
                  <a:lnTo>
                    <a:pt x="978" y="210"/>
                  </a:lnTo>
                  <a:lnTo>
                    <a:pt x="1019" y="251"/>
                  </a:lnTo>
                  <a:lnTo>
                    <a:pt x="1060" y="295"/>
                  </a:lnTo>
                  <a:lnTo>
                    <a:pt x="1102" y="343"/>
                  </a:lnTo>
                  <a:lnTo>
                    <a:pt x="1145" y="394"/>
                  </a:lnTo>
                  <a:lnTo>
                    <a:pt x="1187" y="446"/>
                  </a:lnTo>
                  <a:lnTo>
                    <a:pt x="1228" y="502"/>
                  </a:lnTo>
                  <a:lnTo>
                    <a:pt x="1267" y="560"/>
                  </a:lnTo>
                  <a:lnTo>
                    <a:pt x="1305" y="621"/>
                  </a:lnTo>
                  <a:lnTo>
                    <a:pt x="1339" y="684"/>
                  </a:lnTo>
                  <a:lnTo>
                    <a:pt x="1371" y="748"/>
                  </a:lnTo>
                  <a:lnTo>
                    <a:pt x="1400" y="816"/>
                  </a:lnTo>
                  <a:lnTo>
                    <a:pt x="1423" y="884"/>
                  </a:lnTo>
                  <a:lnTo>
                    <a:pt x="1444" y="954"/>
                  </a:lnTo>
                  <a:lnTo>
                    <a:pt x="1458" y="1026"/>
                  </a:lnTo>
                  <a:lnTo>
                    <a:pt x="1467" y="1099"/>
                  </a:lnTo>
                  <a:lnTo>
                    <a:pt x="1470" y="1173"/>
                  </a:lnTo>
                </a:path>
              </a:pathLst>
            </a:custGeom>
            <a:gradFill rotWithShape="1">
              <a:gsLst>
                <a:gs pos="0">
                  <a:srgbClr val="76002F"/>
                </a:gs>
                <a:gs pos="100000">
                  <a:srgbClr val="FF0066"/>
                </a:gs>
              </a:gsLst>
              <a:lin ang="5400000" scaled="1"/>
            </a:gradFill>
            <a:ln w="3810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78" name="Freeform 26">
              <a:extLst>
                <a:ext uri="{FF2B5EF4-FFF2-40B4-BE49-F238E27FC236}">
                  <a16:creationId xmlns:a16="http://schemas.microsoft.com/office/drawing/2014/main" id="{3E712DF4-5486-0597-144F-24CD24C5F593}"/>
                </a:ext>
              </a:extLst>
            </p:cNvPr>
            <p:cNvSpPr>
              <a:spLocks/>
            </p:cNvSpPr>
            <p:nvPr/>
          </p:nvSpPr>
          <p:spPr bwMode="gray">
            <a:xfrm rot="521906">
              <a:off x="2684" y="2537"/>
              <a:ext cx="1680" cy="864"/>
            </a:xfrm>
            <a:custGeom>
              <a:avLst/>
              <a:gdLst>
                <a:gd name="T0" fmla="*/ 122 w 2032"/>
                <a:gd name="T1" fmla="*/ 1 h 1536"/>
                <a:gd name="T2" fmla="*/ 132 w 2032"/>
                <a:gd name="T3" fmla="*/ 1 h 1536"/>
                <a:gd name="T4" fmla="*/ 141 w 2032"/>
                <a:gd name="T5" fmla="*/ 1 h 1536"/>
                <a:gd name="T6" fmla="*/ 148 w 2032"/>
                <a:gd name="T7" fmla="*/ 1 h 1536"/>
                <a:gd name="T8" fmla="*/ 155 w 2032"/>
                <a:gd name="T9" fmla="*/ 1 h 1536"/>
                <a:gd name="T10" fmla="*/ 160 w 2032"/>
                <a:gd name="T11" fmla="*/ 1 h 1536"/>
                <a:gd name="T12" fmla="*/ 164 w 2032"/>
                <a:gd name="T13" fmla="*/ 1 h 1536"/>
                <a:gd name="T14" fmla="*/ 167 w 2032"/>
                <a:gd name="T15" fmla="*/ 1 h 1536"/>
                <a:gd name="T16" fmla="*/ 168 w 2032"/>
                <a:gd name="T17" fmla="*/ 1 h 1536"/>
                <a:gd name="T18" fmla="*/ 171 w 2032"/>
                <a:gd name="T19" fmla="*/ 1 h 1536"/>
                <a:gd name="T20" fmla="*/ 171 w 2032"/>
                <a:gd name="T21" fmla="*/ 1 h 1536"/>
                <a:gd name="T22" fmla="*/ 172 w 2032"/>
                <a:gd name="T23" fmla="*/ 1 h 1536"/>
                <a:gd name="T24" fmla="*/ 171 w 2032"/>
                <a:gd name="T25" fmla="*/ 1 h 1536"/>
                <a:gd name="T26" fmla="*/ 168 w 2032"/>
                <a:gd name="T27" fmla="*/ 1 h 1536"/>
                <a:gd name="T28" fmla="*/ 164 w 2032"/>
                <a:gd name="T29" fmla="*/ 1 h 1536"/>
                <a:gd name="T30" fmla="*/ 157 w 2032"/>
                <a:gd name="T31" fmla="*/ 1 h 1536"/>
                <a:gd name="T32" fmla="*/ 148 w 2032"/>
                <a:gd name="T33" fmla="*/ 1 h 1536"/>
                <a:gd name="T34" fmla="*/ 139 w 2032"/>
                <a:gd name="T35" fmla="*/ 1 h 1536"/>
                <a:gd name="T36" fmla="*/ 128 w 2032"/>
                <a:gd name="T37" fmla="*/ 1 h 1536"/>
                <a:gd name="T38" fmla="*/ 117 w 2032"/>
                <a:gd name="T39" fmla="*/ 1 h 1536"/>
                <a:gd name="T40" fmla="*/ 104 w 2032"/>
                <a:gd name="T41" fmla="*/ 1 h 1536"/>
                <a:gd name="T42" fmla="*/ 91 w 2032"/>
                <a:gd name="T43" fmla="*/ 1 h 1536"/>
                <a:gd name="T44" fmla="*/ 79 w 2032"/>
                <a:gd name="T45" fmla="*/ 1 h 1536"/>
                <a:gd name="T46" fmla="*/ 66 w 2032"/>
                <a:gd name="T47" fmla="*/ 1 h 1536"/>
                <a:gd name="T48" fmla="*/ 55 w 2032"/>
                <a:gd name="T49" fmla="*/ 1 h 1536"/>
                <a:gd name="T50" fmla="*/ 44 w 2032"/>
                <a:gd name="T51" fmla="*/ 1 h 1536"/>
                <a:gd name="T52" fmla="*/ 34 w 2032"/>
                <a:gd name="T53" fmla="*/ 1 h 1536"/>
                <a:gd name="T54" fmla="*/ 26 w 2032"/>
                <a:gd name="T55" fmla="*/ 1 h 1536"/>
                <a:gd name="T56" fmla="*/ 19 w 2032"/>
                <a:gd name="T57" fmla="*/ 1 h 1536"/>
                <a:gd name="T58" fmla="*/ 14 w 2032"/>
                <a:gd name="T59" fmla="*/ 1 h 1536"/>
                <a:gd name="T60" fmla="*/ 10 w 2032"/>
                <a:gd name="T61" fmla="*/ 1 h 1536"/>
                <a:gd name="T62" fmla="*/ 6 w 2032"/>
                <a:gd name="T63" fmla="*/ 1 h 1536"/>
                <a:gd name="T64" fmla="*/ 4 w 2032"/>
                <a:gd name="T65" fmla="*/ 1 h 1536"/>
                <a:gd name="T66" fmla="*/ 2 w 2032"/>
                <a:gd name="T67" fmla="*/ 1 h 1536"/>
                <a:gd name="T68" fmla="*/ 2 w 2032"/>
                <a:gd name="T69" fmla="*/ 1 h 1536"/>
                <a:gd name="T70" fmla="*/ 2 w 2032"/>
                <a:gd name="T71" fmla="*/ 1 h 1536"/>
                <a:gd name="T72" fmla="*/ 0 w 2032"/>
                <a:gd name="T73" fmla="*/ 1 h 1536"/>
                <a:gd name="T74" fmla="*/ 2 w 2032"/>
                <a:gd name="T75" fmla="*/ 1 h 1536"/>
                <a:gd name="T76" fmla="*/ 5 w 2032"/>
                <a:gd name="T77" fmla="*/ 1 h 1536"/>
                <a:gd name="T78" fmla="*/ 11 w 2032"/>
                <a:gd name="T79" fmla="*/ 1 h 1536"/>
                <a:gd name="T80" fmla="*/ 17 w 2032"/>
                <a:gd name="T81" fmla="*/ 1 h 1536"/>
                <a:gd name="T82" fmla="*/ 28 w 2032"/>
                <a:gd name="T83" fmla="*/ 1 h 1536"/>
                <a:gd name="T84" fmla="*/ 37 w 2032"/>
                <a:gd name="T85" fmla="*/ 1 h 1536"/>
                <a:gd name="T86" fmla="*/ 50 w 2032"/>
                <a:gd name="T87" fmla="*/ 1 h 1536"/>
                <a:gd name="T88" fmla="*/ 61 w 2032"/>
                <a:gd name="T89" fmla="*/ 1 h 1536"/>
                <a:gd name="T90" fmla="*/ 74 w 2032"/>
                <a:gd name="T91" fmla="*/ 0 h 1536"/>
                <a:gd name="T92" fmla="*/ 86 w 2032"/>
                <a:gd name="T93" fmla="*/ 1 h 1536"/>
                <a:gd name="T94" fmla="*/ 99 w 2032"/>
                <a:gd name="T95" fmla="*/ 1 h 1536"/>
                <a:gd name="T96" fmla="*/ 110 w 2032"/>
                <a:gd name="T97" fmla="*/ 1 h 1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032" h="1536">
                  <a:moveTo>
                    <a:pt x="1383" y="131"/>
                  </a:moveTo>
                  <a:lnTo>
                    <a:pt x="1451" y="175"/>
                  </a:lnTo>
                  <a:lnTo>
                    <a:pt x="1514" y="223"/>
                  </a:lnTo>
                  <a:lnTo>
                    <a:pt x="1572" y="277"/>
                  </a:lnTo>
                  <a:lnTo>
                    <a:pt x="1626" y="334"/>
                  </a:lnTo>
                  <a:lnTo>
                    <a:pt x="1676" y="395"/>
                  </a:lnTo>
                  <a:lnTo>
                    <a:pt x="1721" y="459"/>
                  </a:lnTo>
                  <a:lnTo>
                    <a:pt x="1763" y="525"/>
                  </a:lnTo>
                  <a:lnTo>
                    <a:pt x="1801" y="592"/>
                  </a:lnTo>
                  <a:lnTo>
                    <a:pt x="1835" y="661"/>
                  </a:lnTo>
                  <a:lnTo>
                    <a:pt x="1865" y="729"/>
                  </a:lnTo>
                  <a:lnTo>
                    <a:pt x="1893" y="798"/>
                  </a:lnTo>
                  <a:lnTo>
                    <a:pt x="1918" y="865"/>
                  </a:lnTo>
                  <a:lnTo>
                    <a:pt x="1940" y="929"/>
                  </a:lnTo>
                  <a:lnTo>
                    <a:pt x="1957" y="993"/>
                  </a:lnTo>
                  <a:lnTo>
                    <a:pt x="1975" y="1053"/>
                  </a:lnTo>
                  <a:lnTo>
                    <a:pt x="1988" y="1109"/>
                  </a:lnTo>
                  <a:lnTo>
                    <a:pt x="2000" y="1161"/>
                  </a:lnTo>
                  <a:lnTo>
                    <a:pt x="2008" y="1209"/>
                  </a:lnTo>
                  <a:lnTo>
                    <a:pt x="2017" y="1250"/>
                  </a:lnTo>
                  <a:lnTo>
                    <a:pt x="2021" y="1287"/>
                  </a:lnTo>
                  <a:lnTo>
                    <a:pt x="2026" y="1316"/>
                  </a:lnTo>
                  <a:lnTo>
                    <a:pt x="2029" y="1336"/>
                  </a:lnTo>
                  <a:lnTo>
                    <a:pt x="2030" y="1349"/>
                  </a:lnTo>
                  <a:lnTo>
                    <a:pt x="2032" y="1355"/>
                  </a:lnTo>
                  <a:lnTo>
                    <a:pt x="2027" y="1357"/>
                  </a:lnTo>
                  <a:lnTo>
                    <a:pt x="2016" y="1361"/>
                  </a:lnTo>
                  <a:lnTo>
                    <a:pt x="1998" y="1368"/>
                  </a:lnTo>
                  <a:lnTo>
                    <a:pt x="1972" y="1378"/>
                  </a:lnTo>
                  <a:lnTo>
                    <a:pt x="1941" y="1390"/>
                  </a:lnTo>
                  <a:lnTo>
                    <a:pt x="1905" y="1405"/>
                  </a:lnTo>
                  <a:lnTo>
                    <a:pt x="1861" y="1419"/>
                  </a:lnTo>
                  <a:lnTo>
                    <a:pt x="1814" y="1434"/>
                  </a:lnTo>
                  <a:lnTo>
                    <a:pt x="1762" y="1450"/>
                  </a:lnTo>
                  <a:lnTo>
                    <a:pt x="1706" y="1466"/>
                  </a:lnTo>
                  <a:lnTo>
                    <a:pt x="1647" y="1481"/>
                  </a:lnTo>
                  <a:lnTo>
                    <a:pt x="1582" y="1495"/>
                  </a:lnTo>
                  <a:lnTo>
                    <a:pt x="1517" y="1507"/>
                  </a:lnTo>
                  <a:lnTo>
                    <a:pt x="1448" y="1518"/>
                  </a:lnTo>
                  <a:lnTo>
                    <a:pt x="1377" y="1527"/>
                  </a:lnTo>
                  <a:lnTo>
                    <a:pt x="1305" y="1533"/>
                  </a:lnTo>
                  <a:lnTo>
                    <a:pt x="1231" y="1536"/>
                  </a:lnTo>
                  <a:lnTo>
                    <a:pt x="1157" y="1536"/>
                  </a:lnTo>
                  <a:lnTo>
                    <a:pt x="1082" y="1532"/>
                  </a:lnTo>
                  <a:lnTo>
                    <a:pt x="1008" y="1524"/>
                  </a:lnTo>
                  <a:lnTo>
                    <a:pt x="933" y="1511"/>
                  </a:lnTo>
                  <a:lnTo>
                    <a:pt x="859" y="1494"/>
                  </a:lnTo>
                  <a:lnTo>
                    <a:pt x="787" y="1469"/>
                  </a:lnTo>
                  <a:lnTo>
                    <a:pt x="716" y="1440"/>
                  </a:lnTo>
                  <a:lnTo>
                    <a:pt x="647" y="1405"/>
                  </a:lnTo>
                  <a:lnTo>
                    <a:pt x="580" y="1361"/>
                  </a:lnTo>
                  <a:lnTo>
                    <a:pt x="518" y="1313"/>
                  </a:lnTo>
                  <a:lnTo>
                    <a:pt x="459" y="1259"/>
                  </a:lnTo>
                  <a:lnTo>
                    <a:pt x="405" y="1202"/>
                  </a:lnTo>
                  <a:lnTo>
                    <a:pt x="356" y="1141"/>
                  </a:lnTo>
                  <a:lnTo>
                    <a:pt x="311" y="1076"/>
                  </a:lnTo>
                  <a:lnTo>
                    <a:pt x="268" y="1011"/>
                  </a:lnTo>
                  <a:lnTo>
                    <a:pt x="230" y="944"/>
                  </a:lnTo>
                  <a:lnTo>
                    <a:pt x="197" y="875"/>
                  </a:lnTo>
                  <a:lnTo>
                    <a:pt x="166" y="806"/>
                  </a:lnTo>
                  <a:lnTo>
                    <a:pt x="138" y="738"/>
                  </a:lnTo>
                  <a:lnTo>
                    <a:pt x="114" y="672"/>
                  </a:lnTo>
                  <a:lnTo>
                    <a:pt x="92" y="607"/>
                  </a:lnTo>
                  <a:lnTo>
                    <a:pt x="73" y="542"/>
                  </a:lnTo>
                  <a:lnTo>
                    <a:pt x="57" y="483"/>
                  </a:lnTo>
                  <a:lnTo>
                    <a:pt x="44" y="427"/>
                  </a:lnTo>
                  <a:lnTo>
                    <a:pt x="32" y="375"/>
                  </a:lnTo>
                  <a:lnTo>
                    <a:pt x="22" y="326"/>
                  </a:lnTo>
                  <a:lnTo>
                    <a:pt x="14" y="286"/>
                  </a:lnTo>
                  <a:lnTo>
                    <a:pt x="9" y="249"/>
                  </a:lnTo>
                  <a:lnTo>
                    <a:pt x="4" y="220"/>
                  </a:lnTo>
                  <a:lnTo>
                    <a:pt x="3" y="200"/>
                  </a:lnTo>
                  <a:lnTo>
                    <a:pt x="0" y="186"/>
                  </a:lnTo>
                  <a:lnTo>
                    <a:pt x="0" y="182"/>
                  </a:lnTo>
                  <a:lnTo>
                    <a:pt x="4" y="179"/>
                  </a:lnTo>
                  <a:lnTo>
                    <a:pt x="16" y="175"/>
                  </a:lnTo>
                  <a:lnTo>
                    <a:pt x="33" y="167"/>
                  </a:lnTo>
                  <a:lnTo>
                    <a:pt x="58" y="157"/>
                  </a:lnTo>
                  <a:lnTo>
                    <a:pt x="90" y="146"/>
                  </a:lnTo>
                  <a:lnTo>
                    <a:pt x="127" y="131"/>
                  </a:lnTo>
                  <a:lnTo>
                    <a:pt x="169" y="116"/>
                  </a:lnTo>
                  <a:lnTo>
                    <a:pt x="217" y="102"/>
                  </a:lnTo>
                  <a:lnTo>
                    <a:pt x="270" y="86"/>
                  </a:lnTo>
                  <a:lnTo>
                    <a:pt x="325" y="70"/>
                  </a:lnTo>
                  <a:lnTo>
                    <a:pt x="385" y="55"/>
                  </a:lnTo>
                  <a:lnTo>
                    <a:pt x="449" y="42"/>
                  </a:lnTo>
                  <a:lnTo>
                    <a:pt x="515" y="29"/>
                  </a:lnTo>
                  <a:lnTo>
                    <a:pt x="583" y="17"/>
                  </a:lnTo>
                  <a:lnTo>
                    <a:pt x="653" y="8"/>
                  </a:lnTo>
                  <a:lnTo>
                    <a:pt x="726" y="3"/>
                  </a:lnTo>
                  <a:lnTo>
                    <a:pt x="801" y="0"/>
                  </a:lnTo>
                  <a:lnTo>
                    <a:pt x="875" y="0"/>
                  </a:lnTo>
                  <a:lnTo>
                    <a:pt x="949" y="4"/>
                  </a:lnTo>
                  <a:lnTo>
                    <a:pt x="1024" y="11"/>
                  </a:lnTo>
                  <a:lnTo>
                    <a:pt x="1098" y="24"/>
                  </a:lnTo>
                  <a:lnTo>
                    <a:pt x="1173" y="43"/>
                  </a:lnTo>
                  <a:lnTo>
                    <a:pt x="1244" y="67"/>
                  </a:lnTo>
                  <a:lnTo>
                    <a:pt x="1314" y="96"/>
                  </a:lnTo>
                  <a:lnTo>
                    <a:pt x="1383" y="131"/>
                  </a:lnTo>
                </a:path>
              </a:pathLst>
            </a:custGeom>
            <a:gradFill rotWithShape="1">
              <a:gsLst>
                <a:gs pos="0">
                  <a:srgbClr val="763A1C"/>
                </a:gs>
                <a:gs pos="100000">
                  <a:srgbClr val="FF7E3D"/>
                </a:gs>
              </a:gsLst>
              <a:lin ang="2700000" scaled="1"/>
            </a:gradFill>
            <a:ln w="3810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79" name="Freeform 29">
              <a:extLst>
                <a:ext uri="{FF2B5EF4-FFF2-40B4-BE49-F238E27FC236}">
                  <a16:creationId xmlns:a16="http://schemas.microsoft.com/office/drawing/2014/main" id="{4DD60CC0-1A07-7372-262F-0C6ADA0ACE06}"/>
                </a:ext>
              </a:extLst>
            </p:cNvPr>
            <p:cNvSpPr>
              <a:spLocks/>
            </p:cNvSpPr>
            <p:nvPr/>
          </p:nvSpPr>
          <p:spPr bwMode="gray">
            <a:xfrm rot="-468625">
              <a:off x="2736" y="1632"/>
              <a:ext cx="1728" cy="912"/>
            </a:xfrm>
            <a:custGeom>
              <a:avLst/>
              <a:gdLst>
                <a:gd name="T0" fmla="*/ 88 w 2032"/>
                <a:gd name="T1" fmla="*/ 1 h 1536"/>
                <a:gd name="T2" fmla="*/ 105 w 2032"/>
                <a:gd name="T3" fmla="*/ 1 h 1536"/>
                <a:gd name="T4" fmla="*/ 123 w 2032"/>
                <a:gd name="T5" fmla="*/ 1 h 1536"/>
                <a:gd name="T6" fmla="*/ 141 w 2032"/>
                <a:gd name="T7" fmla="*/ 0 h 1536"/>
                <a:gd name="T8" fmla="*/ 159 w 2032"/>
                <a:gd name="T9" fmla="*/ 1 h 1536"/>
                <a:gd name="T10" fmla="*/ 176 w 2032"/>
                <a:gd name="T11" fmla="*/ 1 h 1536"/>
                <a:gd name="T12" fmla="*/ 192 w 2032"/>
                <a:gd name="T13" fmla="*/ 1 h 1536"/>
                <a:gd name="T14" fmla="*/ 207 w 2032"/>
                <a:gd name="T15" fmla="*/ 1 h 1536"/>
                <a:gd name="T16" fmla="*/ 220 w 2032"/>
                <a:gd name="T17" fmla="*/ 1 h 1536"/>
                <a:gd name="T18" fmla="*/ 232 w 2032"/>
                <a:gd name="T19" fmla="*/ 1 h 1536"/>
                <a:gd name="T20" fmla="*/ 240 w 2032"/>
                <a:gd name="T21" fmla="*/ 1 h 1536"/>
                <a:gd name="T22" fmla="*/ 245 w 2032"/>
                <a:gd name="T23" fmla="*/ 1 h 1536"/>
                <a:gd name="T24" fmla="*/ 247 w 2032"/>
                <a:gd name="T25" fmla="*/ 1 h 1536"/>
                <a:gd name="T26" fmla="*/ 247 w 2032"/>
                <a:gd name="T27" fmla="*/ 1 h 1536"/>
                <a:gd name="T28" fmla="*/ 247 w 2032"/>
                <a:gd name="T29" fmla="*/ 1 h 1536"/>
                <a:gd name="T30" fmla="*/ 244 w 2032"/>
                <a:gd name="T31" fmla="*/ 1 h 1536"/>
                <a:gd name="T32" fmla="*/ 242 w 2032"/>
                <a:gd name="T33" fmla="*/ 1 h 1536"/>
                <a:gd name="T34" fmla="*/ 238 w 2032"/>
                <a:gd name="T35" fmla="*/ 1 h 1536"/>
                <a:gd name="T36" fmla="*/ 233 w 2032"/>
                <a:gd name="T37" fmla="*/ 1 h 1536"/>
                <a:gd name="T38" fmla="*/ 227 w 2032"/>
                <a:gd name="T39" fmla="*/ 1 h 1536"/>
                <a:gd name="T40" fmla="*/ 219 w 2032"/>
                <a:gd name="T41" fmla="*/ 1 h 1536"/>
                <a:gd name="T42" fmla="*/ 210 w 2032"/>
                <a:gd name="T43" fmla="*/ 1 h 1536"/>
                <a:gd name="T44" fmla="*/ 197 w 2032"/>
                <a:gd name="T45" fmla="*/ 1 h 1536"/>
                <a:gd name="T46" fmla="*/ 183 w 2032"/>
                <a:gd name="T47" fmla="*/ 1 h 1536"/>
                <a:gd name="T48" fmla="*/ 168 w 2032"/>
                <a:gd name="T49" fmla="*/ 2 h 1536"/>
                <a:gd name="T50" fmla="*/ 152 w 2032"/>
                <a:gd name="T51" fmla="*/ 2 h 1536"/>
                <a:gd name="T52" fmla="*/ 134 w 2032"/>
                <a:gd name="T53" fmla="*/ 2 h 1536"/>
                <a:gd name="T54" fmla="*/ 115 w 2032"/>
                <a:gd name="T55" fmla="*/ 2 h 1536"/>
                <a:gd name="T56" fmla="*/ 97 w 2032"/>
                <a:gd name="T57" fmla="*/ 2 h 1536"/>
                <a:gd name="T58" fmla="*/ 80 w 2032"/>
                <a:gd name="T59" fmla="*/ 2 h 1536"/>
                <a:gd name="T60" fmla="*/ 63 w 2032"/>
                <a:gd name="T61" fmla="*/ 2 h 1536"/>
                <a:gd name="T62" fmla="*/ 47 w 2032"/>
                <a:gd name="T63" fmla="*/ 2 h 1536"/>
                <a:gd name="T64" fmla="*/ 33 w 2032"/>
                <a:gd name="T65" fmla="*/ 2 h 1536"/>
                <a:gd name="T66" fmla="*/ 20 w 2032"/>
                <a:gd name="T67" fmla="*/ 2 h 1536"/>
                <a:gd name="T68" fmla="*/ 11 w 2032"/>
                <a:gd name="T69" fmla="*/ 1 h 1536"/>
                <a:gd name="T70" fmla="*/ 4 w 2032"/>
                <a:gd name="T71" fmla="*/ 1 h 1536"/>
                <a:gd name="T72" fmla="*/ 3 w 2032"/>
                <a:gd name="T73" fmla="*/ 1 h 1536"/>
                <a:gd name="T74" fmla="*/ 0 w 2032"/>
                <a:gd name="T75" fmla="*/ 1 h 1536"/>
                <a:gd name="T76" fmla="*/ 3 w 2032"/>
                <a:gd name="T77" fmla="*/ 1 h 1536"/>
                <a:gd name="T78" fmla="*/ 3 w 2032"/>
                <a:gd name="T79" fmla="*/ 1 h 1536"/>
                <a:gd name="T80" fmla="*/ 4 w 2032"/>
                <a:gd name="T81" fmla="*/ 1 h 1536"/>
                <a:gd name="T82" fmla="*/ 8 w 2032"/>
                <a:gd name="T83" fmla="*/ 1 h 1536"/>
                <a:gd name="T84" fmla="*/ 12 w 2032"/>
                <a:gd name="T85" fmla="*/ 1 h 1536"/>
                <a:gd name="T86" fmla="*/ 16 w 2032"/>
                <a:gd name="T87" fmla="*/ 1 h 1536"/>
                <a:gd name="T88" fmla="*/ 24 w 2032"/>
                <a:gd name="T89" fmla="*/ 1 h 1536"/>
                <a:gd name="T90" fmla="*/ 32 w 2032"/>
                <a:gd name="T91" fmla="*/ 1 h 1536"/>
                <a:gd name="T92" fmla="*/ 43 w 2032"/>
                <a:gd name="T93" fmla="*/ 1 h 1536"/>
                <a:gd name="T94" fmla="*/ 55 w 2032"/>
                <a:gd name="T95" fmla="*/ 1 h 1536"/>
                <a:gd name="T96" fmla="*/ 70 w 2032"/>
                <a:gd name="T97" fmla="*/ 1 h 1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032" h="1536">
                  <a:moveTo>
                    <a:pt x="647" y="131"/>
                  </a:moveTo>
                  <a:lnTo>
                    <a:pt x="716" y="96"/>
                  </a:lnTo>
                  <a:lnTo>
                    <a:pt x="787" y="67"/>
                  </a:lnTo>
                  <a:lnTo>
                    <a:pt x="859" y="43"/>
                  </a:lnTo>
                  <a:lnTo>
                    <a:pt x="933" y="25"/>
                  </a:lnTo>
                  <a:lnTo>
                    <a:pt x="1008" y="11"/>
                  </a:lnTo>
                  <a:lnTo>
                    <a:pt x="1082" y="4"/>
                  </a:lnTo>
                  <a:lnTo>
                    <a:pt x="1157" y="0"/>
                  </a:lnTo>
                  <a:lnTo>
                    <a:pt x="1231" y="0"/>
                  </a:lnTo>
                  <a:lnTo>
                    <a:pt x="1305" y="3"/>
                  </a:lnTo>
                  <a:lnTo>
                    <a:pt x="1377" y="8"/>
                  </a:lnTo>
                  <a:lnTo>
                    <a:pt x="1448" y="17"/>
                  </a:lnTo>
                  <a:lnTo>
                    <a:pt x="1517" y="29"/>
                  </a:lnTo>
                  <a:lnTo>
                    <a:pt x="1582" y="42"/>
                  </a:lnTo>
                  <a:lnTo>
                    <a:pt x="1647" y="55"/>
                  </a:lnTo>
                  <a:lnTo>
                    <a:pt x="1706" y="70"/>
                  </a:lnTo>
                  <a:lnTo>
                    <a:pt x="1762" y="86"/>
                  </a:lnTo>
                  <a:lnTo>
                    <a:pt x="1814" y="102"/>
                  </a:lnTo>
                  <a:lnTo>
                    <a:pt x="1861" y="116"/>
                  </a:lnTo>
                  <a:lnTo>
                    <a:pt x="1905" y="131"/>
                  </a:lnTo>
                  <a:lnTo>
                    <a:pt x="1941" y="146"/>
                  </a:lnTo>
                  <a:lnTo>
                    <a:pt x="1972" y="157"/>
                  </a:lnTo>
                  <a:lnTo>
                    <a:pt x="1998" y="167"/>
                  </a:lnTo>
                  <a:lnTo>
                    <a:pt x="2016" y="175"/>
                  </a:lnTo>
                  <a:lnTo>
                    <a:pt x="2027" y="179"/>
                  </a:lnTo>
                  <a:lnTo>
                    <a:pt x="2032" y="182"/>
                  </a:lnTo>
                  <a:lnTo>
                    <a:pt x="2030" y="186"/>
                  </a:lnTo>
                  <a:lnTo>
                    <a:pt x="2029" y="200"/>
                  </a:lnTo>
                  <a:lnTo>
                    <a:pt x="2026" y="220"/>
                  </a:lnTo>
                  <a:lnTo>
                    <a:pt x="2021" y="249"/>
                  </a:lnTo>
                  <a:lnTo>
                    <a:pt x="2017" y="286"/>
                  </a:lnTo>
                  <a:lnTo>
                    <a:pt x="2008" y="327"/>
                  </a:lnTo>
                  <a:lnTo>
                    <a:pt x="2000" y="375"/>
                  </a:lnTo>
                  <a:lnTo>
                    <a:pt x="1988" y="427"/>
                  </a:lnTo>
                  <a:lnTo>
                    <a:pt x="1975" y="483"/>
                  </a:lnTo>
                  <a:lnTo>
                    <a:pt x="1957" y="542"/>
                  </a:lnTo>
                  <a:lnTo>
                    <a:pt x="1940" y="607"/>
                  </a:lnTo>
                  <a:lnTo>
                    <a:pt x="1918" y="672"/>
                  </a:lnTo>
                  <a:lnTo>
                    <a:pt x="1893" y="738"/>
                  </a:lnTo>
                  <a:lnTo>
                    <a:pt x="1865" y="807"/>
                  </a:lnTo>
                  <a:lnTo>
                    <a:pt x="1835" y="875"/>
                  </a:lnTo>
                  <a:lnTo>
                    <a:pt x="1801" y="944"/>
                  </a:lnTo>
                  <a:lnTo>
                    <a:pt x="1763" y="1011"/>
                  </a:lnTo>
                  <a:lnTo>
                    <a:pt x="1721" y="1076"/>
                  </a:lnTo>
                  <a:lnTo>
                    <a:pt x="1676" y="1141"/>
                  </a:lnTo>
                  <a:lnTo>
                    <a:pt x="1626" y="1202"/>
                  </a:lnTo>
                  <a:lnTo>
                    <a:pt x="1572" y="1259"/>
                  </a:lnTo>
                  <a:lnTo>
                    <a:pt x="1514" y="1313"/>
                  </a:lnTo>
                  <a:lnTo>
                    <a:pt x="1451" y="1361"/>
                  </a:lnTo>
                  <a:lnTo>
                    <a:pt x="1383" y="1405"/>
                  </a:lnTo>
                  <a:lnTo>
                    <a:pt x="1314" y="1440"/>
                  </a:lnTo>
                  <a:lnTo>
                    <a:pt x="1244" y="1469"/>
                  </a:lnTo>
                  <a:lnTo>
                    <a:pt x="1173" y="1494"/>
                  </a:lnTo>
                  <a:lnTo>
                    <a:pt x="1098" y="1511"/>
                  </a:lnTo>
                  <a:lnTo>
                    <a:pt x="1024" y="1524"/>
                  </a:lnTo>
                  <a:lnTo>
                    <a:pt x="949" y="1532"/>
                  </a:lnTo>
                  <a:lnTo>
                    <a:pt x="875" y="1536"/>
                  </a:lnTo>
                  <a:lnTo>
                    <a:pt x="801" y="1536"/>
                  </a:lnTo>
                  <a:lnTo>
                    <a:pt x="726" y="1533"/>
                  </a:lnTo>
                  <a:lnTo>
                    <a:pt x="653" y="1527"/>
                  </a:lnTo>
                  <a:lnTo>
                    <a:pt x="583" y="1519"/>
                  </a:lnTo>
                  <a:lnTo>
                    <a:pt x="515" y="1507"/>
                  </a:lnTo>
                  <a:lnTo>
                    <a:pt x="449" y="1495"/>
                  </a:lnTo>
                  <a:lnTo>
                    <a:pt x="385" y="1481"/>
                  </a:lnTo>
                  <a:lnTo>
                    <a:pt x="325" y="1466"/>
                  </a:lnTo>
                  <a:lnTo>
                    <a:pt x="270" y="1450"/>
                  </a:lnTo>
                  <a:lnTo>
                    <a:pt x="217" y="1434"/>
                  </a:lnTo>
                  <a:lnTo>
                    <a:pt x="169" y="1419"/>
                  </a:lnTo>
                  <a:lnTo>
                    <a:pt x="127" y="1405"/>
                  </a:lnTo>
                  <a:lnTo>
                    <a:pt x="90" y="1390"/>
                  </a:lnTo>
                  <a:lnTo>
                    <a:pt x="58" y="1379"/>
                  </a:lnTo>
                  <a:lnTo>
                    <a:pt x="33" y="1368"/>
                  </a:lnTo>
                  <a:lnTo>
                    <a:pt x="16" y="1361"/>
                  </a:lnTo>
                  <a:lnTo>
                    <a:pt x="4" y="1357"/>
                  </a:lnTo>
                  <a:lnTo>
                    <a:pt x="0" y="1355"/>
                  </a:lnTo>
                  <a:lnTo>
                    <a:pt x="0" y="1349"/>
                  </a:lnTo>
                  <a:lnTo>
                    <a:pt x="3" y="1336"/>
                  </a:lnTo>
                  <a:lnTo>
                    <a:pt x="4" y="1316"/>
                  </a:lnTo>
                  <a:lnTo>
                    <a:pt x="9" y="1287"/>
                  </a:lnTo>
                  <a:lnTo>
                    <a:pt x="14" y="1250"/>
                  </a:lnTo>
                  <a:lnTo>
                    <a:pt x="22" y="1209"/>
                  </a:lnTo>
                  <a:lnTo>
                    <a:pt x="32" y="1161"/>
                  </a:lnTo>
                  <a:lnTo>
                    <a:pt x="44" y="1109"/>
                  </a:lnTo>
                  <a:lnTo>
                    <a:pt x="57" y="1053"/>
                  </a:lnTo>
                  <a:lnTo>
                    <a:pt x="73" y="993"/>
                  </a:lnTo>
                  <a:lnTo>
                    <a:pt x="92" y="929"/>
                  </a:lnTo>
                  <a:lnTo>
                    <a:pt x="114" y="865"/>
                  </a:lnTo>
                  <a:lnTo>
                    <a:pt x="138" y="798"/>
                  </a:lnTo>
                  <a:lnTo>
                    <a:pt x="166" y="729"/>
                  </a:lnTo>
                  <a:lnTo>
                    <a:pt x="197" y="661"/>
                  </a:lnTo>
                  <a:lnTo>
                    <a:pt x="230" y="592"/>
                  </a:lnTo>
                  <a:lnTo>
                    <a:pt x="268" y="525"/>
                  </a:lnTo>
                  <a:lnTo>
                    <a:pt x="311" y="459"/>
                  </a:lnTo>
                  <a:lnTo>
                    <a:pt x="356" y="395"/>
                  </a:lnTo>
                  <a:lnTo>
                    <a:pt x="405" y="334"/>
                  </a:lnTo>
                  <a:lnTo>
                    <a:pt x="459" y="277"/>
                  </a:lnTo>
                  <a:lnTo>
                    <a:pt x="518" y="223"/>
                  </a:lnTo>
                  <a:lnTo>
                    <a:pt x="580" y="175"/>
                  </a:lnTo>
                  <a:lnTo>
                    <a:pt x="647" y="131"/>
                  </a:lnTo>
                </a:path>
              </a:pathLst>
            </a:custGeom>
            <a:gradFill rotWithShape="1">
              <a:gsLst>
                <a:gs pos="0">
                  <a:srgbClr val="765E00"/>
                </a:gs>
                <a:gs pos="100000">
                  <a:srgbClr val="FFCC00"/>
                </a:gs>
              </a:gsLst>
              <a:lin ang="18900000" scaled="1"/>
            </a:gradFill>
            <a:ln w="38100" cmpd="sng">
              <a:solidFill>
                <a:srgbClr val="FFFFFF"/>
              </a:solidFill>
              <a:prstDash val="solid"/>
              <a:round/>
              <a:headEnd/>
              <a:tailE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7180" name="Group 14">
              <a:extLst>
                <a:ext uri="{FF2B5EF4-FFF2-40B4-BE49-F238E27FC236}">
                  <a16:creationId xmlns:a16="http://schemas.microsoft.com/office/drawing/2014/main" id="{86E44CB7-87FA-9502-A546-CF74864279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6" y="2112"/>
              <a:ext cx="773" cy="768"/>
              <a:chOff x="2016" y="1920"/>
              <a:chExt cx="1680" cy="1680"/>
            </a:xfrm>
          </p:grpSpPr>
          <p:sp>
            <p:nvSpPr>
              <p:cNvPr id="7187" name="Oval 15">
                <a:extLst>
                  <a:ext uri="{FF2B5EF4-FFF2-40B4-BE49-F238E27FC236}">
                    <a16:creationId xmlns:a16="http://schemas.microsoft.com/office/drawing/2014/main" id="{37870B52-ECFC-140A-12CC-5BA0504D0DE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016" y="1920"/>
                <a:ext cx="1680" cy="1680"/>
              </a:xfrm>
              <a:prstGeom prst="ellipse">
                <a:avLst/>
              </a:prstGeom>
              <a:gradFill rotWithShape="1">
                <a:gsLst>
                  <a:gs pos="0">
                    <a:srgbClr val="FF3300"/>
                  </a:gs>
                  <a:gs pos="100000">
                    <a:srgbClr val="3E0C00"/>
                  </a:gs>
                </a:gsLst>
                <a:lin ang="5400000" scaled="1"/>
              </a:gradFill>
              <a:ln w="381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latinLnBrk="1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£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4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MD솔체" panose="02020603020101020101" pitchFamily="18" charset="-127"/>
                    <a:ea typeface="HY동녘M" panose="02030600000101010101" pitchFamily="18" charset="-127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ko-KR" altLang="en-US" sz="1800">
                    <a:latin typeface="HY동녘M" panose="02030600000101010101" pitchFamily="18" charset="-127"/>
                  </a:rPr>
                  <a:t>애트리뷰트</a:t>
                </a:r>
              </a:p>
            </p:txBody>
          </p:sp>
          <p:sp>
            <p:nvSpPr>
              <p:cNvPr id="7188" name="Freeform 16">
                <a:extLst>
                  <a:ext uri="{FF2B5EF4-FFF2-40B4-BE49-F238E27FC236}">
                    <a16:creationId xmlns:a16="http://schemas.microsoft.com/office/drawing/2014/main" id="{E59CD2C1-5E56-08F0-9BDE-F858F1104465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2208" y="1948"/>
                <a:ext cx="1296" cy="634"/>
              </a:xfrm>
              <a:custGeom>
                <a:avLst/>
                <a:gdLst>
                  <a:gd name="T0" fmla="*/ 940 w 1321"/>
                  <a:gd name="T1" fmla="*/ 55 h 712"/>
                  <a:gd name="T2" fmla="*/ 952 w 1321"/>
                  <a:gd name="T3" fmla="*/ 61 h 712"/>
                  <a:gd name="T4" fmla="*/ 955 w 1321"/>
                  <a:gd name="T5" fmla="*/ 67 h 712"/>
                  <a:gd name="T6" fmla="*/ 950 w 1321"/>
                  <a:gd name="T7" fmla="*/ 72 h 712"/>
                  <a:gd name="T8" fmla="*/ 938 w 1321"/>
                  <a:gd name="T9" fmla="*/ 76 h 712"/>
                  <a:gd name="T10" fmla="*/ 919 w 1321"/>
                  <a:gd name="T11" fmla="*/ 81 h 712"/>
                  <a:gd name="T12" fmla="*/ 895 w 1321"/>
                  <a:gd name="T13" fmla="*/ 84 h 712"/>
                  <a:gd name="T14" fmla="*/ 864 w 1321"/>
                  <a:gd name="T15" fmla="*/ 87 h 712"/>
                  <a:gd name="T16" fmla="*/ 829 w 1321"/>
                  <a:gd name="T17" fmla="*/ 91 h 712"/>
                  <a:gd name="T18" fmla="*/ 789 w 1321"/>
                  <a:gd name="T19" fmla="*/ 93 h 712"/>
                  <a:gd name="T20" fmla="*/ 745 w 1321"/>
                  <a:gd name="T21" fmla="*/ 94 h 712"/>
                  <a:gd name="T22" fmla="*/ 699 w 1321"/>
                  <a:gd name="T23" fmla="*/ 95 h 712"/>
                  <a:gd name="T24" fmla="*/ 648 w 1321"/>
                  <a:gd name="T25" fmla="*/ 98 h 712"/>
                  <a:gd name="T26" fmla="*/ 596 w 1321"/>
                  <a:gd name="T27" fmla="*/ 99 h 712"/>
                  <a:gd name="T28" fmla="*/ 575 w 1321"/>
                  <a:gd name="T29" fmla="*/ 100 h 712"/>
                  <a:gd name="T30" fmla="*/ 344 w 1321"/>
                  <a:gd name="T31" fmla="*/ 100 h 712"/>
                  <a:gd name="T32" fmla="*/ 340 w 1321"/>
                  <a:gd name="T33" fmla="*/ 100 h 712"/>
                  <a:gd name="T34" fmla="*/ 295 w 1321"/>
                  <a:gd name="T35" fmla="*/ 99 h 712"/>
                  <a:gd name="T36" fmla="*/ 252 w 1321"/>
                  <a:gd name="T37" fmla="*/ 98 h 712"/>
                  <a:gd name="T38" fmla="*/ 211 w 1321"/>
                  <a:gd name="T39" fmla="*/ 97 h 712"/>
                  <a:gd name="T40" fmla="*/ 171 w 1321"/>
                  <a:gd name="T41" fmla="*/ 94 h 712"/>
                  <a:gd name="T42" fmla="*/ 134 w 1321"/>
                  <a:gd name="T43" fmla="*/ 94 h 712"/>
                  <a:gd name="T44" fmla="*/ 104 w 1321"/>
                  <a:gd name="T45" fmla="*/ 92 h 712"/>
                  <a:gd name="T46" fmla="*/ 73 w 1321"/>
                  <a:gd name="T47" fmla="*/ 90 h 712"/>
                  <a:gd name="T48" fmla="*/ 50 w 1321"/>
                  <a:gd name="T49" fmla="*/ 88 h 712"/>
                  <a:gd name="T50" fmla="*/ 26 w 1321"/>
                  <a:gd name="T51" fmla="*/ 84 h 712"/>
                  <a:gd name="T52" fmla="*/ 18 w 1321"/>
                  <a:gd name="T53" fmla="*/ 81 h 712"/>
                  <a:gd name="T54" fmla="*/ 6 w 1321"/>
                  <a:gd name="T55" fmla="*/ 77 h 712"/>
                  <a:gd name="T56" fmla="*/ 0 w 1321"/>
                  <a:gd name="T57" fmla="*/ 73 h 712"/>
                  <a:gd name="T58" fmla="*/ 0 w 1321"/>
                  <a:gd name="T59" fmla="*/ 72 h 712"/>
                  <a:gd name="T60" fmla="*/ 4 w 1321"/>
                  <a:gd name="T61" fmla="*/ 67 h 712"/>
                  <a:gd name="T62" fmla="*/ 16 w 1321"/>
                  <a:gd name="T63" fmla="*/ 61 h 712"/>
                  <a:gd name="T64" fmla="*/ 34 w 1321"/>
                  <a:gd name="T65" fmla="*/ 52 h 712"/>
                  <a:gd name="T66" fmla="*/ 69 w 1321"/>
                  <a:gd name="T67" fmla="*/ 42 h 712"/>
                  <a:gd name="T68" fmla="*/ 108 w 1321"/>
                  <a:gd name="T69" fmla="*/ 33 h 712"/>
                  <a:gd name="T70" fmla="*/ 148 w 1321"/>
                  <a:gd name="T71" fmla="*/ 24 h 712"/>
                  <a:gd name="T72" fmla="*/ 195 w 1321"/>
                  <a:gd name="T73" fmla="*/ 17 h 712"/>
                  <a:gd name="T74" fmla="*/ 247 w 1321"/>
                  <a:gd name="T75" fmla="*/ 11 h 712"/>
                  <a:gd name="T76" fmla="*/ 300 w 1321"/>
                  <a:gd name="T77" fmla="*/ 6 h 712"/>
                  <a:gd name="T78" fmla="*/ 360 w 1321"/>
                  <a:gd name="T79" fmla="*/ 4 h 712"/>
                  <a:gd name="T80" fmla="*/ 420 w 1321"/>
                  <a:gd name="T81" fmla="*/ 4 h 712"/>
                  <a:gd name="T82" fmla="*/ 483 w 1321"/>
                  <a:gd name="T83" fmla="*/ 0 h 712"/>
                  <a:gd name="T84" fmla="*/ 483 w 1321"/>
                  <a:gd name="T85" fmla="*/ 0 h 712"/>
                  <a:gd name="T86" fmla="*/ 548 w 1321"/>
                  <a:gd name="T87" fmla="*/ 4 h 712"/>
                  <a:gd name="T88" fmla="*/ 612 w 1321"/>
                  <a:gd name="T89" fmla="*/ 4 h 712"/>
                  <a:gd name="T90" fmla="*/ 674 w 1321"/>
                  <a:gd name="T91" fmla="*/ 7 h 712"/>
                  <a:gd name="T92" fmla="*/ 731 w 1321"/>
                  <a:gd name="T93" fmla="*/ 12 h 712"/>
                  <a:gd name="T94" fmla="*/ 782 w 1321"/>
                  <a:gd name="T95" fmla="*/ 19 h 712"/>
                  <a:gd name="T96" fmla="*/ 830 w 1321"/>
                  <a:gd name="T97" fmla="*/ 27 h 712"/>
                  <a:gd name="T98" fmla="*/ 873 w 1321"/>
                  <a:gd name="T99" fmla="*/ 36 h 712"/>
                  <a:gd name="T100" fmla="*/ 909 w 1321"/>
                  <a:gd name="T101" fmla="*/ 45 h 712"/>
                  <a:gd name="T102" fmla="*/ 940 w 1321"/>
                  <a:gd name="T103" fmla="*/ 55 h 712"/>
                  <a:gd name="T104" fmla="*/ 940 w 1321"/>
                  <a:gd name="T105" fmla="*/ 55 h 71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321"/>
                  <a:gd name="T160" fmla="*/ 0 h 712"/>
                  <a:gd name="T161" fmla="*/ 1321 w 1321"/>
                  <a:gd name="T162" fmla="*/ 712 h 71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/>
                  </a:gs>
                  <a:gs pos="100000">
                    <a:srgbClr val="FF33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7181" name="Text Box 32">
              <a:extLst>
                <a:ext uri="{FF2B5EF4-FFF2-40B4-BE49-F238E27FC236}">
                  <a16:creationId xmlns:a16="http://schemas.microsoft.com/office/drawing/2014/main" id="{2DD22542-5634-9862-7170-D5E6B0F3E1B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8" y="1710"/>
              <a:ext cx="59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단일값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  <p:sp>
          <p:nvSpPr>
            <p:cNvPr id="7182" name="Text Box 33">
              <a:extLst>
                <a:ext uri="{FF2B5EF4-FFF2-40B4-BE49-F238E27FC236}">
                  <a16:creationId xmlns:a16="http://schemas.microsoft.com/office/drawing/2014/main" id="{2E7D6889-C8C2-762F-E481-7E8CECE5464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626" y="1182"/>
              <a:ext cx="4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단순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  <p:sp>
          <p:nvSpPr>
            <p:cNvPr id="7183" name="Text Box 34">
              <a:extLst>
                <a:ext uri="{FF2B5EF4-FFF2-40B4-BE49-F238E27FC236}">
                  <a16:creationId xmlns:a16="http://schemas.microsoft.com/office/drawing/2014/main" id="{B10553CF-ED33-502C-CB09-2D7F31A6D58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586" y="1710"/>
              <a:ext cx="59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저장된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  <p:sp>
          <p:nvSpPr>
            <p:cNvPr id="7184" name="Text Box 35">
              <a:extLst>
                <a:ext uri="{FF2B5EF4-FFF2-40B4-BE49-F238E27FC236}">
                  <a16:creationId xmlns:a16="http://schemas.microsoft.com/office/drawing/2014/main" id="{001FE71D-0B54-94F2-5151-E636BF1EBB5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18" y="2958"/>
              <a:ext cx="59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유도된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  <p:sp>
          <p:nvSpPr>
            <p:cNvPr id="7185" name="Text Box 36">
              <a:extLst>
                <a:ext uri="{FF2B5EF4-FFF2-40B4-BE49-F238E27FC236}">
                  <a16:creationId xmlns:a16="http://schemas.microsoft.com/office/drawing/2014/main" id="{7996903A-9E61-F17A-CD0D-A499EBBF8F4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3586" y="2958"/>
              <a:ext cx="4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다치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  <p:sp>
          <p:nvSpPr>
            <p:cNvPr id="7186" name="Text Box 37">
              <a:extLst>
                <a:ext uri="{FF2B5EF4-FFF2-40B4-BE49-F238E27FC236}">
                  <a16:creationId xmlns:a16="http://schemas.microsoft.com/office/drawing/2014/main" id="{5A430DB8-8399-03FA-7B8A-BFDD76978A8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578" y="3486"/>
              <a:ext cx="4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£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4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MD솔체" panose="02020603020101020101" pitchFamily="18" charset="-127"/>
                  <a:ea typeface="HY동녘M" panose="02030600000101010101" pitchFamily="18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2000" b="1">
                  <a:solidFill>
                    <a:srgbClr val="000000"/>
                  </a:solidFill>
                  <a:latin typeface="HY동녘M" panose="02030600000101010101" pitchFamily="18" charset="-127"/>
                </a:rPr>
                <a:t>복합</a:t>
              </a:r>
              <a:endParaRPr lang="en-US" altLang="ko-KR" sz="2000" b="1">
                <a:solidFill>
                  <a:srgbClr val="000000"/>
                </a:solidFill>
                <a:latin typeface="HY동녘M" panose="02030600000101010101" pitchFamily="18" charset="-127"/>
              </a:endParaRPr>
            </a:p>
          </p:txBody>
        </p:sp>
      </p:grpSp>
    </p:spTree>
  </p:cSld>
  <p:clrMapOvr>
    <a:masterClrMapping/>
  </p:clrMapOvr>
  <p:transition spd="slow" advTm="94076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13EBE053-1905-D8CA-7307-271B46416F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458200" cy="49022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2000" b="1" dirty="0"/>
              <a:t>더 이상 다른 </a:t>
            </a:r>
            <a:r>
              <a:rPr lang="ko-KR" altLang="en-US" sz="2000" b="1" dirty="0" err="1"/>
              <a:t>애트리뷰트로</a:t>
            </a:r>
            <a:r>
              <a:rPr lang="ko-KR" altLang="en-US" sz="2000" b="1" dirty="0"/>
              <a:t> 나눌 수 없는  </a:t>
            </a:r>
            <a:r>
              <a:rPr lang="ko-KR" altLang="en-US" sz="2000" b="1" dirty="0" err="1"/>
              <a:t>애트리뷰트</a:t>
            </a:r>
            <a:endParaRPr lang="en-US" altLang="ko-KR" sz="2000" b="1" dirty="0"/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2000" b="1" dirty="0">
                <a:latin typeface="HY동녘M" panose="02030600000101010101" pitchFamily="18" charset="-127"/>
              </a:rPr>
              <a:t>ER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다이어그램에서 실선 타원으로 표현함</a:t>
            </a:r>
            <a:endParaRPr lang="en-US" altLang="ko-KR" sz="2000" b="1" dirty="0"/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2000" b="1" dirty="0"/>
              <a:t>대부분의 </a:t>
            </a:r>
            <a:r>
              <a:rPr lang="ko-KR" altLang="en-US" sz="2000" b="1" dirty="0" err="1"/>
              <a:t>애트리뷰트는</a:t>
            </a:r>
            <a:r>
              <a:rPr lang="ko-KR" altLang="en-US" sz="2000" b="1" dirty="0"/>
              <a:t> 단순 </a:t>
            </a:r>
            <a:r>
              <a:rPr lang="ko-KR" altLang="en-US" sz="2000" b="1" dirty="0" err="1"/>
              <a:t>애트리뷰트</a:t>
            </a:r>
            <a:endParaRPr lang="ko-KR" altLang="en-US" sz="2000" b="1" dirty="0"/>
          </a:p>
        </p:txBody>
      </p:sp>
      <p:graphicFrame>
        <p:nvGraphicFramePr>
          <p:cNvPr id="9219" name="Object 2">
            <a:extLst>
              <a:ext uri="{FF2B5EF4-FFF2-40B4-BE49-F238E27FC236}">
                <a16:creationId xmlns:a16="http://schemas.microsoft.com/office/drawing/2014/main" id="{0F9C720A-6D20-0154-AC49-D0DE741E58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2928938"/>
          <a:ext cx="6118225" cy="322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050794" imgH="2133333" progId="Photoshop.Image.7">
                  <p:embed/>
                </p:oleObj>
              </mc:Choice>
              <mc:Fallback>
                <p:oleObj name="Image" r:id="rId3" imgW="4050794" imgH="2133333" progId="Photoshop.Image.7">
                  <p:embed/>
                  <p:pic>
                    <p:nvPicPr>
                      <p:cNvPr id="9219" name="Object 2">
                        <a:extLst>
                          <a:ext uri="{FF2B5EF4-FFF2-40B4-BE49-F238E27FC236}">
                            <a16:creationId xmlns:a16="http://schemas.microsoft.com/office/drawing/2014/main" id="{0F9C720A-6D20-0154-AC49-D0DE741E58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2928938"/>
                        <a:ext cx="6118225" cy="322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제목 1">
            <a:extLst>
              <a:ext uri="{FF2B5EF4-FFF2-40B4-BE49-F238E27FC236}">
                <a16:creationId xmlns:a16="http://schemas.microsoft.com/office/drawing/2014/main" id="{5A77489E-E9B7-E0A4-3C4D-E6321C4849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단순 애트리뷰트</a:t>
            </a:r>
          </a:p>
        </p:txBody>
      </p:sp>
    </p:spTree>
  </p:cSld>
  <p:clrMapOvr>
    <a:masterClrMapping/>
  </p:clrMapOvr>
  <p:transition spd="slow" advTm="17614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9A664ADB-9E68-2173-CCA3-DE5F1E4149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341438"/>
            <a:ext cx="8458200" cy="5124450"/>
          </a:xfrm>
        </p:spPr>
        <p:txBody>
          <a:bodyPr/>
          <a:lstStyle/>
          <a:p>
            <a:pPr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2000" b="1"/>
              <a:t>두 개 이상의 애트리뷰트로 이루어진 애트리뷰트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2000" b="1"/>
              <a:t>동일한 엔티티 타입이나 관계 타입에 속하는 애트리뷰트들 중에서 밀접하게 연관된 것을 모아놓은 것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2000" b="1"/>
          </a:p>
        </p:txBody>
      </p:sp>
      <p:graphicFrame>
        <p:nvGraphicFramePr>
          <p:cNvPr id="11267" name="Object 2">
            <a:extLst>
              <a:ext uri="{FF2B5EF4-FFF2-40B4-BE49-F238E27FC236}">
                <a16:creationId xmlns:a16="http://schemas.microsoft.com/office/drawing/2014/main" id="{FABAE648-62C4-E2A8-F25A-CB0AA68F8A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500438"/>
          <a:ext cx="7351713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7352381" imgH="2933333" progId="Photoshop.Image.7">
                  <p:embed/>
                </p:oleObj>
              </mc:Choice>
              <mc:Fallback>
                <p:oleObj name="Image" r:id="rId3" imgW="7352381" imgH="2933333" progId="Photoshop.Image.7">
                  <p:embed/>
                  <p:pic>
                    <p:nvPicPr>
                      <p:cNvPr id="11267" name="Object 2">
                        <a:extLst>
                          <a:ext uri="{FF2B5EF4-FFF2-40B4-BE49-F238E27FC236}">
                            <a16:creationId xmlns:a16="http://schemas.microsoft.com/office/drawing/2014/main" id="{FABAE648-62C4-E2A8-F25A-CB0AA68F8A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00438"/>
                        <a:ext cx="7351713" cy="293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제목 1">
            <a:extLst>
              <a:ext uri="{FF2B5EF4-FFF2-40B4-BE49-F238E27FC236}">
                <a16:creationId xmlns:a16="http://schemas.microsoft.com/office/drawing/2014/main" id="{5C4E3D83-D1F1-93E7-0769-167204FC5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복합 애트리뷰트</a:t>
            </a:r>
          </a:p>
        </p:txBody>
      </p:sp>
    </p:spTree>
  </p:cSld>
  <p:clrMapOvr>
    <a:masterClrMapping/>
  </p:clrMapOvr>
  <p:transition spd="slow" advTm="112277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36FFE-017D-735D-09CE-457FAF3D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 </a:t>
            </a:r>
            <a:r>
              <a:rPr lang="en-US" altLang="ko-KR" dirty="0"/>
              <a:t>vs </a:t>
            </a:r>
            <a:r>
              <a:rPr lang="ko-KR" altLang="en-US" dirty="0"/>
              <a:t>복합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FD6FFB-B485-C040-8651-932036DB97F7}"/>
              </a:ext>
            </a:extLst>
          </p:cNvPr>
          <p:cNvSpPr/>
          <p:nvPr/>
        </p:nvSpPr>
        <p:spPr>
          <a:xfrm>
            <a:off x="1568948" y="3236352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Amasis MT Pro Medium" panose="020B0604020202020204" pitchFamily="18" charset="0"/>
                <a:cs typeface="Aharoni" panose="020B0604020202020204" pitchFamily="2" charset="-79"/>
              </a:rPr>
              <a:t>CUSTOMER</a:t>
            </a:r>
            <a:endParaRPr lang="ko-KR" altLang="en-US" sz="1400" dirty="0">
              <a:latin typeface="Amasis MT Pro Medium" panose="020B0604020202020204" pitchFamily="18" charset="0"/>
              <a:cs typeface="Aharoni" panose="020B0604020202020204" pitchFamily="2" charset="-79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58CF4C-A432-2C0B-CFDF-547C5660D02F}"/>
              </a:ext>
            </a:extLst>
          </p:cNvPr>
          <p:cNvSpPr/>
          <p:nvPr/>
        </p:nvSpPr>
        <p:spPr>
          <a:xfrm>
            <a:off x="5382136" y="3308360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Amasis MT Pro Medium" panose="020B0604020202020204" pitchFamily="18" charset="0"/>
                <a:cs typeface="Aharoni" panose="020B0604020202020204" pitchFamily="2" charset="-79"/>
              </a:rPr>
              <a:t>CUSTOMER</a:t>
            </a:r>
            <a:endParaRPr lang="ko-KR" altLang="en-US" sz="1400" dirty="0">
              <a:latin typeface="Amasis MT Pro Medium" panose="020B0604020202020204" pitchFamily="18" charset="0"/>
              <a:cs typeface="Aharoni" panose="020B0604020202020204" pitchFamily="2" charset="-79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8FBEBE1-C6D5-4F76-646B-2FF1B49BCFEB}"/>
              </a:ext>
            </a:extLst>
          </p:cNvPr>
          <p:cNvSpPr/>
          <p:nvPr/>
        </p:nvSpPr>
        <p:spPr>
          <a:xfrm>
            <a:off x="917638" y="2372256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u="sng" dirty="0">
                <a:solidFill>
                  <a:schemeClr val="tx1"/>
                </a:solidFill>
                <a:latin typeface="Amasis MT Pro Medium" panose="02040604050005020304" pitchFamily="18" charset="0"/>
              </a:rPr>
              <a:t>ID</a:t>
            </a:r>
            <a:endParaRPr lang="ko-KR" altLang="en-US" u="sng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2667BE9-0BD3-3D47-3917-E82694843CFC}"/>
              </a:ext>
            </a:extLst>
          </p:cNvPr>
          <p:cNvSpPr/>
          <p:nvPr/>
        </p:nvSpPr>
        <p:spPr>
          <a:xfrm>
            <a:off x="1925750" y="2378949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Name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329630B-9DD9-45C3-FFB8-9CF256191C5D}"/>
              </a:ext>
            </a:extLst>
          </p:cNvPr>
          <p:cNvSpPr/>
          <p:nvPr/>
        </p:nvSpPr>
        <p:spPr>
          <a:xfrm>
            <a:off x="2933862" y="2385642"/>
            <a:ext cx="1296144" cy="28803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Address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9692EED-E078-986E-AE7A-37E1269234A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385690" y="2660288"/>
            <a:ext cx="654548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8098203-726B-7E81-CD46-25287C1CA137}"/>
              </a:ext>
            </a:extLst>
          </p:cNvPr>
          <p:cNvCxnSpPr>
            <a:cxnSpLocks/>
            <a:stCxn id="7" idx="4"/>
            <a:endCxn id="4" idx="0"/>
          </p:cNvCxnSpPr>
          <p:nvPr/>
        </p:nvCxnSpPr>
        <p:spPr>
          <a:xfrm flipH="1">
            <a:off x="2217020" y="2666981"/>
            <a:ext cx="176782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EE49941-0E23-82FB-838C-5C7EA8051C7A}"/>
              </a:ext>
            </a:extLst>
          </p:cNvPr>
          <p:cNvCxnSpPr>
            <a:cxnSpLocks/>
            <a:stCxn id="8" idx="4"/>
          </p:cNvCxnSpPr>
          <p:nvPr/>
        </p:nvCxnSpPr>
        <p:spPr>
          <a:xfrm flipH="1">
            <a:off x="2393802" y="2673674"/>
            <a:ext cx="1188132" cy="562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039D1BAC-3E2E-1ED3-DAB5-B97AB7307BFD}"/>
              </a:ext>
            </a:extLst>
          </p:cNvPr>
          <p:cNvSpPr/>
          <p:nvPr/>
        </p:nvSpPr>
        <p:spPr>
          <a:xfrm>
            <a:off x="4770068" y="2430878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u="sng" dirty="0">
                <a:solidFill>
                  <a:schemeClr val="tx1"/>
                </a:solidFill>
                <a:latin typeface="Amasis MT Pro Medium" panose="02040604050005020304" pitchFamily="18" charset="0"/>
              </a:rPr>
              <a:t>ID</a:t>
            </a:r>
            <a:endParaRPr lang="ko-KR" altLang="en-US" u="sng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E431892-231D-4A47-84F4-804BF5DADF5E}"/>
              </a:ext>
            </a:extLst>
          </p:cNvPr>
          <p:cNvSpPr/>
          <p:nvPr/>
        </p:nvSpPr>
        <p:spPr>
          <a:xfrm>
            <a:off x="5778180" y="2437571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Name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D7442D6-CA05-E52E-AE13-654CBCC031E6}"/>
              </a:ext>
            </a:extLst>
          </p:cNvPr>
          <p:cNvSpPr/>
          <p:nvPr/>
        </p:nvSpPr>
        <p:spPr>
          <a:xfrm>
            <a:off x="6786292" y="2444264"/>
            <a:ext cx="1296144" cy="288032"/>
          </a:xfrm>
          <a:prstGeom prst="ellipse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Address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5627A99-494A-A1AE-C8AA-2DB4A105F06B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5238120" y="2718910"/>
            <a:ext cx="654548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5113309-4C1A-C185-892F-6ECA867F084C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6069450" y="2725603"/>
            <a:ext cx="176782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B1D244C-1190-D9DE-0468-8CC5E97FB4E9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6246232" y="2732296"/>
            <a:ext cx="1188132" cy="562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85E94FB3-D99E-264C-6CCC-DE0EC535DF2C}"/>
              </a:ext>
            </a:extLst>
          </p:cNvPr>
          <p:cNvSpPr/>
          <p:nvPr/>
        </p:nvSpPr>
        <p:spPr>
          <a:xfrm>
            <a:off x="5166112" y="1687373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Amasis MT Pro Medium" panose="02040604050005020304" pitchFamily="18" charset="0"/>
              </a:rPr>
              <a:t>City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C0147B7-65A8-939F-A2E7-4AB4E9F699AD}"/>
              </a:ext>
            </a:extLst>
          </p:cNvPr>
          <p:cNvSpPr/>
          <p:nvPr/>
        </p:nvSpPr>
        <p:spPr>
          <a:xfrm>
            <a:off x="6174224" y="1694066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Ku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0E5581C-A360-3407-C5B8-F1BDAB95E444}"/>
              </a:ext>
            </a:extLst>
          </p:cNvPr>
          <p:cNvSpPr/>
          <p:nvPr/>
        </p:nvSpPr>
        <p:spPr>
          <a:xfrm>
            <a:off x="7182336" y="1700759"/>
            <a:ext cx="129614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Dong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111929D-631C-131D-01B9-2F86119E499E}"/>
              </a:ext>
            </a:extLst>
          </p:cNvPr>
          <p:cNvCxnSpPr>
            <a:cxnSpLocks/>
            <a:stCxn id="24" idx="4"/>
          </p:cNvCxnSpPr>
          <p:nvPr/>
        </p:nvCxnSpPr>
        <p:spPr>
          <a:xfrm>
            <a:off x="5634164" y="1975405"/>
            <a:ext cx="1584174" cy="477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2C84D83-4F96-675B-7E2E-C944D7016107}"/>
              </a:ext>
            </a:extLst>
          </p:cNvPr>
          <p:cNvCxnSpPr>
            <a:cxnSpLocks/>
            <a:stCxn id="25" idx="4"/>
            <a:endCxn id="20" idx="0"/>
          </p:cNvCxnSpPr>
          <p:nvPr/>
        </p:nvCxnSpPr>
        <p:spPr>
          <a:xfrm>
            <a:off x="6642276" y="1982098"/>
            <a:ext cx="792088" cy="462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3AAFE81-C1DB-A6D1-6348-C784281BA064}"/>
              </a:ext>
            </a:extLst>
          </p:cNvPr>
          <p:cNvCxnSpPr>
            <a:cxnSpLocks/>
            <a:stCxn id="26" idx="4"/>
          </p:cNvCxnSpPr>
          <p:nvPr/>
        </p:nvCxnSpPr>
        <p:spPr>
          <a:xfrm flipH="1">
            <a:off x="7542374" y="1988791"/>
            <a:ext cx="288034" cy="455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98A4044-A3AF-F425-E266-23E9E9198461}"/>
              </a:ext>
            </a:extLst>
          </p:cNvPr>
          <p:cNvGrpSpPr/>
          <p:nvPr/>
        </p:nvGrpSpPr>
        <p:grpSpPr>
          <a:xfrm>
            <a:off x="899592" y="4608502"/>
            <a:ext cx="7533480" cy="1701520"/>
            <a:chOff x="1142976" y="1741048"/>
            <a:chExt cx="7560840" cy="3331026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62200AC4-F339-F732-7983-7F0CBA8ED62A}"/>
                </a:ext>
              </a:extLst>
            </p:cNvPr>
            <p:cNvGrpSpPr/>
            <p:nvPr/>
          </p:nvGrpSpPr>
          <p:grpSpPr>
            <a:xfrm>
              <a:off x="1142976" y="2112963"/>
              <a:ext cx="7560840" cy="2959111"/>
              <a:chOff x="1187624" y="2112963"/>
              <a:chExt cx="7154689" cy="2857500"/>
            </a:xfrm>
          </p:grpSpPr>
          <p:sp>
            <p:nvSpPr>
              <p:cNvPr id="39" name="AutoShape 81">
                <a:extLst>
                  <a:ext uri="{FF2B5EF4-FFF2-40B4-BE49-F238E27FC236}">
                    <a16:creationId xmlns:a16="http://schemas.microsoft.com/office/drawing/2014/main" id="{CABAE9F4-DEEF-5079-1AAB-A1E4728A064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89038" y="2112963"/>
                <a:ext cx="7153275" cy="2857500"/>
              </a:xfrm>
              <a:prstGeom prst="roundRect">
                <a:avLst>
                  <a:gd name="adj" fmla="val 17509"/>
                </a:avLst>
              </a:prstGeom>
              <a:gradFill rotWithShape="1">
                <a:gsLst>
                  <a:gs pos="0">
                    <a:srgbClr val="C16237"/>
                  </a:gs>
                  <a:gs pos="100000">
                    <a:srgbClr val="AB4E47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0" name="AutoShape 82">
                <a:extLst>
                  <a:ext uri="{FF2B5EF4-FFF2-40B4-BE49-F238E27FC236}">
                    <a16:creationId xmlns:a16="http://schemas.microsoft.com/office/drawing/2014/main" id="{5098CFCE-15DD-F880-6BA9-8CBD1EAFD04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0163" y="2120900"/>
                <a:ext cx="6937375" cy="2803525"/>
              </a:xfrm>
              <a:prstGeom prst="roundRect">
                <a:avLst>
                  <a:gd name="adj" fmla="val 16667"/>
                </a:avLst>
              </a:prstGeom>
              <a:solidFill>
                <a:srgbClr val="E98B6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" name="AutoShape 83">
                <a:extLst>
                  <a:ext uri="{FF2B5EF4-FFF2-40B4-BE49-F238E27FC236}">
                    <a16:creationId xmlns:a16="http://schemas.microsoft.com/office/drawing/2014/main" id="{9F6B6192-C90F-ECA6-D763-9EEFC6BB697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7313" y="4184650"/>
                <a:ext cx="6843712" cy="70961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98B65"/>
                  </a:gs>
                  <a:gs pos="100000">
                    <a:srgbClr val="F2BCA6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" name="AutoShape 84">
                <a:extLst>
                  <a:ext uri="{FF2B5EF4-FFF2-40B4-BE49-F238E27FC236}">
                    <a16:creationId xmlns:a16="http://schemas.microsoft.com/office/drawing/2014/main" id="{16950B96-FD91-2BB4-2F72-59E543DB421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7313" y="2143125"/>
                <a:ext cx="6843712" cy="70802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8D8CC"/>
                  </a:gs>
                  <a:gs pos="100000">
                    <a:srgbClr val="E98B65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3" name="Text Box 92">
                <a:extLst>
                  <a:ext uri="{FF2B5EF4-FFF2-40B4-BE49-F238E27FC236}">
                    <a16:creationId xmlns:a16="http://schemas.microsoft.com/office/drawing/2014/main" id="{7EDF8021-AC6D-0494-FFAC-6C3380FF760D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187624" y="2702473"/>
                <a:ext cx="6843734" cy="98912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514350" indent="-514350"/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    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Address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는 </a:t>
                </a:r>
                <a:r>
                  <a:rPr lang="ko-KR" altLang="en-US" sz="2800" dirty="0">
                    <a:solidFill>
                      <a:srgbClr val="FF0000"/>
                    </a:solidFill>
                    <a:latin typeface="HY동녘M" pitchFamily="18" charset="-127"/>
                    <a:ea typeface="HY동녘M" pitchFamily="18" charset="-127"/>
                  </a:rPr>
                  <a:t>단순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으로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? 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아니면 </a:t>
                </a:r>
                <a:r>
                  <a:rPr lang="ko-KR" altLang="en-US" sz="2800" dirty="0">
                    <a:solidFill>
                      <a:srgbClr val="FF0000"/>
                    </a:solidFill>
                    <a:latin typeface="HY동녘M" pitchFamily="18" charset="-127"/>
                    <a:ea typeface="HY동녘M" pitchFamily="18" charset="-127"/>
                  </a:rPr>
                  <a:t>복합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으로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?</a:t>
                </a:r>
              </a:p>
            </p:txBody>
          </p:sp>
        </p:grpSp>
        <p:grpSp>
          <p:nvGrpSpPr>
            <p:cNvPr id="44" name="Group 85">
              <a:extLst>
                <a:ext uri="{FF2B5EF4-FFF2-40B4-BE49-F238E27FC236}">
                  <a16:creationId xmlns:a16="http://schemas.microsoft.com/office/drawing/2014/main" id="{9940A5E3-4B70-4EAD-BDC5-8FE17E01CD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9877" y="1804988"/>
              <a:ext cx="785813" cy="642937"/>
              <a:chOff x="1289" y="582"/>
              <a:chExt cx="668" cy="668"/>
            </a:xfrm>
          </p:grpSpPr>
          <p:sp>
            <p:nvSpPr>
              <p:cNvPr id="45" name="Oval 86">
                <a:extLst>
                  <a:ext uri="{FF2B5EF4-FFF2-40B4-BE49-F238E27FC236}">
                    <a16:creationId xmlns:a16="http://schemas.microsoft.com/office/drawing/2014/main" id="{32D87E75-3C9A-E26C-876D-2E75B87395A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46" name="Oval 87">
                <a:extLst>
                  <a:ext uri="{FF2B5EF4-FFF2-40B4-BE49-F238E27FC236}">
                    <a16:creationId xmlns:a16="http://schemas.microsoft.com/office/drawing/2014/main" id="{15E48BE0-67B8-A214-27D1-7DBB0EF4E33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7" name="Oval 88">
                <a:extLst>
                  <a:ext uri="{FF2B5EF4-FFF2-40B4-BE49-F238E27FC236}">
                    <a16:creationId xmlns:a16="http://schemas.microsoft.com/office/drawing/2014/main" id="{A569C0D3-9098-6C67-10E2-B784B263A86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8" name="Oval 89">
                <a:extLst>
                  <a:ext uri="{FF2B5EF4-FFF2-40B4-BE49-F238E27FC236}">
                    <a16:creationId xmlns:a16="http://schemas.microsoft.com/office/drawing/2014/main" id="{5EB04C35-3A12-50D8-DD2A-39C6DC6203C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9" name="Oval 90">
                <a:extLst>
                  <a:ext uri="{FF2B5EF4-FFF2-40B4-BE49-F238E27FC236}">
                    <a16:creationId xmlns:a16="http://schemas.microsoft.com/office/drawing/2014/main" id="{BB59B912-1578-4F19-CB92-D4549E71AA2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5A8BC9E6-90F8-8FDC-B4ED-F4A3096DD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9372" y="1741048"/>
              <a:ext cx="330131" cy="783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2000" b="1" dirty="0">
                  <a:latin typeface="HY동녘B" pitchFamily="18" charset="-127"/>
                  <a:ea typeface="HY동녘B" pitchFamily="18" charset="-127"/>
                </a:rPr>
                <a:t>?</a:t>
              </a:r>
              <a:endParaRPr lang="ko-KR" altLang="en-US" sz="2000" b="1" dirty="0">
                <a:latin typeface="HY동녘B" pitchFamily="18" charset="-127"/>
                <a:ea typeface="HY동녘B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285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9589"/>
    </mc:Choice>
    <mc:Fallback xmlns="">
      <p:transition spd="slow" advTm="43958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3399B64B-D2D6-B42D-EFC3-A283422F7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458200" cy="49022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ko-KR" altLang="en-US" sz="2000" b="1"/>
              <a:t>각 </a:t>
            </a:r>
            <a:r>
              <a:rPr lang="ko-KR" altLang="en-US" sz="2000" b="1">
                <a:latin typeface="HY동녘M" panose="02030600000101010101" pitchFamily="18" charset="-127"/>
              </a:rPr>
              <a:t>엔티티마다 하나의 값을 갖는 애트리뷰트</a:t>
            </a:r>
            <a:endParaRPr lang="en-US" altLang="ko-KR" sz="2000" b="1">
              <a:latin typeface="HY동녘M" panose="02030600000101010101" pitchFamily="18" charset="-127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2000" b="1">
                <a:latin typeface="HY동녘M" panose="02030600000101010101" pitchFamily="18" charset="-127"/>
              </a:rPr>
              <a:t>    </a:t>
            </a:r>
            <a:r>
              <a:rPr lang="ko-KR" altLang="en-US" sz="2000" b="1">
                <a:latin typeface="HY동녘M" panose="02030600000101010101" pitchFamily="18" charset="-127"/>
              </a:rPr>
              <a:t>예</a:t>
            </a:r>
            <a:r>
              <a:rPr lang="en-US" altLang="ko-KR" sz="2000" b="1">
                <a:latin typeface="HY동녘M" panose="02030600000101010101" pitchFamily="18" charset="-127"/>
              </a:rPr>
              <a:t>: </a:t>
            </a:r>
            <a:r>
              <a:rPr lang="ko-KR" altLang="en-US" sz="2000" b="1">
                <a:latin typeface="HY동녘M" panose="02030600000101010101" pitchFamily="18" charset="-127"/>
              </a:rPr>
              <a:t>사원의 사원번호 애트리뷰트는 어떤 사원도 두 개 이상의 사원번호를 갖지 않으므로 단일 값 애트리뷰트</a:t>
            </a:r>
            <a:endParaRPr lang="en-US" altLang="ko-KR" sz="2000" b="1">
              <a:latin typeface="HY동녘M" panose="02030600000101010101" pitchFamily="18" charset="-127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ko-KR" altLang="en-US" sz="2000" b="1">
                <a:latin typeface="HY동녘M" panose="02030600000101010101" pitchFamily="18" charset="-127"/>
              </a:rPr>
              <a:t>단일 값 애트리뷰트는 </a:t>
            </a:r>
            <a:r>
              <a:rPr lang="en-US" altLang="ko-KR" sz="2000" b="1">
                <a:latin typeface="HY동녘M" panose="02030600000101010101" pitchFamily="18" charset="-127"/>
              </a:rPr>
              <a:t>ER </a:t>
            </a:r>
            <a:r>
              <a:rPr lang="ko-KR" altLang="en-US" sz="2000" b="1">
                <a:latin typeface="HY동녘M" panose="02030600000101010101" pitchFamily="18" charset="-127"/>
              </a:rPr>
              <a:t>다이어그램에서 단순 애트리뷰트와 동일하게 표현됨    </a:t>
            </a:r>
            <a:endParaRPr lang="en-US" altLang="ko-KR" sz="2000" b="1">
              <a:latin typeface="HY동녘M" panose="02030600000101010101" pitchFamily="18" charset="-127"/>
            </a:endParaRPr>
          </a:p>
        </p:txBody>
      </p:sp>
      <p:sp>
        <p:nvSpPr>
          <p:cNvPr id="13315" name="제목 1">
            <a:extLst>
              <a:ext uri="{FF2B5EF4-FFF2-40B4-BE49-F238E27FC236}">
                <a16:creationId xmlns:a16="http://schemas.microsoft.com/office/drawing/2014/main" id="{B2AB639A-8D95-9A7B-5908-9A37866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단일값 애트리뷰트</a:t>
            </a:r>
          </a:p>
        </p:txBody>
      </p:sp>
      <p:graphicFrame>
        <p:nvGraphicFramePr>
          <p:cNvPr id="13316" name="Object 2">
            <a:extLst>
              <a:ext uri="{FF2B5EF4-FFF2-40B4-BE49-F238E27FC236}">
                <a16:creationId xmlns:a16="http://schemas.microsoft.com/office/drawing/2014/main" id="{CD7B65DA-9F22-C962-B441-B3ED016F7C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0" y="3429000"/>
          <a:ext cx="5572125" cy="293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4050794" imgH="2133333" progId="Photoshop.Image.7">
                  <p:embed/>
                </p:oleObj>
              </mc:Choice>
              <mc:Fallback>
                <p:oleObj name="Image" r:id="rId3" imgW="4050794" imgH="2133333" progId="Photoshop.Image.7">
                  <p:embed/>
                  <p:pic>
                    <p:nvPicPr>
                      <p:cNvPr id="13316" name="Object 2">
                        <a:extLst>
                          <a:ext uri="{FF2B5EF4-FFF2-40B4-BE49-F238E27FC236}">
                            <a16:creationId xmlns:a16="http://schemas.microsoft.com/office/drawing/2014/main" id="{CD7B65DA-9F22-C962-B441-B3ED016F7C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3429000"/>
                        <a:ext cx="5572125" cy="293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AB58ABC-23E4-081C-C53B-403941AD48BA}"/>
              </a:ext>
            </a:extLst>
          </p:cNvPr>
          <p:cNvSpPr/>
          <p:nvPr/>
        </p:nvSpPr>
        <p:spPr>
          <a:xfrm>
            <a:off x="2000250" y="5857875"/>
            <a:ext cx="5572125" cy="500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  <p:transition spd="slow" advTm="105258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AFC4EDC0-C712-040C-FC39-1C6D3E03F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563688"/>
            <a:ext cx="8458200" cy="49022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ko-KR" altLang="en-US" sz="2000" b="1"/>
              <a:t>각 엔티티마다 여러 개의 값을 가질 수 있는 애트리뷰트</a:t>
            </a:r>
            <a:endParaRPr lang="en-US" altLang="ko-KR" sz="2000" b="1"/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HY동녘M" panose="02030600000101010101" pitchFamily="18" charset="-127"/>
              </a:rPr>
              <a:t>ER </a:t>
            </a:r>
            <a:r>
              <a:rPr lang="ko-KR" altLang="en-US" sz="2000" b="1">
                <a:latin typeface="HY동녘M" panose="02030600000101010101" pitchFamily="18" charset="-127"/>
              </a:rPr>
              <a:t>다이어그램에서 </a:t>
            </a:r>
            <a:r>
              <a:rPr lang="ko-KR" altLang="en-US" sz="2000" b="1"/>
              <a:t>이중선 타원으로 표현함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2000" b="1"/>
          </a:p>
        </p:txBody>
      </p:sp>
      <p:graphicFrame>
        <p:nvGraphicFramePr>
          <p:cNvPr id="15363" name="Object 2">
            <a:extLst>
              <a:ext uri="{FF2B5EF4-FFF2-40B4-BE49-F238E27FC236}">
                <a16:creationId xmlns:a16="http://schemas.microsoft.com/office/drawing/2014/main" id="{8C732677-080C-9726-8C6A-BC26533D72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0" y="2857500"/>
          <a:ext cx="5894388" cy="319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717460" imgH="1473016" progId="Photoshop.Image.7">
                  <p:embed/>
                </p:oleObj>
              </mc:Choice>
              <mc:Fallback>
                <p:oleObj name="Image" r:id="rId3" imgW="2717460" imgH="1473016" progId="Photoshop.Image.7">
                  <p:embed/>
                  <p:pic>
                    <p:nvPicPr>
                      <p:cNvPr id="15363" name="Object 2">
                        <a:extLst>
                          <a:ext uri="{FF2B5EF4-FFF2-40B4-BE49-F238E27FC236}">
                            <a16:creationId xmlns:a16="http://schemas.microsoft.com/office/drawing/2014/main" id="{8C732677-080C-9726-8C6A-BC26533D72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2857500"/>
                        <a:ext cx="5894388" cy="319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제목 1">
            <a:extLst>
              <a:ext uri="{FF2B5EF4-FFF2-40B4-BE49-F238E27FC236}">
                <a16:creationId xmlns:a16="http://schemas.microsoft.com/office/drawing/2014/main" id="{D496CEDF-5147-2B54-9777-1B498BFFC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다치 애트리뷰트</a:t>
            </a:r>
          </a:p>
        </p:txBody>
      </p:sp>
    </p:spTree>
  </p:cSld>
  <p:clrMapOvr>
    <a:masterClrMapping/>
  </p:clrMapOvr>
  <p:transition spd="slow" advTm="62417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36FFE-017D-735D-09CE-457FAF3D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단일값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다치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FD6FFB-B485-C040-8651-932036DB97F7}"/>
              </a:ext>
            </a:extLst>
          </p:cNvPr>
          <p:cNvSpPr/>
          <p:nvPr/>
        </p:nvSpPr>
        <p:spPr>
          <a:xfrm>
            <a:off x="1568948" y="3236352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Amasis MT Pro Medium" panose="020B0604020202020204" pitchFamily="18" charset="0"/>
                <a:cs typeface="Aharoni" panose="020B0604020202020204" pitchFamily="2" charset="-79"/>
              </a:rPr>
              <a:t>CUSTOMER</a:t>
            </a:r>
            <a:endParaRPr lang="ko-KR" altLang="en-US" sz="1400" dirty="0">
              <a:latin typeface="Amasis MT Pro Medium" panose="020B0604020202020204" pitchFamily="18" charset="0"/>
              <a:cs typeface="Aharoni" panose="020B0604020202020204" pitchFamily="2" charset="-79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58CF4C-A432-2C0B-CFDF-547C5660D02F}"/>
              </a:ext>
            </a:extLst>
          </p:cNvPr>
          <p:cNvSpPr/>
          <p:nvPr/>
        </p:nvSpPr>
        <p:spPr>
          <a:xfrm>
            <a:off x="5382136" y="3308360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Amasis MT Pro Medium" panose="020B0604020202020204" pitchFamily="18" charset="0"/>
                <a:cs typeface="Aharoni" panose="020B0604020202020204" pitchFamily="2" charset="-79"/>
              </a:rPr>
              <a:t>CUSTOMER</a:t>
            </a:r>
            <a:endParaRPr lang="ko-KR" altLang="en-US" sz="1400" dirty="0">
              <a:latin typeface="Amasis MT Pro Medium" panose="020B0604020202020204" pitchFamily="18" charset="0"/>
              <a:cs typeface="Aharoni" panose="020B0604020202020204" pitchFamily="2" charset="-79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8FBEBE1-C6D5-4F76-646B-2FF1B49BCFEB}"/>
              </a:ext>
            </a:extLst>
          </p:cNvPr>
          <p:cNvSpPr/>
          <p:nvPr/>
        </p:nvSpPr>
        <p:spPr>
          <a:xfrm>
            <a:off x="917638" y="2372256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u="sng" dirty="0">
                <a:solidFill>
                  <a:schemeClr val="tx1"/>
                </a:solidFill>
                <a:latin typeface="Amasis MT Pro Medium" panose="02040604050005020304" pitchFamily="18" charset="0"/>
              </a:rPr>
              <a:t>ID</a:t>
            </a:r>
            <a:endParaRPr lang="ko-KR" altLang="en-US" u="sng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2667BE9-0BD3-3D47-3917-E82694843CFC}"/>
              </a:ext>
            </a:extLst>
          </p:cNvPr>
          <p:cNvSpPr/>
          <p:nvPr/>
        </p:nvSpPr>
        <p:spPr>
          <a:xfrm>
            <a:off x="1925750" y="2378949"/>
            <a:ext cx="936104" cy="28803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Name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329630B-9DD9-45C3-FFB8-9CF256191C5D}"/>
              </a:ext>
            </a:extLst>
          </p:cNvPr>
          <p:cNvSpPr/>
          <p:nvPr/>
        </p:nvSpPr>
        <p:spPr>
          <a:xfrm>
            <a:off x="2933862" y="2385642"/>
            <a:ext cx="129614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Address</a:t>
            </a:r>
            <a:endParaRPr lang="ko-KR" altLang="en-US" sz="1400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9692EED-E078-986E-AE7A-37E1269234A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385690" y="2660288"/>
            <a:ext cx="654548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8098203-726B-7E81-CD46-25287C1CA137}"/>
              </a:ext>
            </a:extLst>
          </p:cNvPr>
          <p:cNvCxnSpPr>
            <a:cxnSpLocks/>
            <a:stCxn id="7" idx="4"/>
            <a:endCxn id="4" idx="0"/>
          </p:cNvCxnSpPr>
          <p:nvPr/>
        </p:nvCxnSpPr>
        <p:spPr>
          <a:xfrm flipH="1">
            <a:off x="2217020" y="2666981"/>
            <a:ext cx="176782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EE49941-0E23-82FB-838C-5C7EA8051C7A}"/>
              </a:ext>
            </a:extLst>
          </p:cNvPr>
          <p:cNvCxnSpPr>
            <a:cxnSpLocks/>
            <a:stCxn id="8" idx="4"/>
          </p:cNvCxnSpPr>
          <p:nvPr/>
        </p:nvCxnSpPr>
        <p:spPr>
          <a:xfrm flipH="1">
            <a:off x="2393802" y="2673674"/>
            <a:ext cx="1188132" cy="562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039D1BAC-3E2E-1ED3-DAB5-B97AB7307BFD}"/>
              </a:ext>
            </a:extLst>
          </p:cNvPr>
          <p:cNvSpPr/>
          <p:nvPr/>
        </p:nvSpPr>
        <p:spPr>
          <a:xfrm>
            <a:off x="4770068" y="2430878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u="sng" dirty="0">
                <a:solidFill>
                  <a:schemeClr val="tx1"/>
                </a:solidFill>
                <a:latin typeface="Amasis MT Pro Medium" panose="02040604050005020304" pitchFamily="18" charset="0"/>
              </a:rPr>
              <a:t>ID</a:t>
            </a:r>
            <a:endParaRPr lang="ko-KR" altLang="en-US" u="sng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E431892-231D-4A47-84F4-804BF5DADF5E}"/>
              </a:ext>
            </a:extLst>
          </p:cNvPr>
          <p:cNvSpPr/>
          <p:nvPr/>
        </p:nvSpPr>
        <p:spPr>
          <a:xfrm>
            <a:off x="5778180" y="2437571"/>
            <a:ext cx="936104" cy="288032"/>
          </a:xfrm>
          <a:prstGeom prst="ellipse">
            <a:avLst/>
          </a:prstGeom>
          <a:solidFill>
            <a:srgbClr val="FF6699"/>
          </a:solidFill>
          <a:ln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Name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D7442D6-CA05-E52E-AE13-654CBCC031E6}"/>
              </a:ext>
            </a:extLst>
          </p:cNvPr>
          <p:cNvSpPr/>
          <p:nvPr/>
        </p:nvSpPr>
        <p:spPr>
          <a:xfrm>
            <a:off x="6786292" y="2444264"/>
            <a:ext cx="129614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Address</a:t>
            </a:r>
            <a:endParaRPr lang="ko-KR" altLang="en-US" sz="1400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5627A99-494A-A1AE-C8AA-2DB4A105F06B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5238120" y="2718910"/>
            <a:ext cx="654548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5113309-4C1A-C185-892F-6ECA867F084C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6069450" y="2725603"/>
            <a:ext cx="176782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B1D244C-1190-D9DE-0468-8CC5E97FB4E9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6246232" y="2732296"/>
            <a:ext cx="1188132" cy="562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98A4044-A3AF-F425-E266-23E9E9198461}"/>
              </a:ext>
            </a:extLst>
          </p:cNvPr>
          <p:cNvGrpSpPr/>
          <p:nvPr/>
        </p:nvGrpSpPr>
        <p:grpSpPr>
          <a:xfrm>
            <a:off x="899592" y="4608502"/>
            <a:ext cx="7533480" cy="1701520"/>
            <a:chOff x="1142976" y="1741048"/>
            <a:chExt cx="7560840" cy="3331026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62200AC4-F339-F732-7983-7F0CBA8ED62A}"/>
                </a:ext>
              </a:extLst>
            </p:cNvPr>
            <p:cNvGrpSpPr/>
            <p:nvPr/>
          </p:nvGrpSpPr>
          <p:grpSpPr>
            <a:xfrm>
              <a:off x="1142976" y="2112963"/>
              <a:ext cx="7560840" cy="2959111"/>
              <a:chOff x="1187624" y="2112963"/>
              <a:chExt cx="7154689" cy="2857500"/>
            </a:xfrm>
          </p:grpSpPr>
          <p:sp>
            <p:nvSpPr>
              <p:cNvPr id="39" name="AutoShape 81">
                <a:extLst>
                  <a:ext uri="{FF2B5EF4-FFF2-40B4-BE49-F238E27FC236}">
                    <a16:creationId xmlns:a16="http://schemas.microsoft.com/office/drawing/2014/main" id="{CABAE9F4-DEEF-5079-1AAB-A1E4728A064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89038" y="2112963"/>
                <a:ext cx="7153275" cy="2857500"/>
              </a:xfrm>
              <a:prstGeom prst="roundRect">
                <a:avLst>
                  <a:gd name="adj" fmla="val 17509"/>
                </a:avLst>
              </a:prstGeom>
              <a:gradFill rotWithShape="1">
                <a:gsLst>
                  <a:gs pos="0">
                    <a:srgbClr val="C16237"/>
                  </a:gs>
                  <a:gs pos="100000">
                    <a:srgbClr val="AB4E47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0" name="AutoShape 82">
                <a:extLst>
                  <a:ext uri="{FF2B5EF4-FFF2-40B4-BE49-F238E27FC236}">
                    <a16:creationId xmlns:a16="http://schemas.microsoft.com/office/drawing/2014/main" id="{5098CFCE-15DD-F880-6BA9-8CBD1EAFD04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0163" y="2120900"/>
                <a:ext cx="6937375" cy="2803525"/>
              </a:xfrm>
              <a:prstGeom prst="roundRect">
                <a:avLst>
                  <a:gd name="adj" fmla="val 16667"/>
                </a:avLst>
              </a:prstGeom>
              <a:solidFill>
                <a:srgbClr val="E98B6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" name="AutoShape 83">
                <a:extLst>
                  <a:ext uri="{FF2B5EF4-FFF2-40B4-BE49-F238E27FC236}">
                    <a16:creationId xmlns:a16="http://schemas.microsoft.com/office/drawing/2014/main" id="{9F6B6192-C90F-ECA6-D763-9EEFC6BB697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7313" y="4184650"/>
                <a:ext cx="6843712" cy="70961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98B65"/>
                  </a:gs>
                  <a:gs pos="100000">
                    <a:srgbClr val="F2BCA6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" name="AutoShape 84">
                <a:extLst>
                  <a:ext uri="{FF2B5EF4-FFF2-40B4-BE49-F238E27FC236}">
                    <a16:creationId xmlns:a16="http://schemas.microsoft.com/office/drawing/2014/main" id="{16950B96-FD91-2BB4-2F72-59E543DB421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7313" y="2143125"/>
                <a:ext cx="6843712" cy="70802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8D8CC"/>
                  </a:gs>
                  <a:gs pos="100000">
                    <a:srgbClr val="E98B65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3" name="Text Box 92">
                <a:extLst>
                  <a:ext uri="{FF2B5EF4-FFF2-40B4-BE49-F238E27FC236}">
                    <a16:creationId xmlns:a16="http://schemas.microsoft.com/office/drawing/2014/main" id="{7EDF8021-AC6D-0494-FFAC-6C3380FF760D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187624" y="2702473"/>
                <a:ext cx="6843734" cy="98912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514350" indent="-514350"/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  Name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은 </a:t>
                </a:r>
                <a:r>
                  <a:rPr lang="ko-KR" altLang="en-US" sz="2800" dirty="0" err="1">
                    <a:solidFill>
                      <a:srgbClr val="FF0000"/>
                    </a:solidFill>
                    <a:latin typeface="HY동녘M" pitchFamily="18" charset="-127"/>
                    <a:ea typeface="HY동녘M" pitchFamily="18" charset="-127"/>
                  </a:rPr>
                  <a:t>단일값</a:t>
                </a:r>
                <a:r>
                  <a:rPr lang="ko-KR" altLang="en-US" sz="2800" dirty="0" err="1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으로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? 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아니면 </a:t>
                </a:r>
                <a:r>
                  <a:rPr lang="ko-KR" altLang="en-US" sz="2800" dirty="0" err="1">
                    <a:solidFill>
                      <a:srgbClr val="FF0000"/>
                    </a:solidFill>
                    <a:latin typeface="HY동녘M" pitchFamily="18" charset="-127"/>
                    <a:ea typeface="HY동녘M" pitchFamily="18" charset="-127"/>
                  </a:rPr>
                  <a:t>다치</a:t>
                </a:r>
                <a:r>
                  <a:rPr lang="ko-KR" altLang="en-US" sz="2800" dirty="0" err="1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로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?</a:t>
                </a:r>
              </a:p>
            </p:txBody>
          </p:sp>
        </p:grpSp>
        <p:grpSp>
          <p:nvGrpSpPr>
            <p:cNvPr id="44" name="Group 85">
              <a:extLst>
                <a:ext uri="{FF2B5EF4-FFF2-40B4-BE49-F238E27FC236}">
                  <a16:creationId xmlns:a16="http://schemas.microsoft.com/office/drawing/2014/main" id="{9940A5E3-4B70-4EAD-BDC5-8FE17E01CD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9877" y="1804988"/>
              <a:ext cx="785813" cy="642937"/>
              <a:chOff x="1289" y="582"/>
              <a:chExt cx="668" cy="668"/>
            </a:xfrm>
          </p:grpSpPr>
          <p:sp>
            <p:nvSpPr>
              <p:cNvPr id="45" name="Oval 86">
                <a:extLst>
                  <a:ext uri="{FF2B5EF4-FFF2-40B4-BE49-F238E27FC236}">
                    <a16:creationId xmlns:a16="http://schemas.microsoft.com/office/drawing/2014/main" id="{32D87E75-3C9A-E26C-876D-2E75B87395A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46" name="Oval 87">
                <a:extLst>
                  <a:ext uri="{FF2B5EF4-FFF2-40B4-BE49-F238E27FC236}">
                    <a16:creationId xmlns:a16="http://schemas.microsoft.com/office/drawing/2014/main" id="{15E48BE0-67B8-A214-27D1-7DBB0EF4E33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7" name="Oval 88">
                <a:extLst>
                  <a:ext uri="{FF2B5EF4-FFF2-40B4-BE49-F238E27FC236}">
                    <a16:creationId xmlns:a16="http://schemas.microsoft.com/office/drawing/2014/main" id="{A569C0D3-9098-6C67-10E2-B784B263A86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8" name="Oval 89">
                <a:extLst>
                  <a:ext uri="{FF2B5EF4-FFF2-40B4-BE49-F238E27FC236}">
                    <a16:creationId xmlns:a16="http://schemas.microsoft.com/office/drawing/2014/main" id="{5EB04C35-3A12-50D8-DD2A-39C6DC6203C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9" name="Oval 90">
                <a:extLst>
                  <a:ext uri="{FF2B5EF4-FFF2-40B4-BE49-F238E27FC236}">
                    <a16:creationId xmlns:a16="http://schemas.microsoft.com/office/drawing/2014/main" id="{BB59B912-1578-4F19-CB92-D4549E71AA2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5A8BC9E6-90F8-8FDC-B4ED-F4A3096DD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9372" y="1741048"/>
              <a:ext cx="330131" cy="783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2000" b="1" dirty="0">
                  <a:latin typeface="HY동녘B" pitchFamily="18" charset="-127"/>
                  <a:ea typeface="HY동녘B" pitchFamily="18" charset="-127"/>
                </a:rPr>
                <a:t>?</a:t>
              </a:r>
              <a:endParaRPr lang="ko-KR" altLang="en-US" sz="2000" b="1" dirty="0">
                <a:latin typeface="HY동녘B" pitchFamily="18" charset="-127"/>
                <a:ea typeface="HY동녘B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809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268"/>
    </mc:Choice>
    <mc:Fallback xmlns="">
      <p:transition spd="slow" advTm="15026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296B360F-97B4-5DFA-E31B-0DC2C1B2B5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458200" cy="49022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신명조" charset="-127"/>
                <a:ea typeface="신명조" charset="-127"/>
              </a:rPr>
              <a:t> </a:t>
            </a:r>
            <a:r>
              <a:rPr lang="ko-KR" altLang="en-US" sz="2000" b="1"/>
              <a:t>다른 애트리뷰트와 독립적으로 존재하는 애트리뷰트</a:t>
            </a:r>
            <a:endParaRPr lang="en-US" altLang="ko-KR" sz="2000" b="1"/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HY동녘M" panose="02030600000101010101" pitchFamily="18" charset="-127"/>
              </a:rPr>
              <a:t>ER </a:t>
            </a:r>
            <a:r>
              <a:rPr lang="ko-KR" altLang="en-US" sz="2000" b="1">
                <a:latin typeface="HY동녘M" panose="02030600000101010101" pitchFamily="18" charset="-127"/>
              </a:rPr>
              <a:t>다이어그램에서 단순 애트리뷰트와 동일하게 표현됨</a:t>
            </a:r>
            <a:endParaRPr lang="en-US" altLang="ko-KR" sz="2000" b="1">
              <a:latin typeface="HY동녘M" panose="02030600000101010101" pitchFamily="18" charset="-127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ko-KR" altLang="en-US" sz="2000" b="1">
                <a:latin typeface="HY동녘M" panose="02030600000101010101" pitchFamily="18" charset="-127"/>
              </a:rPr>
              <a:t>대부분의 애트리뷰트는 저장된 애트리뷰트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ko-KR" altLang="en-US" sz="2000" b="1"/>
              <a:t>예</a:t>
            </a:r>
            <a:r>
              <a:rPr lang="en-US" altLang="ko-KR" sz="2000" b="1"/>
              <a:t>: </a:t>
            </a:r>
            <a:r>
              <a:rPr lang="ko-KR" altLang="en-US" sz="2000" b="1"/>
              <a:t>사원 엔티티 타입에서 사원이름</a:t>
            </a:r>
            <a:r>
              <a:rPr lang="en-US" altLang="ko-KR" sz="2000" b="1"/>
              <a:t>, </a:t>
            </a:r>
            <a:r>
              <a:rPr lang="ko-KR" altLang="en-US" sz="2000" b="1"/>
              <a:t>급여는 다른 애트리뷰트와 독립적으로 존재함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2000" b="1"/>
          </a:p>
        </p:txBody>
      </p:sp>
      <p:sp>
        <p:nvSpPr>
          <p:cNvPr id="17411" name="제목 1">
            <a:extLst>
              <a:ext uri="{FF2B5EF4-FFF2-40B4-BE49-F238E27FC236}">
                <a16:creationId xmlns:a16="http://schemas.microsoft.com/office/drawing/2014/main" id="{E559BEC5-1026-38D1-2756-7F50E6F34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저장된 애트리뷰트</a:t>
            </a:r>
          </a:p>
        </p:txBody>
      </p:sp>
    </p:spTree>
  </p:cSld>
  <p:clrMapOvr>
    <a:masterClrMapping/>
  </p:clrMapOvr>
  <p:transition spd="slow" advTm="53808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6CE1FC06-34EC-1376-648F-23366200A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458200" cy="4902200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ko-KR" altLang="en-US" sz="2000" b="1">
                <a:latin typeface="HY동녘M" panose="02030600000101010101" pitchFamily="18" charset="-127"/>
              </a:rPr>
              <a:t>다른 애트리뷰트의 값으로부터 얻어진 애트리뷰트</a:t>
            </a:r>
            <a:endParaRPr lang="en-US" altLang="ko-KR" sz="2000" b="1">
              <a:latin typeface="HY동녘M" panose="02030600000101010101" pitchFamily="18" charset="-127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ko-KR" sz="2000" b="1">
                <a:latin typeface="HY동녘M" panose="02030600000101010101" pitchFamily="18" charset="-127"/>
              </a:rPr>
              <a:t>ER </a:t>
            </a:r>
            <a:r>
              <a:rPr lang="ko-KR" altLang="en-US" sz="2000" b="1">
                <a:latin typeface="HY동녘M" panose="02030600000101010101" pitchFamily="18" charset="-127"/>
              </a:rPr>
              <a:t>다이어그램에서 점선 타원으로 표현함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ko-KR" sz="2000" b="1"/>
          </a:p>
        </p:txBody>
      </p:sp>
      <p:graphicFrame>
        <p:nvGraphicFramePr>
          <p:cNvPr id="19459" name="Object 2">
            <a:extLst>
              <a:ext uri="{FF2B5EF4-FFF2-40B4-BE49-F238E27FC236}">
                <a16:creationId xmlns:a16="http://schemas.microsoft.com/office/drawing/2014/main" id="{85629AB8-823B-E6F3-A82E-5A64A045F3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5875" y="2786063"/>
          <a:ext cx="6721475" cy="311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907937" imgH="1345557" progId="Photoshop.Image.7">
                  <p:embed/>
                </p:oleObj>
              </mc:Choice>
              <mc:Fallback>
                <p:oleObj name="Image" r:id="rId3" imgW="2907937" imgH="1345557" progId="Photoshop.Image.7">
                  <p:embed/>
                  <p:pic>
                    <p:nvPicPr>
                      <p:cNvPr id="19459" name="Object 2">
                        <a:extLst>
                          <a:ext uri="{FF2B5EF4-FFF2-40B4-BE49-F238E27FC236}">
                            <a16:creationId xmlns:a16="http://schemas.microsoft.com/office/drawing/2014/main" id="{85629AB8-823B-E6F3-A82E-5A64A045F3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2786063"/>
                        <a:ext cx="6721475" cy="311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제목 1">
            <a:extLst>
              <a:ext uri="{FF2B5EF4-FFF2-40B4-BE49-F238E27FC236}">
                <a16:creationId xmlns:a16="http://schemas.microsoft.com/office/drawing/2014/main" id="{D0F55451-5C2B-1C66-620A-A0E6CAB03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유도된 애트리뷰트</a:t>
            </a:r>
          </a:p>
        </p:txBody>
      </p:sp>
    </p:spTree>
  </p:cSld>
  <p:clrMapOvr>
    <a:masterClrMapping/>
  </p:clrMapOvr>
  <p:transition spd="slow" advTm="66729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36FFE-017D-735D-09CE-457FAF3D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저장된 </a:t>
            </a:r>
            <a:r>
              <a:rPr lang="en-US" altLang="ko-KR" dirty="0"/>
              <a:t>vs </a:t>
            </a:r>
            <a:r>
              <a:rPr lang="ko-KR" altLang="en-US" dirty="0"/>
              <a:t>유도된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FD6FFB-B485-C040-8651-932036DB97F7}"/>
              </a:ext>
            </a:extLst>
          </p:cNvPr>
          <p:cNvSpPr/>
          <p:nvPr/>
        </p:nvSpPr>
        <p:spPr>
          <a:xfrm>
            <a:off x="1568948" y="3236352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Amasis MT Pro Medium" panose="020B0604020202020204" pitchFamily="18" charset="0"/>
                <a:cs typeface="Aharoni" panose="020B0604020202020204" pitchFamily="2" charset="-79"/>
              </a:rPr>
              <a:t>CUSTOMER</a:t>
            </a:r>
            <a:endParaRPr lang="ko-KR" altLang="en-US" sz="1400" dirty="0">
              <a:latin typeface="Amasis MT Pro Medium" panose="020B0604020202020204" pitchFamily="18" charset="0"/>
              <a:cs typeface="Aharoni" panose="020B0604020202020204" pitchFamily="2" charset="-79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58CF4C-A432-2C0B-CFDF-547C5660D02F}"/>
              </a:ext>
            </a:extLst>
          </p:cNvPr>
          <p:cNvSpPr/>
          <p:nvPr/>
        </p:nvSpPr>
        <p:spPr>
          <a:xfrm>
            <a:off x="5382136" y="3308360"/>
            <a:ext cx="1296144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Amasis MT Pro Medium" panose="020B0604020202020204" pitchFamily="18" charset="0"/>
                <a:cs typeface="Aharoni" panose="020B0604020202020204" pitchFamily="2" charset="-79"/>
              </a:rPr>
              <a:t>CUSTOMER</a:t>
            </a:r>
            <a:endParaRPr lang="ko-KR" altLang="en-US" sz="1400" dirty="0">
              <a:latin typeface="Amasis MT Pro Medium" panose="020B0604020202020204" pitchFamily="18" charset="0"/>
              <a:cs typeface="Aharoni" panose="020B0604020202020204" pitchFamily="2" charset="-79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8FBEBE1-C6D5-4F76-646B-2FF1B49BCFEB}"/>
              </a:ext>
            </a:extLst>
          </p:cNvPr>
          <p:cNvSpPr/>
          <p:nvPr/>
        </p:nvSpPr>
        <p:spPr>
          <a:xfrm>
            <a:off x="917638" y="2372256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u="sng" dirty="0">
                <a:solidFill>
                  <a:schemeClr val="tx1"/>
                </a:solidFill>
                <a:latin typeface="Amasis MT Pro Medium" panose="02040604050005020304" pitchFamily="18" charset="0"/>
              </a:rPr>
              <a:t>ID</a:t>
            </a:r>
            <a:endParaRPr lang="ko-KR" altLang="en-US" u="sng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2667BE9-0BD3-3D47-3917-E82694843CFC}"/>
              </a:ext>
            </a:extLst>
          </p:cNvPr>
          <p:cNvSpPr/>
          <p:nvPr/>
        </p:nvSpPr>
        <p:spPr>
          <a:xfrm>
            <a:off x="1925750" y="2378949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Name</a:t>
            </a:r>
            <a:endParaRPr lang="ko-KR" altLang="en-US" sz="1400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329630B-9DD9-45C3-FFB8-9CF256191C5D}"/>
              </a:ext>
            </a:extLst>
          </p:cNvPr>
          <p:cNvSpPr/>
          <p:nvPr/>
        </p:nvSpPr>
        <p:spPr>
          <a:xfrm>
            <a:off x="2933862" y="2385642"/>
            <a:ext cx="129614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Address</a:t>
            </a:r>
            <a:endParaRPr lang="ko-KR" altLang="en-US" sz="1400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9692EED-E078-986E-AE7A-37E1269234A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385690" y="2660288"/>
            <a:ext cx="654548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8098203-726B-7E81-CD46-25287C1CA137}"/>
              </a:ext>
            </a:extLst>
          </p:cNvPr>
          <p:cNvCxnSpPr>
            <a:cxnSpLocks/>
            <a:stCxn id="7" idx="4"/>
            <a:endCxn id="4" idx="0"/>
          </p:cNvCxnSpPr>
          <p:nvPr/>
        </p:nvCxnSpPr>
        <p:spPr>
          <a:xfrm flipH="1">
            <a:off x="2217020" y="2666981"/>
            <a:ext cx="176782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EE49941-0E23-82FB-838C-5C7EA8051C7A}"/>
              </a:ext>
            </a:extLst>
          </p:cNvPr>
          <p:cNvCxnSpPr>
            <a:cxnSpLocks/>
            <a:stCxn id="8" idx="4"/>
          </p:cNvCxnSpPr>
          <p:nvPr/>
        </p:nvCxnSpPr>
        <p:spPr>
          <a:xfrm flipH="1">
            <a:off x="2393802" y="2673674"/>
            <a:ext cx="1188132" cy="562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039D1BAC-3E2E-1ED3-DAB5-B97AB7307BFD}"/>
              </a:ext>
            </a:extLst>
          </p:cNvPr>
          <p:cNvSpPr/>
          <p:nvPr/>
        </p:nvSpPr>
        <p:spPr>
          <a:xfrm>
            <a:off x="4770068" y="2430878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u="sng" dirty="0">
                <a:solidFill>
                  <a:schemeClr val="tx1"/>
                </a:solidFill>
                <a:latin typeface="Amasis MT Pro Medium" panose="02040604050005020304" pitchFamily="18" charset="0"/>
              </a:rPr>
              <a:t>ID</a:t>
            </a:r>
            <a:endParaRPr lang="ko-KR" altLang="en-US" u="sng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E431892-231D-4A47-84F4-804BF5DADF5E}"/>
              </a:ext>
            </a:extLst>
          </p:cNvPr>
          <p:cNvSpPr/>
          <p:nvPr/>
        </p:nvSpPr>
        <p:spPr>
          <a:xfrm>
            <a:off x="5778180" y="2437571"/>
            <a:ext cx="93610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Name</a:t>
            </a:r>
            <a:endParaRPr lang="ko-KR" altLang="en-US" sz="1400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D7442D6-CA05-E52E-AE13-654CBCC031E6}"/>
              </a:ext>
            </a:extLst>
          </p:cNvPr>
          <p:cNvSpPr/>
          <p:nvPr/>
        </p:nvSpPr>
        <p:spPr>
          <a:xfrm>
            <a:off x="6786292" y="2444264"/>
            <a:ext cx="1296144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Address</a:t>
            </a:r>
            <a:endParaRPr lang="ko-KR" altLang="en-US" sz="1400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5627A99-494A-A1AE-C8AA-2DB4A105F06B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5238120" y="2718910"/>
            <a:ext cx="654548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5113309-4C1A-C185-892F-6ECA867F084C}"/>
              </a:ext>
            </a:extLst>
          </p:cNvPr>
          <p:cNvCxnSpPr>
            <a:cxnSpLocks/>
            <a:stCxn id="19" idx="4"/>
          </p:cNvCxnSpPr>
          <p:nvPr/>
        </p:nvCxnSpPr>
        <p:spPr>
          <a:xfrm flipH="1">
            <a:off x="6069450" y="2725603"/>
            <a:ext cx="176782" cy="569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B1D244C-1190-D9DE-0468-8CC5E97FB4E9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6246232" y="2732296"/>
            <a:ext cx="1188132" cy="562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98A4044-A3AF-F425-E266-23E9E9198461}"/>
              </a:ext>
            </a:extLst>
          </p:cNvPr>
          <p:cNvGrpSpPr/>
          <p:nvPr/>
        </p:nvGrpSpPr>
        <p:grpSpPr>
          <a:xfrm>
            <a:off x="899592" y="4608502"/>
            <a:ext cx="7533480" cy="1701520"/>
            <a:chOff x="1142976" y="1741048"/>
            <a:chExt cx="7560840" cy="3331026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62200AC4-F339-F732-7983-7F0CBA8ED62A}"/>
                </a:ext>
              </a:extLst>
            </p:cNvPr>
            <p:cNvGrpSpPr/>
            <p:nvPr/>
          </p:nvGrpSpPr>
          <p:grpSpPr>
            <a:xfrm>
              <a:off x="1142976" y="2112963"/>
              <a:ext cx="7560840" cy="2959111"/>
              <a:chOff x="1187624" y="2112963"/>
              <a:chExt cx="7154689" cy="2857500"/>
            </a:xfrm>
          </p:grpSpPr>
          <p:sp>
            <p:nvSpPr>
              <p:cNvPr id="39" name="AutoShape 81">
                <a:extLst>
                  <a:ext uri="{FF2B5EF4-FFF2-40B4-BE49-F238E27FC236}">
                    <a16:creationId xmlns:a16="http://schemas.microsoft.com/office/drawing/2014/main" id="{CABAE9F4-DEEF-5079-1AAB-A1E4728A064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89038" y="2112963"/>
                <a:ext cx="7153275" cy="2857500"/>
              </a:xfrm>
              <a:prstGeom prst="roundRect">
                <a:avLst>
                  <a:gd name="adj" fmla="val 17509"/>
                </a:avLst>
              </a:prstGeom>
              <a:gradFill rotWithShape="1">
                <a:gsLst>
                  <a:gs pos="0">
                    <a:srgbClr val="C16237"/>
                  </a:gs>
                  <a:gs pos="100000">
                    <a:srgbClr val="AB4E47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0" name="AutoShape 82">
                <a:extLst>
                  <a:ext uri="{FF2B5EF4-FFF2-40B4-BE49-F238E27FC236}">
                    <a16:creationId xmlns:a16="http://schemas.microsoft.com/office/drawing/2014/main" id="{5098CFCE-15DD-F880-6BA9-8CBD1EAFD04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0163" y="2120900"/>
                <a:ext cx="6937375" cy="2803525"/>
              </a:xfrm>
              <a:prstGeom prst="roundRect">
                <a:avLst>
                  <a:gd name="adj" fmla="val 16667"/>
                </a:avLst>
              </a:prstGeom>
              <a:solidFill>
                <a:srgbClr val="E98B65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1" name="AutoShape 83">
                <a:extLst>
                  <a:ext uri="{FF2B5EF4-FFF2-40B4-BE49-F238E27FC236}">
                    <a16:creationId xmlns:a16="http://schemas.microsoft.com/office/drawing/2014/main" id="{9F6B6192-C90F-ECA6-D763-9EEFC6BB697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7313" y="4184650"/>
                <a:ext cx="6843712" cy="70961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98B65"/>
                  </a:gs>
                  <a:gs pos="100000">
                    <a:srgbClr val="F2BCA6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2" name="AutoShape 84">
                <a:extLst>
                  <a:ext uri="{FF2B5EF4-FFF2-40B4-BE49-F238E27FC236}">
                    <a16:creationId xmlns:a16="http://schemas.microsoft.com/office/drawing/2014/main" id="{16950B96-FD91-2BB4-2F72-59E543DB421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57313" y="2143125"/>
                <a:ext cx="6843712" cy="70802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8D8CC"/>
                  </a:gs>
                  <a:gs pos="100000">
                    <a:srgbClr val="E98B65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43" name="Text Box 92">
                <a:extLst>
                  <a:ext uri="{FF2B5EF4-FFF2-40B4-BE49-F238E27FC236}">
                    <a16:creationId xmlns:a16="http://schemas.microsoft.com/office/drawing/2014/main" id="{7EDF8021-AC6D-0494-FFAC-6C3380FF760D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1187624" y="2702473"/>
                <a:ext cx="6843734" cy="98912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514350" indent="-514350"/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  Age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는 </a:t>
                </a:r>
                <a:r>
                  <a:rPr lang="ko-KR" altLang="en-US" sz="2800" dirty="0" err="1">
                    <a:solidFill>
                      <a:srgbClr val="FF0000"/>
                    </a:solidFill>
                    <a:latin typeface="HY동녘M" pitchFamily="18" charset="-127"/>
                    <a:ea typeface="HY동녘M" pitchFamily="18" charset="-127"/>
                  </a:rPr>
                  <a:t>저장된</a:t>
                </a:r>
                <a:r>
                  <a:rPr lang="ko-KR" altLang="en-US" sz="2800" dirty="0" err="1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으로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? </a:t>
                </a:r>
                <a:r>
                  <a:rPr lang="ko-KR" altLang="en-US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아니면 </a:t>
                </a:r>
                <a:r>
                  <a:rPr lang="ko-KR" altLang="en-US" sz="2800" dirty="0" err="1">
                    <a:solidFill>
                      <a:srgbClr val="FF0000"/>
                    </a:solidFill>
                    <a:latin typeface="HY동녘M" pitchFamily="18" charset="-127"/>
                    <a:ea typeface="HY동녘M" pitchFamily="18" charset="-127"/>
                  </a:rPr>
                  <a:t>유도된</a:t>
                </a:r>
                <a:r>
                  <a:rPr lang="ko-KR" altLang="en-US" sz="2800" dirty="0" err="1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으로</a:t>
                </a:r>
                <a:r>
                  <a:rPr lang="en-US" altLang="ko-KR" sz="2800" dirty="0">
                    <a:solidFill>
                      <a:srgbClr val="000000"/>
                    </a:solidFill>
                    <a:latin typeface="HY동녘M" pitchFamily="18" charset="-127"/>
                    <a:ea typeface="HY동녘M" pitchFamily="18" charset="-127"/>
                  </a:rPr>
                  <a:t>?</a:t>
                </a:r>
              </a:p>
            </p:txBody>
          </p:sp>
        </p:grpSp>
        <p:grpSp>
          <p:nvGrpSpPr>
            <p:cNvPr id="44" name="Group 85">
              <a:extLst>
                <a:ext uri="{FF2B5EF4-FFF2-40B4-BE49-F238E27FC236}">
                  <a16:creationId xmlns:a16="http://schemas.microsoft.com/office/drawing/2014/main" id="{9940A5E3-4B70-4EAD-BDC5-8FE17E01CD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9877" y="1804988"/>
              <a:ext cx="785813" cy="642937"/>
              <a:chOff x="1289" y="582"/>
              <a:chExt cx="668" cy="668"/>
            </a:xfrm>
          </p:grpSpPr>
          <p:sp>
            <p:nvSpPr>
              <p:cNvPr id="45" name="Oval 86">
                <a:extLst>
                  <a:ext uri="{FF2B5EF4-FFF2-40B4-BE49-F238E27FC236}">
                    <a16:creationId xmlns:a16="http://schemas.microsoft.com/office/drawing/2014/main" id="{32D87E75-3C9A-E26C-876D-2E75B87395A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 w="38100" algn="ctr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ko-KR" altLang="en-US"/>
              </a:p>
            </p:txBody>
          </p:sp>
          <p:sp>
            <p:nvSpPr>
              <p:cNvPr id="46" name="Oval 87">
                <a:extLst>
                  <a:ext uri="{FF2B5EF4-FFF2-40B4-BE49-F238E27FC236}">
                    <a16:creationId xmlns:a16="http://schemas.microsoft.com/office/drawing/2014/main" id="{15E48BE0-67B8-A214-27D1-7DBB0EF4E33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7" name="Oval 88">
                <a:extLst>
                  <a:ext uri="{FF2B5EF4-FFF2-40B4-BE49-F238E27FC236}">
                    <a16:creationId xmlns:a16="http://schemas.microsoft.com/office/drawing/2014/main" id="{A569C0D3-9098-6C67-10E2-B784B263A86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8" name="Oval 89">
                <a:extLst>
                  <a:ext uri="{FF2B5EF4-FFF2-40B4-BE49-F238E27FC236}">
                    <a16:creationId xmlns:a16="http://schemas.microsoft.com/office/drawing/2014/main" id="{5EB04C35-3A12-50D8-DD2A-39C6DC6203C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49" name="Oval 90">
                <a:extLst>
                  <a:ext uri="{FF2B5EF4-FFF2-40B4-BE49-F238E27FC236}">
                    <a16:creationId xmlns:a16="http://schemas.microsoft.com/office/drawing/2014/main" id="{BB59B912-1578-4F19-CB92-D4549E71AA2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5A8BC9E6-90F8-8FDC-B4ED-F4A3096DD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9372" y="1741048"/>
              <a:ext cx="330131" cy="783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2000" b="1" dirty="0">
                  <a:latin typeface="HY동녘B" pitchFamily="18" charset="-127"/>
                  <a:ea typeface="HY동녘B" pitchFamily="18" charset="-127"/>
                </a:rPr>
                <a:t>?</a:t>
              </a:r>
              <a:endParaRPr lang="ko-KR" altLang="en-US" sz="2000" b="1" dirty="0">
                <a:latin typeface="HY동녘B" pitchFamily="18" charset="-127"/>
                <a:ea typeface="HY동녘B" pitchFamily="18" charset="-127"/>
              </a:endParaRPr>
            </a:p>
          </p:txBody>
        </p:sp>
      </p:grpSp>
      <p:sp>
        <p:nvSpPr>
          <p:cNvPr id="3" name="타원 2">
            <a:extLst>
              <a:ext uri="{FF2B5EF4-FFF2-40B4-BE49-F238E27FC236}">
                <a16:creationId xmlns:a16="http://schemas.microsoft.com/office/drawing/2014/main" id="{68092286-BE73-38E2-0B13-9B7B4E5BE980}"/>
              </a:ext>
            </a:extLst>
          </p:cNvPr>
          <p:cNvSpPr/>
          <p:nvPr/>
        </p:nvSpPr>
        <p:spPr>
          <a:xfrm>
            <a:off x="3322502" y="3205043"/>
            <a:ext cx="936104" cy="28803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Age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35E9D95-80EE-CC26-DA0E-82AACA8E33F3}"/>
              </a:ext>
            </a:extLst>
          </p:cNvPr>
          <p:cNvCxnSpPr>
            <a:cxnSpLocks/>
            <a:stCxn id="3" idx="2"/>
            <a:endCxn id="4" idx="3"/>
          </p:cNvCxnSpPr>
          <p:nvPr/>
        </p:nvCxnSpPr>
        <p:spPr>
          <a:xfrm flipH="1">
            <a:off x="2865092" y="3349059"/>
            <a:ext cx="457410" cy="67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1805D6A1-116D-95E5-FBB4-A1232B2BE0A0}"/>
              </a:ext>
            </a:extLst>
          </p:cNvPr>
          <p:cNvSpPr/>
          <p:nvPr/>
        </p:nvSpPr>
        <p:spPr>
          <a:xfrm>
            <a:off x="7143094" y="3294974"/>
            <a:ext cx="936104" cy="288032"/>
          </a:xfrm>
          <a:prstGeom prst="ellipse">
            <a:avLst/>
          </a:prstGeom>
          <a:solidFill>
            <a:srgbClr val="FF6699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Amasis MT Pro Medium" panose="02040604050005020304" pitchFamily="18" charset="0"/>
              </a:rPr>
              <a:t>Age</a:t>
            </a:r>
            <a:endParaRPr lang="ko-KR" altLang="en-US" dirty="0">
              <a:solidFill>
                <a:schemeClr val="tx1"/>
              </a:solidFill>
              <a:latin typeface="Amasis MT Pro Medium" panose="02040604050005020304" pitchFamily="18" charset="0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286AA3F-B79F-271E-8F7C-443659F61166}"/>
              </a:ext>
            </a:extLst>
          </p:cNvPr>
          <p:cNvCxnSpPr>
            <a:cxnSpLocks/>
            <a:stCxn id="14" idx="2"/>
            <a:endCxn id="5" idx="3"/>
          </p:cNvCxnSpPr>
          <p:nvPr/>
        </p:nvCxnSpPr>
        <p:spPr>
          <a:xfrm flipH="1">
            <a:off x="6678280" y="3438990"/>
            <a:ext cx="464814" cy="493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72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8310"/>
    </mc:Choice>
    <mc:Fallback xmlns="">
      <p:transition spd="slow" advTm="18831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2F5D0DB-28DB-751E-C317-D4911B8C9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14450"/>
            <a:ext cx="8301037" cy="48418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1800"/>
              <a:t>한 엔티티 타입에서 각 엔티티가 유일한 값을 가지는 애트리뷰트</a:t>
            </a:r>
          </a:p>
          <a:p>
            <a:pPr lvl="1">
              <a:lnSpc>
                <a:spcPct val="120000"/>
              </a:lnSpc>
              <a:buFontTx/>
              <a:buNone/>
            </a:pPr>
            <a:r>
              <a:rPr lang="ko-KR" altLang="en-US" sz="1800"/>
              <a:t>  </a:t>
            </a:r>
            <a:r>
              <a:rPr lang="ko-KR" altLang="en-US" sz="1600"/>
              <a:t>예</a:t>
            </a:r>
            <a:r>
              <a:rPr lang="en-US" altLang="ko-KR" sz="1600"/>
              <a:t>)  </a:t>
            </a:r>
            <a:r>
              <a:rPr lang="ko-KR" altLang="en-US" sz="1600"/>
              <a:t>학생 엔티티의 학번</a:t>
            </a:r>
            <a:endParaRPr lang="en-US" altLang="ko-KR" sz="1600"/>
          </a:p>
          <a:p>
            <a:pPr>
              <a:lnSpc>
                <a:spcPct val="120000"/>
              </a:lnSpc>
            </a:pPr>
            <a:r>
              <a:rPr lang="ko-KR" altLang="en-US" sz="1800"/>
              <a:t>키 애트리뷰트는 복합 애트리뷰트일 수도 있다</a:t>
            </a:r>
            <a:r>
              <a:rPr lang="en-US" altLang="ko-KR" sz="1800"/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sz="1800"/>
              <a:t>엔티티 타입은 한 개 이상의 키를 가질 수 있다</a:t>
            </a:r>
            <a:r>
              <a:rPr lang="en-US" altLang="ko-KR" sz="1800"/>
              <a:t>. </a:t>
            </a:r>
          </a:p>
          <a:p>
            <a:pPr lvl="1">
              <a:lnSpc>
                <a:spcPct val="120000"/>
              </a:lnSpc>
            </a:pPr>
            <a:r>
              <a:rPr lang="ko-KR" altLang="en-US" sz="1600"/>
              <a:t>학생 엔티티의 키는 학번</a:t>
            </a:r>
            <a:r>
              <a:rPr lang="en-US" altLang="ko-KR" sz="1600"/>
              <a:t>, </a:t>
            </a:r>
            <a:r>
              <a:rPr lang="ko-KR" altLang="en-US" sz="1600"/>
              <a:t>또는 </a:t>
            </a:r>
            <a:r>
              <a:rPr lang="en-US" altLang="ko-KR" sz="1600"/>
              <a:t>(</a:t>
            </a:r>
            <a:r>
              <a:rPr lang="ko-KR" altLang="en-US" sz="1600"/>
              <a:t>이름</a:t>
            </a:r>
            <a:r>
              <a:rPr lang="en-US" altLang="ko-KR" sz="1600"/>
              <a:t>, </a:t>
            </a:r>
            <a:r>
              <a:rPr lang="ko-KR" altLang="en-US" sz="1600"/>
              <a:t>주소</a:t>
            </a:r>
            <a:r>
              <a:rPr lang="en-US" altLang="ko-KR" sz="160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800">
                <a:latin typeface="HY동녘M" panose="02030600000101010101" pitchFamily="18" charset="-127"/>
              </a:rPr>
              <a:t>ER </a:t>
            </a:r>
            <a:r>
              <a:rPr lang="ko-KR" altLang="en-US" sz="1800">
                <a:latin typeface="HY동녘M" panose="02030600000101010101" pitchFamily="18" charset="-127"/>
              </a:rPr>
              <a:t>다</a:t>
            </a:r>
            <a:r>
              <a:rPr lang="ko-KR" altLang="en-US" sz="1800"/>
              <a:t>이어그램에서 기본 키에 속하는 애트리뷰트는 밑줄을 그어 표시함</a:t>
            </a:r>
            <a:endParaRPr lang="ko-KR" altLang="en-US" sz="2000"/>
          </a:p>
        </p:txBody>
      </p:sp>
      <p:sp>
        <p:nvSpPr>
          <p:cNvPr id="21507" name="제목 1">
            <a:extLst>
              <a:ext uri="{FF2B5EF4-FFF2-40B4-BE49-F238E27FC236}">
                <a16:creationId xmlns:a16="http://schemas.microsoft.com/office/drawing/2014/main" id="{25AE021E-2D2D-FDE9-3707-EE96F6AF31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키 애트리뷰트</a:t>
            </a:r>
          </a:p>
        </p:txBody>
      </p:sp>
    </p:spTree>
  </p:cSld>
  <p:clrMapOvr>
    <a:masterClrMapping/>
  </p:clrMapOvr>
  <p:transition spd="slow" advTm="487476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>
            <a:extLst>
              <a:ext uri="{FF2B5EF4-FFF2-40B4-BE49-F238E27FC236}">
                <a16:creationId xmlns:a16="http://schemas.microsoft.com/office/drawing/2014/main" id="{E04F3C4E-A2AE-71E9-C96C-599C7DF1C9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3300" y="1519238"/>
          <a:ext cx="7191375" cy="489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7301587" imgH="4965079" progId="Photoshop.Image.7">
                  <p:embed/>
                </p:oleObj>
              </mc:Choice>
              <mc:Fallback>
                <p:oleObj name="Image" r:id="rId3" imgW="7301587" imgH="4965079" progId="Photoshop.Image.7">
                  <p:embed/>
                  <p:pic>
                    <p:nvPicPr>
                      <p:cNvPr id="23554" name="Object 2">
                        <a:extLst>
                          <a:ext uri="{FF2B5EF4-FFF2-40B4-BE49-F238E27FC236}">
                            <a16:creationId xmlns:a16="http://schemas.microsoft.com/office/drawing/2014/main" id="{E04F3C4E-A2AE-71E9-C96C-599C7DF1C9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1519238"/>
                        <a:ext cx="7191375" cy="489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Tm="125781"/>
</p:sld>
</file>

<file path=ppt/theme/theme1.xml><?xml version="1.0" encoding="utf-8"?>
<a:theme xmlns:a="http://schemas.openxmlformats.org/drawingml/2006/main" name="인터넷 세상">
  <a:themeElements>
    <a:clrScheme name="인터넷 세상 2">
      <a:dk1>
        <a:srgbClr val="000000"/>
      </a:dk1>
      <a:lt1>
        <a:srgbClr val="FFFFFF"/>
      </a:lt1>
      <a:dk2>
        <a:srgbClr val="003399"/>
      </a:dk2>
      <a:lt2>
        <a:srgbClr val="4D4D4D"/>
      </a:lt2>
      <a:accent1>
        <a:srgbClr val="336699"/>
      </a:accent1>
      <a:accent2>
        <a:srgbClr val="009999"/>
      </a:accent2>
      <a:accent3>
        <a:srgbClr val="FFFFFF"/>
      </a:accent3>
      <a:accent4>
        <a:srgbClr val="000000"/>
      </a:accent4>
      <a:accent5>
        <a:srgbClr val="ADB8CA"/>
      </a:accent5>
      <a:accent6>
        <a:srgbClr val="008A8A"/>
      </a:accent6>
      <a:hlink>
        <a:srgbClr val="CCECFF"/>
      </a:hlink>
      <a:folHlink>
        <a:srgbClr val="C0C0C0"/>
      </a:folHlink>
    </a:clrScheme>
    <a:fontScheme name="인터넷 세상">
      <a:majorFont>
        <a:latin typeface="MD솔체"/>
        <a:ea typeface="MD솔체"/>
        <a:cs typeface=""/>
      </a:majorFont>
      <a:minorFont>
        <a:latin typeface="MD솔체"/>
        <a:ea typeface="MD솔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인터넷 세상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인터넷 세상 2">
        <a:dk1>
          <a:srgbClr val="000000"/>
        </a:dk1>
        <a:lt1>
          <a:srgbClr val="FFFFFF"/>
        </a:lt1>
        <a:dk2>
          <a:srgbClr val="003399"/>
        </a:dk2>
        <a:lt2>
          <a:srgbClr val="4D4D4D"/>
        </a:lt2>
        <a:accent1>
          <a:srgbClr val="3366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DB8CA"/>
        </a:accent5>
        <a:accent6>
          <a:srgbClr val="008A8A"/>
        </a:accent6>
        <a:hlink>
          <a:srgbClr val="CCEC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25471</TotalTime>
  <Words>530</Words>
  <Application>Microsoft Office PowerPoint</Application>
  <PresentationFormat>화면 슬라이드 쇼(4:3)</PresentationFormat>
  <Paragraphs>155</Paragraphs>
  <Slides>22</Slides>
  <Notes>19</Notes>
  <HiddenSlides>0</HiddenSlides>
  <MMClips>1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6" baseType="lpstr">
      <vt:lpstr>HY견명조</vt:lpstr>
      <vt:lpstr>HY동녘B</vt:lpstr>
      <vt:lpstr>HY동녘M</vt:lpstr>
      <vt:lpstr>HY울릉도M</vt:lpstr>
      <vt:lpstr>MD솔체</vt:lpstr>
      <vt:lpstr>굴림</vt:lpstr>
      <vt:lpstr>신명조</vt:lpstr>
      <vt:lpstr>Amasis MT Pro Medium</vt:lpstr>
      <vt:lpstr>Arial</vt:lpstr>
      <vt:lpstr>Tahoma</vt:lpstr>
      <vt:lpstr>Times New Roman</vt:lpstr>
      <vt:lpstr>Wingdings</vt:lpstr>
      <vt:lpstr>인터넷 세상</vt:lpstr>
      <vt:lpstr>Image</vt:lpstr>
      <vt:lpstr>Databases  ER 모델을 사용한 데이터 모델링</vt:lpstr>
      <vt:lpstr>PowerPoint 프레젠테이션</vt:lpstr>
      <vt:lpstr>데이타베이스 설계</vt:lpstr>
      <vt:lpstr>데이타베이스 설계의 요구사항</vt:lpstr>
      <vt:lpstr>데이타베이스 설계의 주요단계</vt:lpstr>
      <vt:lpstr>ER모델</vt:lpstr>
      <vt:lpstr>ER 모델의 요소</vt:lpstr>
      <vt:lpstr>PowerPoint 프레젠테이션</vt:lpstr>
      <vt:lpstr>엔티티 타입과 엔티티</vt:lpstr>
      <vt:lpstr>애트리뷰트</vt:lpstr>
      <vt:lpstr>애트리뷰트의 종류</vt:lpstr>
      <vt:lpstr>단순 애트리뷰트</vt:lpstr>
      <vt:lpstr>복합 애트리뷰트</vt:lpstr>
      <vt:lpstr>단순 vs 복합</vt:lpstr>
      <vt:lpstr>단일값 애트리뷰트</vt:lpstr>
      <vt:lpstr>다치 애트리뷰트</vt:lpstr>
      <vt:lpstr>단일값 vs 다치</vt:lpstr>
      <vt:lpstr>저장된 애트리뷰트</vt:lpstr>
      <vt:lpstr>유도된 애트리뷰트</vt:lpstr>
      <vt:lpstr>저장된 vs 유도된</vt:lpstr>
      <vt:lpstr>키 애트리뷰트</vt:lpstr>
      <vt:lpstr>PowerPoint 프레젠테이션</vt:lpstr>
    </vt:vector>
  </TitlesOfParts>
  <Company>우리집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장지웅</dc:creator>
  <cp:lastModifiedBy>장지웅(A0072)</cp:lastModifiedBy>
  <cp:revision>234</cp:revision>
  <dcterms:created xsi:type="dcterms:W3CDTF">2007-03-04T09:35:15Z</dcterms:created>
  <dcterms:modified xsi:type="dcterms:W3CDTF">2024-10-16T02:18:00Z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TC010610151042</vt:lpwstr>
  </property>
</Properties>
</file>